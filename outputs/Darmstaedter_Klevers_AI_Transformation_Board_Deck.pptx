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6c11c08c124124" /><Relationship Type="http://schemas.openxmlformats.org/officeDocument/2006/relationships/extended-properties" Target="/docProps/app.xml" Id="Rb03382427f2f4a55" /><Relationship Type="http://schemas.openxmlformats.org/officeDocument/2006/relationships/officeDocument" Target="/ppt/presentation.xml" Id="Rbc95a39a6e0e4f33" /></Relationships>
</file>

<file path=ppt/presentation.xml><?xml version="1.0" encoding="utf-8"?>
<p:presentation xmlns:p="http://schemas.openxmlformats.org/presentationml/2006/main">
  <p:sldMasterIdLst>
    <p:sldMasterId xmlns:r="http://schemas.openxmlformats.org/officeDocument/2006/relationships" id="2147483648" r:id="R33d6ac18972a42fc"/>
  </p:sldMasterIdLst>
  <p:notesMasterIdLst>
    <p:notesMasterId xmlns:r="http://schemas.openxmlformats.org/officeDocument/2006/relationships" r:id="R2373557868e240f2"/>
  </p:notesMasterIdLst>
  <p:sldIdLst>
    <p:sldId xmlns:r="http://schemas.openxmlformats.org/officeDocument/2006/relationships" id="256" r:id="Rc9cbdf8533a64583"/>
    <p:sldId xmlns:r="http://schemas.openxmlformats.org/officeDocument/2006/relationships" id="257" r:id="Radfcb63811a143b9"/>
    <p:sldId xmlns:r="http://schemas.openxmlformats.org/officeDocument/2006/relationships" id="258" r:id="Rd258b60d2d444858"/>
    <p:sldId xmlns:r="http://schemas.openxmlformats.org/officeDocument/2006/relationships" id="259" r:id="R893260f8addc40d1"/>
    <p:sldId xmlns:r="http://schemas.openxmlformats.org/officeDocument/2006/relationships" id="260" r:id="Rbbdb5e975dc94961"/>
    <p:sldId xmlns:r="http://schemas.openxmlformats.org/officeDocument/2006/relationships" id="261" r:id="Rb7d91404b9b2403b"/>
    <p:sldId xmlns:r="http://schemas.openxmlformats.org/officeDocument/2006/relationships" id="262" r:id="R8dbc1c14771d4114"/>
    <p:sldId xmlns:r="http://schemas.openxmlformats.org/officeDocument/2006/relationships" id="263" r:id="Reda0e89145ff4da4"/>
    <p:sldId xmlns:r="http://schemas.openxmlformats.org/officeDocument/2006/relationships" id="264" r:id="R51964c88ea1048ed"/>
    <p:sldId xmlns:r="http://schemas.openxmlformats.org/officeDocument/2006/relationships" id="265" r:id="Rd50bb932860f4ab3"/>
    <p:sldId xmlns:r="http://schemas.openxmlformats.org/officeDocument/2006/relationships" id="266" r:id="R9c6088e1358f46d5"/>
    <p:sldId xmlns:r="http://schemas.openxmlformats.org/officeDocument/2006/relationships" id="267" r:id="Rbf10ee7b3ce9445f"/>
    <p:sldId xmlns:r="http://schemas.openxmlformats.org/officeDocument/2006/relationships" id="268" r:id="R0cb1586f226c4208"/>
    <p:sldId xmlns:r="http://schemas.openxmlformats.org/officeDocument/2006/relationships" id="269" r:id="R60aebf9839f24788"/>
    <p:sldId xmlns:r="http://schemas.openxmlformats.org/officeDocument/2006/relationships" id="270" r:id="Rb6e0af4ac4ad4601"/>
    <p:sldId xmlns:r="http://schemas.openxmlformats.org/officeDocument/2006/relationships" id="271" r:id="R321def2d1faf4f79"/>
    <p:sldId xmlns:r="http://schemas.openxmlformats.org/officeDocument/2006/relationships" id="272" r:id="Rbe85b1124afd4041"/>
    <p:sldId xmlns:r="http://schemas.openxmlformats.org/officeDocument/2006/relationships" id="273" r:id="R18c889b7f21d433f"/>
    <p:sldId xmlns:r="http://schemas.openxmlformats.org/officeDocument/2006/relationships" id="274" r:id="R026d6cb0b19a47c5"/>
    <p:sldId xmlns:r="http://schemas.openxmlformats.org/officeDocument/2006/relationships" id="275" r:id="Re1ac9e26c7024e8b"/>
    <p:sldId xmlns:r="http://schemas.openxmlformats.org/officeDocument/2006/relationships" id="276" r:id="R6af9c7d23b054ca0"/>
    <p:sldId xmlns:r="http://schemas.openxmlformats.org/officeDocument/2006/relationships" id="277" r:id="R8bf597db59b347ae"/>
    <p:sldId xmlns:r="http://schemas.openxmlformats.org/officeDocument/2006/relationships" id="278" r:id="R8eccfb48f7834a9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6c99393c904afa" /><Relationship Type="http://schemas.openxmlformats.org/officeDocument/2006/relationships/slideMaster" Target="/ppt/slideMasters/slideMaster1.xml" Id="R33d6ac18972a42fc" /><Relationship Type="http://schemas.openxmlformats.org/officeDocument/2006/relationships/notesMaster" Target="/ppt/notesMasters/notesMaster1.xml" Id="R2373557868e240f2" /><Relationship Type="http://schemas.openxmlformats.org/officeDocument/2006/relationships/presProps" Target="/ppt/presProps.xml" Id="R6a2a27a441844d29" /><Relationship Type="http://schemas.openxmlformats.org/officeDocument/2006/relationships/tableStyles" Target="/ppt/tableStyles.xml" Id="Rab313d4a05424567" /><Relationship Type="http://schemas.openxmlformats.org/officeDocument/2006/relationships/slide" Target="/ppt/slides/slide1.xml" Id="Rc9cbdf8533a64583" /><Relationship Type="http://schemas.openxmlformats.org/officeDocument/2006/relationships/slide" Target="/ppt/slides/slide2.xml" Id="Radfcb63811a143b9" /><Relationship Type="http://schemas.openxmlformats.org/officeDocument/2006/relationships/slide" Target="/ppt/slides/slide3.xml" Id="Rd258b60d2d444858" /><Relationship Type="http://schemas.openxmlformats.org/officeDocument/2006/relationships/slide" Target="/ppt/slides/slide4.xml" Id="R893260f8addc40d1" /><Relationship Type="http://schemas.openxmlformats.org/officeDocument/2006/relationships/slide" Target="/ppt/slides/slide5.xml" Id="Rbbdb5e975dc94961" /><Relationship Type="http://schemas.openxmlformats.org/officeDocument/2006/relationships/slide" Target="/ppt/slides/slide6.xml" Id="Rb7d91404b9b2403b" /><Relationship Type="http://schemas.openxmlformats.org/officeDocument/2006/relationships/slide" Target="/ppt/slides/slide7.xml" Id="R8dbc1c14771d4114" /><Relationship Type="http://schemas.openxmlformats.org/officeDocument/2006/relationships/slide" Target="/ppt/slides/slide8.xml" Id="Reda0e89145ff4da4" /><Relationship Type="http://schemas.openxmlformats.org/officeDocument/2006/relationships/slide" Target="/ppt/slides/slide9.xml" Id="R51964c88ea1048ed" /><Relationship Type="http://schemas.openxmlformats.org/officeDocument/2006/relationships/slide" Target="/ppt/slides/slide10.xml" Id="Rd50bb932860f4ab3" /><Relationship Type="http://schemas.openxmlformats.org/officeDocument/2006/relationships/slide" Target="/ppt/slides/slide11.xml" Id="R9c6088e1358f46d5" /><Relationship Type="http://schemas.openxmlformats.org/officeDocument/2006/relationships/slide" Target="/ppt/slides/slide12.xml" Id="Rbf10ee7b3ce9445f" /><Relationship Type="http://schemas.openxmlformats.org/officeDocument/2006/relationships/slide" Target="/ppt/slides/slide13.xml" Id="R0cb1586f226c4208" /><Relationship Type="http://schemas.openxmlformats.org/officeDocument/2006/relationships/slide" Target="/ppt/slides/slide14.xml" Id="R60aebf9839f24788" /><Relationship Type="http://schemas.openxmlformats.org/officeDocument/2006/relationships/slide" Target="/ppt/slides/slide15.xml" Id="Rb6e0af4ac4ad4601" /><Relationship Type="http://schemas.openxmlformats.org/officeDocument/2006/relationships/slide" Target="/ppt/slides/slide16.xml" Id="R321def2d1faf4f79" /><Relationship Type="http://schemas.openxmlformats.org/officeDocument/2006/relationships/slide" Target="/ppt/slides/slide17.xml" Id="Rbe85b1124afd4041" /><Relationship Type="http://schemas.openxmlformats.org/officeDocument/2006/relationships/slide" Target="/ppt/slides/slide18.xml" Id="R18c889b7f21d433f" /><Relationship Type="http://schemas.openxmlformats.org/officeDocument/2006/relationships/slide" Target="/ppt/slides/slide19.xml" Id="R026d6cb0b19a47c5" /><Relationship Type="http://schemas.openxmlformats.org/officeDocument/2006/relationships/slide" Target="/ppt/slides/slide20.xml" Id="Re1ac9e26c7024e8b" /><Relationship Type="http://schemas.openxmlformats.org/officeDocument/2006/relationships/slide" Target="/ppt/slides/slide21.xml" Id="R6af9c7d23b054ca0" /><Relationship Type="http://schemas.openxmlformats.org/officeDocument/2006/relationships/slide" Target="/ppt/slides/slide22.xml" Id="R8bf597db59b347ae" /><Relationship Type="http://schemas.openxmlformats.org/officeDocument/2006/relationships/slide" Target="/ppt/slides/slide23.xml" Id="R8eccfb48f7834a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f6703395044a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2263d75544b28" /><Relationship Type="http://schemas.openxmlformats.org/officeDocument/2006/relationships/notesMaster" Target="/ppt/notesMasters/notesMaster1.xml" Id="R640306ee2c4747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f995bef96d495f" /><Relationship Type="http://schemas.openxmlformats.org/officeDocument/2006/relationships/notesMaster" Target="/ppt/notesMasters/notesMaster1.xml" Id="R096219c96d2642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d692bed4a94c9d" /><Relationship Type="http://schemas.openxmlformats.org/officeDocument/2006/relationships/notesMaster" Target="/ppt/notesMasters/notesMaster1.xml" Id="R1d6ddf2ff3964a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436d2958444c4d" /><Relationship Type="http://schemas.openxmlformats.org/officeDocument/2006/relationships/notesMaster" Target="/ppt/notesMasters/notesMaster1.xml" Id="R7a375cde6ee4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a13197b5724b1e" /><Relationship Type="http://schemas.openxmlformats.org/officeDocument/2006/relationships/notesMaster" Target="/ppt/notesMasters/notesMaster1.xml" Id="Rf34bfa83934d4b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4e7887d95648e8" /><Relationship Type="http://schemas.openxmlformats.org/officeDocument/2006/relationships/notesMaster" Target="/ppt/notesMasters/notesMaster1.xml" Id="R6d6d2f4206734f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e459e57574496d" /><Relationship Type="http://schemas.openxmlformats.org/officeDocument/2006/relationships/notesMaster" Target="/ppt/notesMasters/notesMaster1.xml" Id="R358b85f4acab48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733a49f34c4e84" /><Relationship Type="http://schemas.openxmlformats.org/officeDocument/2006/relationships/notesMaster" Target="/ppt/notesMasters/notesMaster1.xml" Id="Rc291b455661d41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9f0e1a28c74b17" /><Relationship Type="http://schemas.openxmlformats.org/officeDocument/2006/relationships/notesMaster" Target="/ppt/notesMasters/notesMaster1.xml" Id="R5ba17b23562645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825ab8268548cf" /><Relationship Type="http://schemas.openxmlformats.org/officeDocument/2006/relationships/notesMaster" Target="/ppt/notesMasters/notesMaster1.xml" Id="R86bc163cc8de49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42b611c0124113" /><Relationship Type="http://schemas.openxmlformats.org/officeDocument/2006/relationships/notesMaster" Target="/ppt/notesMasters/notesMaster1.xml" Id="Re33754b763944c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cae03cf28e4cee" /><Relationship Type="http://schemas.openxmlformats.org/officeDocument/2006/relationships/notesMaster" Target="/ppt/notesMasters/notesMaster1.xml" Id="Radb0958de9c14b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10bceff7ab49aa" /><Relationship Type="http://schemas.openxmlformats.org/officeDocument/2006/relationships/notesMaster" Target="/ppt/notesMasters/notesMaster1.xml" Id="Rfb64fdd3f7d74e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c7c46457dc4d89" /><Relationship Type="http://schemas.openxmlformats.org/officeDocument/2006/relationships/notesMaster" Target="/ppt/notesMasters/notesMaster1.xml" Id="R10368128816a48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fa7f95e0544d64" /><Relationship Type="http://schemas.openxmlformats.org/officeDocument/2006/relationships/notesMaster" Target="/ppt/notesMasters/notesMaster1.xml" Id="R8f7b5dabc0f948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a5b486684a4223" /><Relationship Type="http://schemas.openxmlformats.org/officeDocument/2006/relationships/notesMaster" Target="/ppt/notesMasters/notesMaster1.xml" Id="R1a17e619fb9445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274f0dad4041cb" /><Relationship Type="http://schemas.openxmlformats.org/officeDocument/2006/relationships/notesMaster" Target="/ppt/notesMasters/notesMaster1.xml" Id="R96f4b508c4d64d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35799f3f01442d" /><Relationship Type="http://schemas.openxmlformats.org/officeDocument/2006/relationships/notesMaster" Target="/ppt/notesMasters/notesMaster1.xml" Id="R967f812615254b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0ff6d790b24d29" /><Relationship Type="http://schemas.openxmlformats.org/officeDocument/2006/relationships/notesMaster" Target="/ppt/notesMasters/notesMaster1.xml" Id="R359b862bef9f4d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2379aebcc542ad" /><Relationship Type="http://schemas.openxmlformats.org/officeDocument/2006/relationships/notesMaster" Target="/ppt/notesMasters/notesMaster1.xml" Id="Re3f26528ecab4d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a69dc8576340fd" /><Relationship Type="http://schemas.openxmlformats.org/officeDocument/2006/relationships/notesMaster" Target="/ppt/notesMasters/notesMaster1.xml" Id="R8e2ca3be1c2a42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136f60cf9348bd" /><Relationship Type="http://schemas.openxmlformats.org/officeDocument/2006/relationships/notesMaster" Target="/ppt/notesMasters/notesMaster1.xml" Id="R28e1acf22fdc41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4d055bdcee419f" /><Relationship Type="http://schemas.openxmlformats.org/officeDocument/2006/relationships/notesMaster" Target="/ppt/notesMasters/notesMaster1.xml" Id="R8efdd3b3886a43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business point, not the technology. Say: this is not a proposal to do random AI experiments. It is a strategy to convert our technical textile know-how, quality evidence, and process data into measurable advantage. The deck recommends one low-risk pilot first, then a staged platform only after value is 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ask concrete. Management should not feel they are approving a vague transformation program. They are approving a limited 12-week pilot with a bounded budget, no machine control, and clear owners. Emphasize that the pilot is designed to discover measurable value before any larger platform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generic AI ideas are weak here. The company value is combinatorial: customer requirement, substrate, coating or lamination, production window, and proof. If those links are not captured, every department sees only its slice. The pilot should connect the chain, not merely add a chatbot.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that the recommendation is not copied from another manufacturer. The public sources show a company that lives from functional combinations and proof. That means AI should not begin with full automation. It should begin by linking evidence and learning from past combinations.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prioritization logic. R&amp;D and production are strategically huge, but quality is the best first wedge because it creates measurable evidence quickly. If we can show where defects come from and how roll-level data connects, the later R&amp;D and production AI business case becomes much easier.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let the audience interpret the map as 'we will do everything.' Say clearly: the map shows potential, but the first wave is disciplined. We start where data creates leverage for many departments: quality, production, packaging, and R&amp;D knowledge.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recommendation. Say that the pilot is deliberately narrow. It is not an AI platform, not a machine-control project, and not a computer vision science project. It is a practical read-only quality intelligence pilot. It should make repeated defects visible and show whether our data can support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lowers fear. Read-only means we observe and learn first. The output is a roll-level passport and dashboard. Later we can add predictive quality and process recommendations, but only after we trust the data and people trust the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expand management's view beyond production automation. R&amp;D is where proprietary advantage lives. If we capture experiment memory and connect it to production outcomes, the company can develop better coatings and hybrid articles faster, and avoid repeating old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important for production credibility. Say that we are not proposing a black-box system to change machine parameters. The correct sequence is observe, explain, predict, recommend, and only much later control. The first pilot stays in the observe and explain stages.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quality transformation as prevention, not more inspection. The company has tests and certificates. The next step is connecting them to process and material causes. That is how we reduce repeated defects and improve customer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against a common mistake. If there is already an inspection system, the fastest value may be defect mining, not training a new vision model. We should first understand exportability, labels, roll linkage, and operator decisions. That alone can create a valuable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safety and trust. A knowledge platform is not just a chatbot. It needs connectors, document processing, a knowledge graph, retrieval, and governance. The key rule is no source, no answer. This is especially important for certificates, standards, and technical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sequence as a set of gates. We do not ask for five years of budget now. We ask for the first 12 weeks, then use the results to decide the next phase. This makes the transformation credible and controllable.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prevent idea overload. There are many possible AI projects, but the top projects all create shared data assets. That is the logic: build things that help several departments, rather than one-off demos.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fake precision. Say that we should not invent savings before seeing internal baselines. The pilot's job is to calculate the real value pool. The financial equation is simple: scrap, rework, root-cause time, release time, and complaints.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message is that funding is a lever, not a precondition. A small internal pilot creates evidence and makes funding applications stronger. Also clarify that NRW MID-Digitalisierung changed in 2026 and is mainly for marketable digital products, so we should not rely on it for a purely internal process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make management more comfortable. We are not hiding risks. We are designing the pilot to control them. The most important controls are read-only access, source-cited answers, human approval, and no machine control in phase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you can position yourself without making the presentation self-centered. The company needs an AI champion who translates between business, R&amp;D, quality, production, and IT. The champion does not replace functional owners. They coordinate the transformation and keep it measurable.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to close the practical plan. The first month is about data reality. We should not promise a model before we know identifiers, exports, labels, and baselines. The first management commitment is access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guardrail. We define success in operational terms: linkage, defect insight, speed, quantified value, adoption, and safety. Even if the first predictive model is basic, the pilot can be successful if it builds the data spine and identifies controllable losses.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calmly and decisively. Ask for the pilot approval, not a vague endorsement. The final sentence should land as a strategic point: the risk is not starting small; the risk is waiting until the company's knowledge advantage remains locked in documents and individual memories while competitors learn faster.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appendix slide. You do not need to present it unless asked about evidence. It shows that the deck was built from public company sources and current funding sources, while clearly separating internal assumptions that need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01bf9590cd47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f74cf6e65494a" /><Relationship Type="http://schemas.openxmlformats.org/officeDocument/2006/relationships/slideLayout" Target="/ppt/slideLayouts/slideLayout1.xml" Id="Rc3af165d029647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af165d029647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c06e8359e74a00" /><Relationship Type="http://schemas.openxmlformats.org/officeDocument/2006/relationships/image" Target="/ppt/media/image.jpeg" Id="R129d3c0496404906" /><Relationship Type="http://schemas.openxmlformats.org/officeDocument/2006/relationships/notesSlide" Target="/ppt/notesSlides/notesSlide1.xml" Id="Rd792efb4764c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cc12f758464a78" /><Relationship Type="http://schemas.openxmlformats.org/officeDocument/2006/relationships/notesSlide" Target="/ppt/notesSlides/notesSlide2.xml" Id="R46d359453e0a45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7e4c4704d34c7b" /><Relationship Type="http://schemas.openxmlformats.org/officeDocument/2006/relationships/notesSlide" Target="/ppt/notesSlides/notesSlide3.xml" Id="R5c6ca6f0c2dd4d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c0c485d5684c2a" /><Relationship Type="http://schemas.openxmlformats.org/officeDocument/2006/relationships/image" Target="/ppt/media/image2.jpeg" Id="Re62b9ecdb4154217" /><Relationship Type="http://schemas.openxmlformats.org/officeDocument/2006/relationships/notesSlide" Target="/ppt/notesSlides/notesSlide4.xml" Id="R627cf94e0d9743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2db2aef9584b05" /><Relationship Type="http://schemas.openxmlformats.org/officeDocument/2006/relationships/notesSlide" Target="/ppt/notesSlides/notesSlide5.xml" Id="R96fc1fe75de143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310e4115754aa7" /><Relationship Type="http://schemas.openxmlformats.org/officeDocument/2006/relationships/notesSlide" Target="/ppt/notesSlides/notesSlide6.xml" Id="Ra5e9d911291a41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ff312b5a40447c" /><Relationship Type="http://schemas.openxmlformats.org/officeDocument/2006/relationships/notesSlide" Target="/ppt/notesSlides/notesSlide7.xml" Id="R45db169e449546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471092e2f34ace" /><Relationship Type="http://schemas.openxmlformats.org/officeDocument/2006/relationships/notesSlide" Target="/ppt/notesSlides/notesSlide8.xml" Id="Re34a8fb63a9348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f483d1e7dc4ea5" /><Relationship Type="http://schemas.openxmlformats.org/officeDocument/2006/relationships/image" Target="/ppt/media/image3.jpeg" Id="R665cc3678b694a26" /><Relationship Type="http://schemas.openxmlformats.org/officeDocument/2006/relationships/notesSlide" Target="/ppt/notesSlides/notesSlide9.xml" Id="R7a143590584e40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7167f8ec5742b0" /><Relationship Type="http://schemas.openxmlformats.org/officeDocument/2006/relationships/notesSlide" Target="/ppt/notesSlides/notesSlide10.xml" Id="R8fedae90d43648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d34f23e41a493f" /><Relationship Type="http://schemas.openxmlformats.org/officeDocument/2006/relationships/notesSlide" Target="/ppt/notesSlides/notesSlide11.xml" Id="R5de493535f844e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ee350d40b84a1f" /><Relationship Type="http://schemas.openxmlformats.org/officeDocument/2006/relationships/image" Target="/ppt/media/image4.jpeg" Id="Rabf245ebed50423a" /><Relationship Type="http://schemas.openxmlformats.org/officeDocument/2006/relationships/notesSlide" Target="/ppt/notesSlides/notesSlide12.xml" Id="R52d074d946104b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aeceb3a974439c" /><Relationship Type="http://schemas.openxmlformats.org/officeDocument/2006/relationships/notesSlide" Target="/ppt/notesSlides/notesSlide13.xml" Id="R476da3d934bf48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cbd757c835424c" /><Relationship Type="http://schemas.openxmlformats.org/officeDocument/2006/relationships/notesSlide" Target="/ppt/notesSlides/notesSlide14.xml" Id="R8e3650e8be3841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fa949fb7d44b62" /><Relationship Type="http://schemas.openxmlformats.org/officeDocument/2006/relationships/notesSlide" Target="/ppt/notesSlides/notesSlide15.xml" Id="R72711243c7a045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f896285fc148ac" /><Relationship Type="http://schemas.openxmlformats.org/officeDocument/2006/relationships/notesSlide" Target="/ppt/notesSlides/notesSlide16.xml" Id="R3dcd6c66aac443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77a46b9b9e4f1d" /><Relationship Type="http://schemas.openxmlformats.org/officeDocument/2006/relationships/notesSlide" Target="/ppt/notesSlides/notesSlide17.xml" Id="R3723e9b2237541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1acc52223ae45f8" /><Relationship Type="http://schemas.openxmlformats.org/officeDocument/2006/relationships/notesSlide" Target="/ppt/notesSlides/notesSlide18.xml" Id="R246c7e5f0ca345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7ae6638b8b4562" /><Relationship Type="http://schemas.openxmlformats.org/officeDocument/2006/relationships/notesSlide" Target="/ppt/notesSlides/notesSlide19.xml" Id="Rdb29f5ec4fae4a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e42da0dbd64622" /><Relationship Type="http://schemas.openxmlformats.org/officeDocument/2006/relationships/notesSlide" Target="/ppt/notesSlides/notesSlide20.xml" Id="Rc8dc9538d38e44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8a0563cbef4bb2" /><Relationship Type="http://schemas.openxmlformats.org/officeDocument/2006/relationships/notesSlide" Target="/ppt/notesSlides/notesSlide21.xml" Id="R4af3ec7a81624d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5fdb259c0a540f0" /><Relationship Type="http://schemas.openxmlformats.org/officeDocument/2006/relationships/image" Target="/ppt/media/image5.jpeg" Id="Rae26ea26bc514150" /><Relationship Type="http://schemas.openxmlformats.org/officeDocument/2006/relationships/notesSlide" Target="/ppt/notesSlides/notesSlide22.xml" Id="R5c740482713046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26afb9001c44733" /><Relationship Type="http://schemas.openxmlformats.org/officeDocument/2006/relationships/notesSlide" Target="/ppt/notesSlides/notesSlide23.xml" Id="R9a1f33451968415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29d3c049640490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4144D5-BAD4-4CFD-B066-931C16DA6853}"/>
              </a:ext>
            </a:extLst>
          </p:cNvPr>
          <p:cNvSpPr>
            <a:spLocks xmlns:a="http://schemas.openxmlformats.org/drawingml/2006/main" noGrp="1"/>
          </p:cNvSpPr>
          <p:nvPr/>
        </p:nvSpPr>
        <p:spPr>
          <a:xfrm xmlns:a="http://schemas.openxmlformats.org/drawingml/2006/main">
            <a:off x="0" y="0"/>
            <a:ext cx="7143750" cy="68580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62B077-2569-43A3-892B-A208A91AA956}"/>
              </a:ext>
            </a:extLst>
          </p:cNvPr>
          <p:cNvSpPr>
            <a:spLocks xmlns:a="http://schemas.openxmlformats.org/drawingml/2006/main" noGrp="1"/>
          </p:cNvSpPr>
          <p:nvPr/>
        </p:nvSpPr>
        <p:spPr>
          <a:xfrm xmlns:a="http://schemas.openxmlformats.org/drawingml/2006/main">
            <a:off x="533400" y="742950"/>
            <a:ext cx="5429250" cy="381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5AA590-29D1-4AE5-8DB8-5C878E984408}"/>
              </a:ext>
            </a:extLst>
          </p:cNvPr>
          <p:cNvSpPr>
            <a:spLocks xmlns:a="http://schemas.openxmlformats.org/drawingml/2006/main" noGrp="1"/>
          </p:cNvSpPr>
          <p:nvPr/>
        </p:nvSpPr>
        <p:spPr>
          <a:xfrm xmlns:a="http://schemas.openxmlformats.org/drawingml/2006/main">
            <a:off x="552450" y="1143000"/>
            <a:ext cx="581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FFFFFF"/>
                </a:solidFill>
              </a:defRPr>
            </a:pPr>
            <a:r>
              <a:rPr sz="3600" b="1">
                <a:solidFill>
                  <a:srgbClr val="FFFFFF"/>
                </a:solidFill>
              </a:rPr>
              <a:t>AI Transformation Strategy</a:t>
            </a:r>
          </a:p>
        </p:txBody>
      </p:sp>
      <p:sp>
        <p:nvSpPr>
          <p:cNvPr id="5" name="">
            <a:extLst xmlns:a="http://schemas.openxmlformats.org/drawingml/2006/main">
              <a:ext uri="{FF2B5EF4-FFF2-40B4-BE49-F238E27FC236}">
                <a16:creationId xmlns:a16="http://schemas.microsoft.com/office/drawing/2014/main" id="{71BBCB4A-8EC5-4C22-A60D-5D1A1D158EB8}"/>
              </a:ext>
            </a:extLst>
          </p:cNvPr>
          <p:cNvSpPr>
            <a:spLocks xmlns:a="http://schemas.openxmlformats.org/drawingml/2006/main" noGrp="1"/>
          </p:cNvSpPr>
          <p:nvPr/>
        </p:nvSpPr>
        <p:spPr>
          <a:xfrm xmlns:a="http://schemas.openxmlformats.org/drawingml/2006/main">
            <a:off x="571500" y="2552700"/>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FFFFF"/>
                </a:solidFill>
              </a:defRPr>
            </a:pPr>
            <a:r>
              <a:rPr sz="1800" b="0">
                <a:solidFill>
                  <a:srgbClr val="FFFFFF"/>
                </a:solidFill>
              </a:rPr>
              <a:t>Turning technical textile know-how into a measurable industrial AI advantage</a:t>
            </a:r>
          </a:p>
        </p:txBody>
      </p:sp>
      <p:sp>
        <p:nvSpPr>
          <p:cNvPr id="6" name="">
            <a:extLst xmlns:a="http://schemas.openxmlformats.org/drawingml/2006/main">
              <a:ext uri="{FF2B5EF4-FFF2-40B4-BE49-F238E27FC236}">
                <a16:creationId xmlns:a16="http://schemas.microsoft.com/office/drawing/2014/main" id="{C52B67ED-073F-4F73-99CF-B735B3065256}"/>
              </a:ext>
            </a:extLst>
          </p:cNvPr>
          <p:cNvSpPr>
            <a:spLocks xmlns:a="http://schemas.openxmlformats.org/drawingml/2006/main" noGrp="1"/>
          </p:cNvSpPr>
          <p:nvPr/>
        </p:nvSpPr>
        <p:spPr>
          <a:xfrm xmlns:a="http://schemas.openxmlformats.org/drawingml/2006/main">
            <a:off x="552450" y="53340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Darmstaedter GmbH + Klevers GmbH &amp; Co. KG</a:t>
            </a:r>
          </a:p>
        </p:txBody>
      </p:sp>
      <p:sp>
        <p:nvSpPr>
          <p:cNvPr id="7" name="">
            <a:extLst xmlns:a="http://schemas.openxmlformats.org/drawingml/2006/main">
              <a:ext uri="{FF2B5EF4-FFF2-40B4-BE49-F238E27FC236}">
                <a16:creationId xmlns:a16="http://schemas.microsoft.com/office/drawing/2014/main" id="{540B95D2-95AF-48B4-B255-EE80F4E1B5C5}"/>
              </a:ext>
            </a:extLst>
          </p:cNvPr>
          <p:cNvSpPr>
            <a:spLocks xmlns:a="http://schemas.openxmlformats.org/drawingml/2006/main" noGrp="1"/>
          </p:cNvSpPr>
          <p:nvPr/>
        </p:nvSpPr>
        <p:spPr>
          <a:xfrm xmlns:a="http://schemas.openxmlformats.org/drawingml/2006/main">
            <a:off x="552450" y="5638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EDEDED"/>
                </a:solidFill>
              </a:defRPr>
            </a:pPr>
            <a:r>
              <a:rPr sz="1050" b="0">
                <a:solidFill>
                  <a:srgbClr val="EDEDED"/>
                </a:solidFill>
              </a:rPr>
              <a:t>Executive board discussion | 2026</a:t>
            </a:r>
          </a:p>
        </p:txBody>
      </p:sp>
      <p:sp>
        <p:nvSpPr>
          <p:cNvPr id="8" name="">
            <a:extLst xmlns:a="http://schemas.openxmlformats.org/drawingml/2006/main">
              <a:ext uri="{FF2B5EF4-FFF2-40B4-BE49-F238E27FC236}">
                <a16:creationId xmlns:a16="http://schemas.microsoft.com/office/drawing/2014/main" id="{39EE4923-0F11-4CAD-907B-67205CF90DB8}"/>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9" name="">
            <a:extLst xmlns:a="http://schemas.openxmlformats.org/drawingml/2006/main">
              <a:ext uri="{FF2B5EF4-FFF2-40B4-BE49-F238E27FC236}">
                <a16:creationId xmlns:a16="http://schemas.microsoft.com/office/drawing/2014/main" id="{4B0F1902-DC5B-4138-92F3-52D1F8C78E2D}"/>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Image source: Darmstaedter public media library</a:t>
            </a:r>
          </a:p>
        </p:txBody>
      </p:sp>
      <p:sp>
        <p:nvSpPr>
          <p:cNvPr id="10" name="">
            <a:extLst xmlns:a="http://schemas.openxmlformats.org/drawingml/2006/main">
              <a:ext uri="{FF2B5EF4-FFF2-40B4-BE49-F238E27FC236}">
                <a16:creationId xmlns:a16="http://schemas.microsoft.com/office/drawing/2014/main" id="{FCAB9934-FD5B-4EF8-9774-ABBC5CA53B02}"/>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01</a:t>
            </a:r>
          </a:p>
        </p:txBody>
      </p:sp>
    </p:spTree>
    <p:extLst>
      <p:ext uri="{BB962C8B-B14F-4D97-AF65-F5344CB8AC3E}">
        <p14:creationId xmlns:p14="http://schemas.microsoft.com/office/powerpoint/2010/main" val="9812591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4C7E8B-A9C3-4CF4-A232-9F5BF71583CD}"/>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EXECUTIVE ASK</a:t>
            </a:r>
          </a:p>
        </p:txBody>
      </p:sp>
      <p:sp>
        <p:nvSpPr>
          <p:cNvPr id="2" name="">
            <a:extLst xmlns:a="http://schemas.openxmlformats.org/drawingml/2006/main">
              <a:ext uri="{FF2B5EF4-FFF2-40B4-BE49-F238E27FC236}">
                <a16:creationId xmlns:a16="http://schemas.microsoft.com/office/drawing/2014/main" id="{335B6318-4DDE-49E2-8C9D-F3569CDFA1D4}"/>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decision today is small, but strategically important</a:t>
            </a:r>
          </a:p>
        </p:txBody>
      </p:sp>
      <p:sp>
        <p:nvSpPr>
          <p:cNvPr id="3" name="">
            <a:extLst xmlns:a="http://schemas.openxmlformats.org/drawingml/2006/main">
              <a:ext uri="{FF2B5EF4-FFF2-40B4-BE49-F238E27FC236}">
                <a16:creationId xmlns:a16="http://schemas.microsoft.com/office/drawing/2014/main" id="{2E77BBDF-6A41-4C41-9589-80190C99C3D0}"/>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Approve a bounded pilot that creates the data spine for later AI transformation.</a:t>
            </a:r>
          </a:p>
        </p:txBody>
      </p:sp>
      <p:sp>
        <p:nvSpPr>
          <p:cNvPr id="4" name="">
            <a:extLst xmlns:a="http://schemas.openxmlformats.org/drawingml/2006/main">
              <a:ext uri="{FF2B5EF4-FFF2-40B4-BE49-F238E27FC236}">
                <a16:creationId xmlns:a16="http://schemas.microsoft.com/office/drawing/2014/main" id="{DCA11FC8-687B-4E70-8E75-87120BCD2153}"/>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24F2E8BD-8571-4DF8-BEA1-BC55A2A3F7F4}"/>
              </a:ext>
            </a:extLst>
          </p:cNvPr>
          <p:cNvSpPr>
            <a:spLocks xmlns:a="http://schemas.openxmlformats.org/drawingml/2006/main" noGrp="1"/>
          </p:cNvSpPr>
          <p:nvPr/>
        </p:nvSpPr>
        <p:spPr>
          <a:xfrm xmlns:a="http://schemas.openxmlformats.org/drawingml/2006/main">
            <a:off x="6667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B0D3FDC9-C635-4F24-8B04-77F8CB0A6927}"/>
              </a:ext>
            </a:extLst>
          </p:cNvPr>
          <p:cNvSpPr>
            <a:spLocks xmlns:a="http://schemas.openxmlformats.org/drawingml/2006/main" noGrp="1"/>
          </p:cNvSpPr>
          <p:nvPr/>
        </p:nvSpPr>
        <p:spPr>
          <a:xfrm xmlns:a="http://schemas.openxmlformats.org/drawingml/2006/main">
            <a:off x="6667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7" name="">
            <a:extLst xmlns:a="http://schemas.openxmlformats.org/drawingml/2006/main">
              <a:ext uri="{FF2B5EF4-FFF2-40B4-BE49-F238E27FC236}">
                <a16:creationId xmlns:a16="http://schemas.microsoft.com/office/drawing/2014/main" id="{ECEDB8EA-E840-4753-9585-15E1176834A9}"/>
              </a:ext>
            </a:extLst>
          </p:cNvPr>
          <p:cNvSpPr>
            <a:spLocks xmlns:a="http://schemas.openxmlformats.org/drawingml/2006/main" noGrp="1"/>
          </p:cNvSpPr>
          <p:nvPr/>
        </p:nvSpPr>
        <p:spPr>
          <a:xfrm xmlns:a="http://schemas.openxmlformats.org/drawingml/2006/main">
            <a:off x="8763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12 weeks</a:t>
            </a:r>
          </a:p>
        </p:txBody>
      </p:sp>
      <p:sp>
        <p:nvSpPr>
          <p:cNvPr id="8" name="">
            <a:extLst xmlns:a="http://schemas.openxmlformats.org/drawingml/2006/main">
              <a:ext uri="{FF2B5EF4-FFF2-40B4-BE49-F238E27FC236}">
                <a16:creationId xmlns:a16="http://schemas.microsoft.com/office/drawing/2014/main" id="{017D3423-62B4-41C1-A16D-D9B85B0ACEC0}"/>
              </a:ext>
            </a:extLst>
          </p:cNvPr>
          <p:cNvSpPr>
            <a:spLocks xmlns:a="http://schemas.openxmlformats.org/drawingml/2006/main" noGrp="1"/>
          </p:cNvSpPr>
          <p:nvPr/>
        </p:nvSpPr>
        <p:spPr>
          <a:xfrm xmlns:a="http://schemas.openxmlformats.org/drawingml/2006/main">
            <a:off x="8763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111"/>
                </a:solidFill>
              </a:defRPr>
            </a:pPr>
            <a:r>
              <a:rPr sz="1200" b="1">
                <a:solidFill>
                  <a:srgbClr val="111111"/>
                </a:solidFill>
              </a:rPr>
              <a:t>Pilot duration</a:t>
            </a:r>
          </a:p>
        </p:txBody>
      </p:sp>
      <p:sp>
        <p:nvSpPr>
          <p:cNvPr id="9" name="">
            <a:extLst xmlns:a="http://schemas.openxmlformats.org/drawingml/2006/main">
              <a:ext uri="{FF2B5EF4-FFF2-40B4-BE49-F238E27FC236}">
                <a16:creationId xmlns:a16="http://schemas.microsoft.com/office/drawing/2014/main" id="{DF560368-9188-4585-A675-C776D4E91B4B}"/>
              </a:ext>
            </a:extLst>
          </p:cNvPr>
          <p:cNvSpPr>
            <a:spLocks xmlns:a="http://schemas.openxmlformats.org/drawingml/2006/main" noGrp="1"/>
          </p:cNvSpPr>
          <p:nvPr/>
        </p:nvSpPr>
        <p:spPr>
          <a:xfrm xmlns:a="http://schemas.openxmlformats.org/drawingml/2006/main">
            <a:off x="8763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Read-only data discovery and analytics</a:t>
            </a:r>
          </a:p>
        </p:txBody>
      </p:sp>
      <p:sp>
        <p:nvSpPr>
          <p:cNvPr id="10" name="">
            <a:extLst xmlns:a="http://schemas.openxmlformats.org/drawingml/2006/main">
              <a:ext uri="{FF2B5EF4-FFF2-40B4-BE49-F238E27FC236}">
                <a16:creationId xmlns:a16="http://schemas.microsoft.com/office/drawing/2014/main" id="{D356E339-5717-4B32-9FAD-777AE601F588}"/>
              </a:ext>
            </a:extLst>
          </p:cNvPr>
          <p:cNvSpPr>
            <a:spLocks xmlns:a="http://schemas.openxmlformats.org/drawingml/2006/main" noGrp="1"/>
          </p:cNvSpPr>
          <p:nvPr/>
        </p:nvSpPr>
        <p:spPr>
          <a:xfrm xmlns:a="http://schemas.openxmlformats.org/drawingml/2006/main">
            <a:off x="33718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339E2AFA-34CF-4753-84F1-EE81E7D6A3FA}"/>
              </a:ext>
            </a:extLst>
          </p:cNvPr>
          <p:cNvSpPr>
            <a:spLocks xmlns:a="http://schemas.openxmlformats.org/drawingml/2006/main" noGrp="1"/>
          </p:cNvSpPr>
          <p:nvPr/>
        </p:nvSpPr>
        <p:spPr>
          <a:xfrm xmlns:a="http://schemas.openxmlformats.org/drawingml/2006/main">
            <a:off x="33718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12" name="">
            <a:extLst xmlns:a="http://schemas.openxmlformats.org/drawingml/2006/main">
              <a:ext uri="{FF2B5EF4-FFF2-40B4-BE49-F238E27FC236}">
                <a16:creationId xmlns:a16="http://schemas.microsoft.com/office/drawing/2014/main" id="{27068426-9774-487F-AE70-99E12B78664E}"/>
              </a:ext>
            </a:extLst>
          </p:cNvPr>
          <p:cNvSpPr>
            <a:spLocks xmlns:a="http://schemas.openxmlformats.org/drawingml/2006/main" noGrp="1"/>
          </p:cNvSpPr>
          <p:nvPr/>
        </p:nvSpPr>
        <p:spPr>
          <a:xfrm xmlns:a="http://schemas.openxmlformats.org/drawingml/2006/main">
            <a:off x="35814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EUR 25k-75k</a:t>
            </a:r>
          </a:p>
        </p:txBody>
      </p:sp>
      <p:sp>
        <p:nvSpPr>
          <p:cNvPr id="13" name="">
            <a:extLst xmlns:a="http://schemas.openxmlformats.org/drawingml/2006/main">
              <a:ext uri="{FF2B5EF4-FFF2-40B4-BE49-F238E27FC236}">
                <a16:creationId xmlns:a16="http://schemas.microsoft.com/office/drawing/2014/main" id="{58701E94-55BA-4305-8556-F2A72EFB814E}"/>
              </a:ext>
            </a:extLst>
          </p:cNvPr>
          <p:cNvSpPr>
            <a:spLocks xmlns:a="http://schemas.openxmlformats.org/drawingml/2006/main" noGrp="1"/>
          </p:cNvSpPr>
          <p:nvPr/>
        </p:nvSpPr>
        <p:spPr>
          <a:xfrm xmlns:a="http://schemas.openxmlformats.org/drawingml/2006/main">
            <a:off x="35814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111"/>
                </a:solidFill>
              </a:defRPr>
            </a:pPr>
            <a:r>
              <a:rPr sz="1200" b="1">
                <a:solidFill>
                  <a:srgbClr val="111111"/>
                </a:solidFill>
              </a:rPr>
              <a:t>Initial budget range</a:t>
            </a:r>
          </a:p>
        </p:txBody>
      </p:sp>
      <p:sp>
        <p:nvSpPr>
          <p:cNvPr id="14" name="">
            <a:extLst xmlns:a="http://schemas.openxmlformats.org/drawingml/2006/main">
              <a:ext uri="{FF2B5EF4-FFF2-40B4-BE49-F238E27FC236}">
                <a16:creationId xmlns:a16="http://schemas.microsoft.com/office/drawing/2014/main" id="{65FD7581-D0C0-4C96-B313-76A30F33D442}"/>
              </a:ext>
            </a:extLst>
          </p:cNvPr>
          <p:cNvSpPr>
            <a:spLocks xmlns:a="http://schemas.openxmlformats.org/drawingml/2006/main" noGrp="1"/>
          </p:cNvSpPr>
          <p:nvPr/>
        </p:nvSpPr>
        <p:spPr>
          <a:xfrm xmlns:a="http://schemas.openxmlformats.org/drawingml/2006/main">
            <a:off x="35814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Finalized after two-week data audit</a:t>
            </a:r>
          </a:p>
        </p:txBody>
      </p:sp>
      <p:sp>
        <p:nvSpPr>
          <p:cNvPr id="15" name="">
            <a:extLst xmlns:a="http://schemas.openxmlformats.org/drawingml/2006/main">
              <a:ext uri="{FF2B5EF4-FFF2-40B4-BE49-F238E27FC236}">
                <a16:creationId xmlns:a16="http://schemas.microsoft.com/office/drawing/2014/main" id="{0BC29D5B-F1B1-4443-A817-81A7B8EE0579}"/>
              </a:ext>
            </a:extLst>
          </p:cNvPr>
          <p:cNvSpPr>
            <a:spLocks xmlns:a="http://schemas.openxmlformats.org/drawingml/2006/main" noGrp="1"/>
          </p:cNvSpPr>
          <p:nvPr/>
        </p:nvSpPr>
        <p:spPr>
          <a:xfrm xmlns:a="http://schemas.openxmlformats.org/drawingml/2006/main">
            <a:off x="60769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E0776D24-41E8-4C39-AEA7-EA805E6CD99A}"/>
              </a:ext>
            </a:extLst>
          </p:cNvPr>
          <p:cNvSpPr>
            <a:spLocks xmlns:a="http://schemas.openxmlformats.org/drawingml/2006/main" noGrp="1"/>
          </p:cNvSpPr>
          <p:nvPr/>
        </p:nvSpPr>
        <p:spPr>
          <a:xfrm xmlns:a="http://schemas.openxmlformats.org/drawingml/2006/main">
            <a:off x="60769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17" name="">
            <a:extLst xmlns:a="http://schemas.openxmlformats.org/drawingml/2006/main">
              <a:ext uri="{FF2B5EF4-FFF2-40B4-BE49-F238E27FC236}">
                <a16:creationId xmlns:a16="http://schemas.microsoft.com/office/drawing/2014/main" id="{AC6F5674-3955-45BD-9B2D-579223BA77A3}"/>
              </a:ext>
            </a:extLst>
          </p:cNvPr>
          <p:cNvSpPr>
            <a:spLocks xmlns:a="http://schemas.openxmlformats.org/drawingml/2006/main" noGrp="1"/>
          </p:cNvSpPr>
          <p:nvPr/>
        </p:nvSpPr>
        <p:spPr>
          <a:xfrm xmlns:a="http://schemas.openxmlformats.org/drawingml/2006/main">
            <a:off x="62865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Quality cost</a:t>
            </a:r>
          </a:p>
        </p:txBody>
      </p:sp>
      <p:sp>
        <p:nvSpPr>
          <p:cNvPr id="18" name="">
            <a:extLst xmlns:a="http://schemas.openxmlformats.org/drawingml/2006/main">
              <a:ext uri="{FF2B5EF4-FFF2-40B4-BE49-F238E27FC236}">
                <a16:creationId xmlns:a16="http://schemas.microsoft.com/office/drawing/2014/main" id="{BA69B6BC-E786-4504-9A82-CC8D3A929A34}"/>
              </a:ext>
            </a:extLst>
          </p:cNvPr>
          <p:cNvSpPr>
            <a:spLocks xmlns:a="http://schemas.openxmlformats.org/drawingml/2006/main" noGrp="1"/>
          </p:cNvSpPr>
          <p:nvPr/>
        </p:nvSpPr>
        <p:spPr>
          <a:xfrm xmlns:a="http://schemas.openxmlformats.org/drawingml/2006/main">
            <a:off x="62865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111"/>
                </a:solidFill>
              </a:defRPr>
            </a:pPr>
            <a:r>
              <a:rPr sz="1200" b="1">
                <a:solidFill>
                  <a:srgbClr val="111111"/>
                </a:solidFill>
              </a:rPr>
              <a:t>Primary business target</a:t>
            </a:r>
          </a:p>
        </p:txBody>
      </p:sp>
      <p:sp>
        <p:nvSpPr>
          <p:cNvPr id="19" name="">
            <a:extLst xmlns:a="http://schemas.openxmlformats.org/drawingml/2006/main">
              <a:ext uri="{FF2B5EF4-FFF2-40B4-BE49-F238E27FC236}">
                <a16:creationId xmlns:a16="http://schemas.microsoft.com/office/drawing/2014/main" id="{E73F49D7-0772-40D6-9D05-BC93FD00717C}"/>
              </a:ext>
            </a:extLst>
          </p:cNvPr>
          <p:cNvSpPr>
            <a:spLocks xmlns:a="http://schemas.openxmlformats.org/drawingml/2006/main" noGrp="1"/>
          </p:cNvSpPr>
          <p:nvPr/>
        </p:nvSpPr>
        <p:spPr>
          <a:xfrm xmlns:a="http://schemas.openxmlformats.org/drawingml/2006/main">
            <a:off x="62865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Scrap, rework, repeat defects, complaints</a:t>
            </a:r>
          </a:p>
        </p:txBody>
      </p:sp>
      <p:sp>
        <p:nvSpPr>
          <p:cNvPr id="20" name="">
            <a:extLst xmlns:a="http://schemas.openxmlformats.org/drawingml/2006/main">
              <a:ext uri="{FF2B5EF4-FFF2-40B4-BE49-F238E27FC236}">
                <a16:creationId xmlns:a16="http://schemas.microsoft.com/office/drawing/2014/main" id="{D27EBA33-3CEB-4824-9C22-9005AB7702FC}"/>
              </a:ext>
            </a:extLst>
          </p:cNvPr>
          <p:cNvSpPr>
            <a:spLocks xmlns:a="http://schemas.openxmlformats.org/drawingml/2006/main" noGrp="1"/>
          </p:cNvSpPr>
          <p:nvPr/>
        </p:nvSpPr>
        <p:spPr>
          <a:xfrm xmlns:a="http://schemas.openxmlformats.org/drawingml/2006/main">
            <a:off x="87820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15893B23-3F9A-479A-B0E6-7EDF7E4759B0}"/>
              </a:ext>
            </a:extLst>
          </p:cNvPr>
          <p:cNvSpPr>
            <a:spLocks xmlns:a="http://schemas.openxmlformats.org/drawingml/2006/main" noGrp="1"/>
          </p:cNvSpPr>
          <p:nvPr/>
        </p:nvSpPr>
        <p:spPr>
          <a:xfrm xmlns:a="http://schemas.openxmlformats.org/drawingml/2006/main">
            <a:off x="8782050" y="2209800"/>
            <a:ext cx="57150" cy="1257300"/>
          </a:xfrm>
          <a:prstGeom xmlns:a="http://schemas.openxmlformats.org/drawingml/2006/main" prst="rect">
            <a:avLst/>
          </a:prstGeom>
          <a:solidFill xmlns:a="http://schemas.openxmlformats.org/drawingml/2006/main">
            <a:srgbClr val="167C3E"/>
          </a:solidFill>
          <a:ln xmlns:a="http://schemas.openxmlformats.org/drawingml/2006/main" w="0">
            <a:solidFill>
              <a:srgbClr val="167C3E"/>
            </a:solidFill>
            <a:prstDash val="solid"/>
          </a:ln>
        </p:spPr>
      </p:sp>
      <p:sp>
        <p:nvSpPr>
          <p:cNvPr id="22" name="">
            <a:extLst xmlns:a="http://schemas.openxmlformats.org/drawingml/2006/main">
              <a:ext uri="{FF2B5EF4-FFF2-40B4-BE49-F238E27FC236}">
                <a16:creationId xmlns:a16="http://schemas.microsoft.com/office/drawing/2014/main" id="{7E1A2683-79B9-4458-83D4-D349323E2307}"/>
              </a:ext>
            </a:extLst>
          </p:cNvPr>
          <p:cNvSpPr>
            <a:spLocks xmlns:a="http://schemas.openxmlformats.org/drawingml/2006/main" noGrp="1"/>
          </p:cNvSpPr>
          <p:nvPr/>
        </p:nvSpPr>
        <p:spPr>
          <a:xfrm xmlns:a="http://schemas.openxmlformats.org/drawingml/2006/main">
            <a:off x="89916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Low</a:t>
            </a:r>
          </a:p>
        </p:txBody>
      </p:sp>
      <p:sp>
        <p:nvSpPr>
          <p:cNvPr id="23" name="">
            <a:extLst xmlns:a="http://schemas.openxmlformats.org/drawingml/2006/main">
              <a:ext uri="{FF2B5EF4-FFF2-40B4-BE49-F238E27FC236}">
                <a16:creationId xmlns:a16="http://schemas.microsoft.com/office/drawing/2014/main" id="{A24DC661-99C5-4C60-B129-1D8E448FA01C}"/>
              </a:ext>
            </a:extLst>
          </p:cNvPr>
          <p:cNvSpPr>
            <a:spLocks xmlns:a="http://schemas.openxmlformats.org/drawingml/2006/main" noGrp="1"/>
          </p:cNvSpPr>
          <p:nvPr/>
        </p:nvSpPr>
        <p:spPr>
          <a:xfrm xmlns:a="http://schemas.openxmlformats.org/drawingml/2006/main">
            <a:off x="89916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11111"/>
                </a:solidFill>
              </a:defRPr>
            </a:pPr>
            <a:r>
              <a:rPr sz="1200" b="1">
                <a:solidFill>
                  <a:srgbClr val="111111"/>
                </a:solidFill>
              </a:rPr>
              <a:t>Operating risk</a:t>
            </a:r>
          </a:p>
        </p:txBody>
      </p:sp>
      <p:sp>
        <p:nvSpPr>
          <p:cNvPr id="24" name="">
            <a:extLst xmlns:a="http://schemas.openxmlformats.org/drawingml/2006/main">
              <a:ext uri="{FF2B5EF4-FFF2-40B4-BE49-F238E27FC236}">
                <a16:creationId xmlns:a16="http://schemas.microsoft.com/office/drawing/2014/main" id="{A5C9D555-A622-4235-A9FB-7075DB35E460}"/>
              </a:ext>
            </a:extLst>
          </p:cNvPr>
          <p:cNvSpPr>
            <a:spLocks xmlns:a="http://schemas.openxmlformats.org/drawingml/2006/main" noGrp="1"/>
          </p:cNvSpPr>
          <p:nvPr/>
        </p:nvSpPr>
        <p:spPr>
          <a:xfrm xmlns:a="http://schemas.openxmlformats.org/drawingml/2006/main">
            <a:off x="89916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No machine control or ERP writeback</a:t>
            </a:r>
          </a:p>
        </p:txBody>
      </p:sp>
      <p:sp>
        <p:nvSpPr>
          <p:cNvPr id="25" name="">
            <a:extLst xmlns:a="http://schemas.openxmlformats.org/drawingml/2006/main">
              <a:ext uri="{FF2B5EF4-FFF2-40B4-BE49-F238E27FC236}">
                <a16:creationId xmlns:a16="http://schemas.microsoft.com/office/drawing/2014/main" id="{81AC5045-2E4D-4808-B36E-77D979FFAD57}"/>
              </a:ext>
            </a:extLst>
          </p:cNvPr>
          <p:cNvSpPr>
            <a:spLocks xmlns:a="http://schemas.openxmlformats.org/drawingml/2006/main" noGrp="1"/>
          </p:cNvSpPr>
          <p:nvPr/>
        </p:nvSpPr>
        <p:spPr>
          <a:xfrm xmlns:a="http://schemas.openxmlformats.org/drawingml/2006/main">
            <a:off x="914400" y="419100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111"/>
                </a:solidFill>
              </a:defRPr>
            </a:pPr>
            <a:r>
              <a:rPr sz="1500" b="0">
                <a:solidFill>
                  <a:srgbClr val="111111"/>
                </a:solidFill>
              </a:rPr>
              <a:t>- Approve one cross-functional AI pilot around coating/packaging quality intelligence.</a:t>
            </a:r>
          </a:p>
          <a:p xmlns:a="http://schemas.openxmlformats.org/drawingml/2006/main">
            <a:pPr algn="l">
              <a:defRPr sz="1500" b="0">
                <a:solidFill>
                  <a:srgbClr val="111111"/>
                </a:solidFill>
              </a:defRPr>
            </a:pPr>
            <a:r>
              <a:rPr sz="1500" b="0">
                <a:solidFill>
                  <a:srgbClr val="111111"/>
                </a:solidFill>
              </a:rPr>
              <a:t>- Name one executive sponsor and one owner each from R&amp;D, production, quality, packaging, IT, and finance.</a:t>
            </a:r>
          </a:p>
          <a:p xmlns:a="http://schemas.openxmlformats.org/drawingml/2006/main">
            <a:pPr algn="l">
              <a:defRPr sz="1500" b="0">
                <a:solidFill>
                  <a:srgbClr val="111111"/>
                </a:solidFill>
              </a:defRPr>
            </a:pPr>
            <a:r>
              <a:rPr sz="1500" b="0">
                <a:solidFill>
                  <a:srgbClr val="111111"/>
                </a:solidFill>
              </a:rPr>
              <a:t>- Grant controlled read-only access to selected ERP, inspection, QC, lab, and production evidence.</a:t>
            </a:r>
          </a:p>
        </p:txBody>
      </p:sp>
      <p:sp>
        <p:nvSpPr>
          <p:cNvPr id="26" name="">
            <a:extLst xmlns:a="http://schemas.openxmlformats.org/drawingml/2006/main">
              <a:ext uri="{FF2B5EF4-FFF2-40B4-BE49-F238E27FC236}">
                <a16:creationId xmlns:a16="http://schemas.microsoft.com/office/drawing/2014/main" id="{8D66DF8A-B740-4C11-9C00-D645C11F810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7" name="">
            <a:extLst xmlns:a="http://schemas.openxmlformats.org/drawingml/2006/main">
              <a:ext uri="{FF2B5EF4-FFF2-40B4-BE49-F238E27FC236}">
                <a16:creationId xmlns:a16="http://schemas.microsoft.com/office/drawing/2014/main" id="{39762507-1FC3-459C-ABC7-F5EC4714987D}"/>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02</a:t>
            </a:r>
          </a:p>
        </p:txBody>
      </p:sp>
    </p:spTree>
    <p:extLst>
      <p:ext uri="{BB962C8B-B14F-4D97-AF65-F5344CB8AC3E}">
        <p14:creationId xmlns:p14="http://schemas.microsoft.com/office/powerpoint/2010/main" val="102796128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9EBC62-0D96-45FF-BEE6-B32716DAFDC1}"/>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COMPANY-SPECIFIC INSIGHT</a:t>
            </a:r>
          </a:p>
        </p:txBody>
      </p:sp>
      <p:sp>
        <p:nvSpPr>
          <p:cNvPr id="2" name="">
            <a:extLst xmlns:a="http://schemas.openxmlformats.org/drawingml/2006/main">
              <a:ext uri="{FF2B5EF4-FFF2-40B4-BE49-F238E27FC236}">
                <a16:creationId xmlns:a16="http://schemas.microsoft.com/office/drawing/2014/main" id="{818B7EFF-29A9-4731-B3DA-879D570076BF}"/>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company creates value through engineered combinations</a:t>
            </a:r>
          </a:p>
        </p:txBody>
      </p:sp>
      <p:sp>
        <p:nvSpPr>
          <p:cNvPr id="3" name="">
            <a:extLst xmlns:a="http://schemas.openxmlformats.org/drawingml/2006/main">
              <a:ext uri="{FF2B5EF4-FFF2-40B4-BE49-F238E27FC236}">
                <a16:creationId xmlns:a16="http://schemas.microsoft.com/office/drawing/2014/main" id="{39B758EC-1D9D-4CA9-9D92-3433C4721D7C}"/>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hidden AI asset is the link between materials, process, quality, certification, and application knowledge.</a:t>
            </a:r>
          </a:p>
        </p:txBody>
      </p:sp>
      <p:sp>
        <p:nvSpPr>
          <p:cNvPr id="4" name="">
            <a:extLst xmlns:a="http://schemas.openxmlformats.org/drawingml/2006/main">
              <a:ext uri="{FF2B5EF4-FFF2-40B4-BE49-F238E27FC236}">
                <a16:creationId xmlns:a16="http://schemas.microsoft.com/office/drawing/2014/main" id="{4E4D505D-78AB-417D-8520-1C56E17B2C7E}"/>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D3C2ADCF-906E-4692-8853-F46C9B53A80A}"/>
              </a:ext>
            </a:extLst>
          </p:cNvPr>
          <p:cNvSpPr>
            <a:spLocks xmlns:a="http://schemas.openxmlformats.org/drawingml/2006/main" noGrp="1"/>
          </p:cNvSpPr>
          <p:nvPr/>
        </p:nvSpPr>
        <p:spPr>
          <a:xfrm xmlns:a="http://schemas.openxmlformats.org/drawingml/2006/main">
            <a:off x="66675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66F8CFE0-9FEB-4BDA-8CD0-B520AF61A3CE}"/>
              </a:ext>
            </a:extLst>
          </p:cNvPr>
          <p:cNvSpPr>
            <a:spLocks xmlns:a="http://schemas.openxmlformats.org/drawingml/2006/main" noGrp="1"/>
          </p:cNvSpPr>
          <p:nvPr/>
        </p:nvSpPr>
        <p:spPr>
          <a:xfrm xmlns:a="http://schemas.openxmlformats.org/drawingml/2006/main">
            <a:off x="8382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defRPr>
            </a:pPr>
            <a:r>
              <a:rPr sz="2100" b="1">
                <a:solidFill>
                  <a:srgbClr val="F39200"/>
                </a:solidFill>
              </a:rPr>
              <a:t>1</a:t>
            </a:r>
          </a:p>
        </p:txBody>
      </p:sp>
      <p:sp>
        <p:nvSpPr>
          <p:cNvPr id="7" name="">
            <a:extLst xmlns:a="http://schemas.openxmlformats.org/drawingml/2006/main">
              <a:ext uri="{FF2B5EF4-FFF2-40B4-BE49-F238E27FC236}">
                <a16:creationId xmlns:a16="http://schemas.microsoft.com/office/drawing/2014/main" id="{83375610-A5C7-4D8F-8053-1593F9597C06}"/>
              </a:ext>
            </a:extLst>
          </p:cNvPr>
          <p:cNvSpPr>
            <a:spLocks xmlns:a="http://schemas.openxmlformats.org/drawingml/2006/main" noGrp="1"/>
          </p:cNvSpPr>
          <p:nvPr/>
        </p:nvSpPr>
        <p:spPr>
          <a:xfrm xmlns:a="http://schemas.openxmlformats.org/drawingml/2006/main">
            <a:off x="8382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defRPr>
            </a:pPr>
            <a:r>
              <a:rPr sz="1500" b="1">
                <a:solidFill>
                  <a:srgbClr val="111111"/>
                </a:solidFill>
              </a:rPr>
              <a:t>Customer need</a:t>
            </a:r>
          </a:p>
        </p:txBody>
      </p:sp>
      <p:sp>
        <p:nvSpPr>
          <p:cNvPr id="8" name="">
            <a:extLst xmlns:a="http://schemas.openxmlformats.org/drawingml/2006/main">
              <a:ext uri="{FF2B5EF4-FFF2-40B4-BE49-F238E27FC236}">
                <a16:creationId xmlns:a16="http://schemas.microsoft.com/office/drawing/2014/main" id="{A8378064-3D5B-4AE6-B9C0-52FE4B58D00C}"/>
              </a:ext>
            </a:extLst>
          </p:cNvPr>
          <p:cNvSpPr>
            <a:spLocks xmlns:a="http://schemas.openxmlformats.org/drawingml/2006/main" noGrp="1"/>
          </p:cNvSpPr>
          <p:nvPr/>
        </p:nvSpPr>
        <p:spPr>
          <a:xfrm xmlns:a="http://schemas.openxmlformats.org/drawingml/2006/main">
            <a:off x="8382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temperature, flame, marine, automotive, PPE, insulation</a:t>
            </a:r>
          </a:p>
        </p:txBody>
      </p:sp>
      <p:sp>
        <p:nvSpPr>
          <p:cNvPr id="9" name="">
            <a:extLst xmlns:a="http://schemas.openxmlformats.org/drawingml/2006/main">
              <a:ext uri="{FF2B5EF4-FFF2-40B4-BE49-F238E27FC236}">
                <a16:creationId xmlns:a16="http://schemas.microsoft.com/office/drawing/2014/main" id="{1C45FE76-CD99-451F-A397-97B0EF8DDC3C}"/>
              </a:ext>
            </a:extLst>
          </p:cNvPr>
          <p:cNvSpPr>
            <a:spLocks xmlns:a="http://schemas.openxmlformats.org/drawingml/2006/main" noGrp="1"/>
          </p:cNvSpPr>
          <p:nvPr/>
        </p:nvSpPr>
        <p:spPr>
          <a:xfrm xmlns:a="http://schemas.openxmlformats.org/drawingml/2006/main">
            <a:off x="271462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defRPr>
            </a:pPr>
            <a:r>
              <a:rPr sz="2400" b="1">
                <a:solidFill>
                  <a:srgbClr val="CFCFCF"/>
                </a:solidFill>
              </a:rPr>
              <a:t>&gt;</a:t>
            </a:r>
          </a:p>
        </p:txBody>
      </p:sp>
      <p:sp>
        <p:nvSpPr>
          <p:cNvPr id="10" name="">
            <a:extLst xmlns:a="http://schemas.openxmlformats.org/drawingml/2006/main">
              <a:ext uri="{FF2B5EF4-FFF2-40B4-BE49-F238E27FC236}">
                <a16:creationId xmlns:a16="http://schemas.microsoft.com/office/drawing/2014/main" id="{64A153D9-3B7B-449D-A783-8AFB33C9DC81}"/>
              </a:ext>
            </a:extLst>
          </p:cNvPr>
          <p:cNvSpPr>
            <a:spLocks xmlns:a="http://schemas.openxmlformats.org/drawingml/2006/main" noGrp="1"/>
          </p:cNvSpPr>
          <p:nvPr/>
        </p:nvSpPr>
        <p:spPr>
          <a:xfrm xmlns:a="http://schemas.openxmlformats.org/drawingml/2006/main">
            <a:off x="281940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7B38B990-5971-4778-A783-60ED4D25DDE2}"/>
              </a:ext>
            </a:extLst>
          </p:cNvPr>
          <p:cNvSpPr>
            <a:spLocks xmlns:a="http://schemas.openxmlformats.org/drawingml/2006/main" noGrp="1"/>
          </p:cNvSpPr>
          <p:nvPr/>
        </p:nvSpPr>
        <p:spPr>
          <a:xfrm xmlns:a="http://schemas.openxmlformats.org/drawingml/2006/main">
            <a:off x="299085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defRPr>
            </a:pPr>
            <a:r>
              <a:rPr sz="2100" b="1">
                <a:solidFill>
                  <a:srgbClr val="F39200"/>
                </a:solidFill>
              </a:rPr>
              <a:t>2</a:t>
            </a:r>
          </a:p>
        </p:txBody>
      </p:sp>
      <p:sp>
        <p:nvSpPr>
          <p:cNvPr id="12" name="">
            <a:extLst xmlns:a="http://schemas.openxmlformats.org/drawingml/2006/main">
              <a:ext uri="{FF2B5EF4-FFF2-40B4-BE49-F238E27FC236}">
                <a16:creationId xmlns:a16="http://schemas.microsoft.com/office/drawing/2014/main" id="{58B217B4-D4F1-4394-8461-38BAE3EB2227}"/>
              </a:ext>
            </a:extLst>
          </p:cNvPr>
          <p:cNvSpPr>
            <a:spLocks xmlns:a="http://schemas.openxmlformats.org/drawingml/2006/main" noGrp="1"/>
          </p:cNvSpPr>
          <p:nvPr/>
        </p:nvSpPr>
        <p:spPr>
          <a:xfrm xmlns:a="http://schemas.openxmlformats.org/drawingml/2006/main">
            <a:off x="299085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defRPr>
            </a:pPr>
            <a:r>
              <a:rPr sz="1500" b="1">
                <a:solidFill>
                  <a:srgbClr val="111111"/>
                </a:solidFill>
              </a:rPr>
              <a:t>Material route</a:t>
            </a:r>
          </a:p>
        </p:txBody>
      </p:sp>
      <p:sp>
        <p:nvSpPr>
          <p:cNvPr id="13" name="">
            <a:extLst xmlns:a="http://schemas.openxmlformats.org/drawingml/2006/main">
              <a:ext uri="{FF2B5EF4-FFF2-40B4-BE49-F238E27FC236}">
                <a16:creationId xmlns:a16="http://schemas.microsoft.com/office/drawing/2014/main" id="{74D1DFD6-26DD-422F-9F25-607EC1293A36}"/>
              </a:ext>
            </a:extLst>
          </p:cNvPr>
          <p:cNvSpPr>
            <a:spLocks xmlns:a="http://schemas.openxmlformats.org/drawingml/2006/main" noGrp="1"/>
          </p:cNvSpPr>
          <p:nvPr/>
        </p:nvSpPr>
        <p:spPr>
          <a:xfrm xmlns:a="http://schemas.openxmlformats.org/drawingml/2006/main">
            <a:off x="299085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glass, silica, aramid, basalt, carbon, V4A, blends</a:t>
            </a:r>
          </a:p>
        </p:txBody>
      </p:sp>
      <p:sp>
        <p:nvSpPr>
          <p:cNvPr id="14" name="">
            <a:extLst xmlns:a="http://schemas.openxmlformats.org/drawingml/2006/main">
              <a:ext uri="{FF2B5EF4-FFF2-40B4-BE49-F238E27FC236}">
                <a16:creationId xmlns:a16="http://schemas.microsoft.com/office/drawing/2014/main" id="{0D6C6237-65D1-4B78-B36A-00CCA6E2C286}"/>
              </a:ext>
            </a:extLst>
          </p:cNvPr>
          <p:cNvSpPr>
            <a:spLocks xmlns:a="http://schemas.openxmlformats.org/drawingml/2006/main" noGrp="1"/>
          </p:cNvSpPr>
          <p:nvPr/>
        </p:nvSpPr>
        <p:spPr>
          <a:xfrm xmlns:a="http://schemas.openxmlformats.org/drawingml/2006/main">
            <a:off x="486727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defRPr>
            </a:pPr>
            <a:r>
              <a:rPr sz="2400" b="1">
                <a:solidFill>
                  <a:srgbClr val="CFCFCF"/>
                </a:solidFill>
              </a:rPr>
              <a:t>&gt;</a:t>
            </a:r>
          </a:p>
        </p:txBody>
      </p:sp>
      <p:sp>
        <p:nvSpPr>
          <p:cNvPr id="15" name="">
            <a:extLst xmlns:a="http://schemas.openxmlformats.org/drawingml/2006/main">
              <a:ext uri="{FF2B5EF4-FFF2-40B4-BE49-F238E27FC236}">
                <a16:creationId xmlns:a16="http://schemas.microsoft.com/office/drawing/2014/main" id="{FB1807C9-14C4-415D-87DE-82A69D8F3EA6}"/>
              </a:ext>
            </a:extLst>
          </p:cNvPr>
          <p:cNvSpPr>
            <a:spLocks xmlns:a="http://schemas.openxmlformats.org/drawingml/2006/main" noGrp="1"/>
          </p:cNvSpPr>
          <p:nvPr/>
        </p:nvSpPr>
        <p:spPr>
          <a:xfrm xmlns:a="http://schemas.openxmlformats.org/drawingml/2006/main">
            <a:off x="4972050" y="2238375"/>
            <a:ext cx="1952625" cy="1714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6" name="">
            <a:extLst xmlns:a="http://schemas.openxmlformats.org/drawingml/2006/main">
              <a:ext uri="{FF2B5EF4-FFF2-40B4-BE49-F238E27FC236}">
                <a16:creationId xmlns:a16="http://schemas.microsoft.com/office/drawing/2014/main" id="{E466D562-BD5D-406A-B23A-A769BAC50D05}"/>
              </a:ext>
            </a:extLst>
          </p:cNvPr>
          <p:cNvSpPr>
            <a:spLocks xmlns:a="http://schemas.openxmlformats.org/drawingml/2006/main" noGrp="1"/>
          </p:cNvSpPr>
          <p:nvPr/>
        </p:nvSpPr>
        <p:spPr>
          <a:xfrm xmlns:a="http://schemas.openxmlformats.org/drawingml/2006/main">
            <a:off x="51435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defRPr>
            </a:pPr>
            <a:r>
              <a:rPr sz="2100" b="1">
                <a:solidFill>
                  <a:srgbClr val="F39200"/>
                </a:solidFill>
              </a:rPr>
              <a:t>3</a:t>
            </a:r>
          </a:p>
        </p:txBody>
      </p:sp>
      <p:sp>
        <p:nvSpPr>
          <p:cNvPr id="17" name="">
            <a:extLst xmlns:a="http://schemas.openxmlformats.org/drawingml/2006/main">
              <a:ext uri="{FF2B5EF4-FFF2-40B4-BE49-F238E27FC236}">
                <a16:creationId xmlns:a16="http://schemas.microsoft.com/office/drawing/2014/main" id="{D70B9FB5-3865-4C22-8018-5B1D666FA213}"/>
              </a:ext>
            </a:extLst>
          </p:cNvPr>
          <p:cNvSpPr>
            <a:spLocks xmlns:a="http://schemas.openxmlformats.org/drawingml/2006/main" noGrp="1"/>
          </p:cNvSpPr>
          <p:nvPr/>
        </p:nvSpPr>
        <p:spPr>
          <a:xfrm xmlns:a="http://schemas.openxmlformats.org/drawingml/2006/main">
            <a:off x="51435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defRPr>
            </a:pPr>
            <a:r>
              <a:rPr sz="1500" b="1">
                <a:solidFill>
                  <a:srgbClr val="111111"/>
                </a:solidFill>
              </a:rPr>
              <a:t>Functional finish</a:t>
            </a:r>
          </a:p>
        </p:txBody>
      </p:sp>
      <p:sp>
        <p:nvSpPr>
          <p:cNvPr id="18" name="">
            <a:extLst xmlns:a="http://schemas.openxmlformats.org/drawingml/2006/main">
              <a:ext uri="{FF2B5EF4-FFF2-40B4-BE49-F238E27FC236}">
                <a16:creationId xmlns:a16="http://schemas.microsoft.com/office/drawing/2014/main" id="{856FE111-8322-4040-99EA-A023B2886011}"/>
              </a:ext>
            </a:extLst>
          </p:cNvPr>
          <p:cNvSpPr>
            <a:spLocks xmlns:a="http://schemas.openxmlformats.org/drawingml/2006/main" noGrp="1"/>
          </p:cNvSpPr>
          <p:nvPr/>
        </p:nvSpPr>
        <p:spPr>
          <a:xfrm xmlns:a="http://schemas.openxmlformats.org/drawingml/2006/main">
            <a:off x="51435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silicone, PU, vermiculite, graphite, appreture, lamination</a:t>
            </a:r>
          </a:p>
        </p:txBody>
      </p:sp>
      <p:sp>
        <p:nvSpPr>
          <p:cNvPr id="19" name="">
            <a:extLst xmlns:a="http://schemas.openxmlformats.org/drawingml/2006/main">
              <a:ext uri="{FF2B5EF4-FFF2-40B4-BE49-F238E27FC236}">
                <a16:creationId xmlns:a16="http://schemas.microsoft.com/office/drawing/2014/main" id="{510434CB-DBEA-4875-BBE5-B4CE82620DA1}"/>
              </a:ext>
            </a:extLst>
          </p:cNvPr>
          <p:cNvSpPr>
            <a:spLocks xmlns:a="http://schemas.openxmlformats.org/drawingml/2006/main" noGrp="1"/>
          </p:cNvSpPr>
          <p:nvPr/>
        </p:nvSpPr>
        <p:spPr>
          <a:xfrm xmlns:a="http://schemas.openxmlformats.org/drawingml/2006/main">
            <a:off x="701992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defRPr>
            </a:pPr>
            <a:r>
              <a:rPr sz="2400" b="1">
                <a:solidFill>
                  <a:srgbClr val="CFCFCF"/>
                </a:solidFill>
              </a:rPr>
              <a:t>&gt;</a:t>
            </a:r>
          </a:p>
        </p:txBody>
      </p:sp>
      <p:sp>
        <p:nvSpPr>
          <p:cNvPr id="20" name="">
            <a:extLst xmlns:a="http://schemas.openxmlformats.org/drawingml/2006/main">
              <a:ext uri="{FF2B5EF4-FFF2-40B4-BE49-F238E27FC236}">
                <a16:creationId xmlns:a16="http://schemas.microsoft.com/office/drawing/2014/main" id="{249DA725-F410-45C3-8286-192538C48AFE}"/>
              </a:ext>
            </a:extLst>
          </p:cNvPr>
          <p:cNvSpPr>
            <a:spLocks xmlns:a="http://schemas.openxmlformats.org/drawingml/2006/main" noGrp="1"/>
          </p:cNvSpPr>
          <p:nvPr/>
        </p:nvSpPr>
        <p:spPr>
          <a:xfrm xmlns:a="http://schemas.openxmlformats.org/drawingml/2006/main">
            <a:off x="712470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DA9EED5C-EB8F-49F9-BA86-5F0C24432100}"/>
              </a:ext>
            </a:extLst>
          </p:cNvPr>
          <p:cNvSpPr>
            <a:spLocks xmlns:a="http://schemas.openxmlformats.org/drawingml/2006/main" noGrp="1"/>
          </p:cNvSpPr>
          <p:nvPr/>
        </p:nvSpPr>
        <p:spPr>
          <a:xfrm xmlns:a="http://schemas.openxmlformats.org/drawingml/2006/main">
            <a:off x="729615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defRPr>
            </a:pPr>
            <a:r>
              <a:rPr sz="2100" b="1">
                <a:solidFill>
                  <a:srgbClr val="F39200"/>
                </a:solidFill>
              </a:rPr>
              <a:t>4</a:t>
            </a:r>
          </a:p>
        </p:txBody>
      </p:sp>
      <p:sp>
        <p:nvSpPr>
          <p:cNvPr id="22" name="">
            <a:extLst xmlns:a="http://schemas.openxmlformats.org/drawingml/2006/main">
              <a:ext uri="{FF2B5EF4-FFF2-40B4-BE49-F238E27FC236}">
                <a16:creationId xmlns:a16="http://schemas.microsoft.com/office/drawing/2014/main" id="{516F7797-7FF6-4D1B-82E4-C40C54A3361D}"/>
              </a:ext>
            </a:extLst>
          </p:cNvPr>
          <p:cNvSpPr>
            <a:spLocks xmlns:a="http://schemas.openxmlformats.org/drawingml/2006/main" noGrp="1"/>
          </p:cNvSpPr>
          <p:nvPr/>
        </p:nvSpPr>
        <p:spPr>
          <a:xfrm xmlns:a="http://schemas.openxmlformats.org/drawingml/2006/main">
            <a:off x="729615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defRPr>
            </a:pPr>
            <a:r>
              <a:rPr sz="1500" b="1">
                <a:solidFill>
                  <a:srgbClr val="111111"/>
                </a:solidFill>
              </a:rPr>
              <a:t>Production window</a:t>
            </a:r>
          </a:p>
        </p:txBody>
      </p:sp>
      <p:sp>
        <p:nvSpPr>
          <p:cNvPr id="23" name="">
            <a:extLst xmlns:a="http://schemas.openxmlformats.org/drawingml/2006/main">
              <a:ext uri="{FF2B5EF4-FFF2-40B4-BE49-F238E27FC236}">
                <a16:creationId xmlns:a16="http://schemas.microsoft.com/office/drawing/2014/main" id="{A8922066-B21D-4595-83B9-443B6EB06562}"/>
              </a:ext>
            </a:extLst>
          </p:cNvPr>
          <p:cNvSpPr>
            <a:spLocks xmlns:a="http://schemas.openxmlformats.org/drawingml/2006/main" noGrp="1"/>
          </p:cNvSpPr>
          <p:nvPr/>
        </p:nvSpPr>
        <p:spPr>
          <a:xfrm xmlns:a="http://schemas.openxmlformats.org/drawingml/2006/main">
            <a:off x="729615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line speed, temperature, tension, coating weight, curing</a:t>
            </a:r>
          </a:p>
        </p:txBody>
      </p:sp>
      <p:sp>
        <p:nvSpPr>
          <p:cNvPr id="24" name="">
            <a:extLst xmlns:a="http://schemas.openxmlformats.org/drawingml/2006/main">
              <a:ext uri="{FF2B5EF4-FFF2-40B4-BE49-F238E27FC236}">
                <a16:creationId xmlns:a16="http://schemas.microsoft.com/office/drawing/2014/main" id="{14596A40-6A4C-4A8A-9E3B-00642924C850}"/>
              </a:ext>
            </a:extLst>
          </p:cNvPr>
          <p:cNvSpPr>
            <a:spLocks xmlns:a="http://schemas.openxmlformats.org/drawingml/2006/main" noGrp="1"/>
          </p:cNvSpPr>
          <p:nvPr/>
        </p:nvSpPr>
        <p:spPr>
          <a:xfrm xmlns:a="http://schemas.openxmlformats.org/drawingml/2006/main">
            <a:off x="917257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defRPr>
            </a:pPr>
            <a:r>
              <a:rPr sz="2400" b="1">
                <a:solidFill>
                  <a:srgbClr val="CFCFCF"/>
                </a:solidFill>
              </a:rPr>
              <a:t>&gt;</a:t>
            </a:r>
          </a:p>
        </p:txBody>
      </p:sp>
      <p:sp>
        <p:nvSpPr>
          <p:cNvPr id="25" name="">
            <a:extLst xmlns:a="http://schemas.openxmlformats.org/drawingml/2006/main">
              <a:ext uri="{FF2B5EF4-FFF2-40B4-BE49-F238E27FC236}">
                <a16:creationId xmlns:a16="http://schemas.microsoft.com/office/drawing/2014/main" id="{8CEA1835-8735-427A-B8E1-5A7E246853FD}"/>
              </a:ext>
            </a:extLst>
          </p:cNvPr>
          <p:cNvSpPr>
            <a:spLocks xmlns:a="http://schemas.openxmlformats.org/drawingml/2006/main" noGrp="1"/>
          </p:cNvSpPr>
          <p:nvPr/>
        </p:nvSpPr>
        <p:spPr>
          <a:xfrm xmlns:a="http://schemas.openxmlformats.org/drawingml/2006/main">
            <a:off x="927735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6931E40E-AC85-4660-90FF-97985118C302}"/>
              </a:ext>
            </a:extLst>
          </p:cNvPr>
          <p:cNvSpPr>
            <a:spLocks xmlns:a="http://schemas.openxmlformats.org/drawingml/2006/main" noGrp="1"/>
          </p:cNvSpPr>
          <p:nvPr/>
        </p:nvSpPr>
        <p:spPr>
          <a:xfrm xmlns:a="http://schemas.openxmlformats.org/drawingml/2006/main">
            <a:off x="94488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defRPr>
            </a:pPr>
            <a:r>
              <a:rPr sz="2100" b="1">
                <a:solidFill>
                  <a:srgbClr val="F39200"/>
                </a:solidFill>
              </a:rPr>
              <a:t>5</a:t>
            </a:r>
          </a:p>
        </p:txBody>
      </p:sp>
      <p:sp>
        <p:nvSpPr>
          <p:cNvPr id="27" name="">
            <a:extLst xmlns:a="http://schemas.openxmlformats.org/drawingml/2006/main">
              <a:ext uri="{FF2B5EF4-FFF2-40B4-BE49-F238E27FC236}">
                <a16:creationId xmlns:a16="http://schemas.microsoft.com/office/drawing/2014/main" id="{B8AF782E-22BE-4C5C-ADA4-E13500F5E3A0}"/>
              </a:ext>
            </a:extLst>
          </p:cNvPr>
          <p:cNvSpPr>
            <a:spLocks xmlns:a="http://schemas.openxmlformats.org/drawingml/2006/main" noGrp="1"/>
          </p:cNvSpPr>
          <p:nvPr/>
        </p:nvSpPr>
        <p:spPr>
          <a:xfrm xmlns:a="http://schemas.openxmlformats.org/drawingml/2006/main">
            <a:off x="94488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defRPr>
            </a:pPr>
            <a:r>
              <a:rPr sz="1500" b="1">
                <a:solidFill>
                  <a:srgbClr val="111111"/>
                </a:solidFill>
              </a:rPr>
              <a:t>Quality proof</a:t>
            </a:r>
          </a:p>
        </p:txBody>
      </p:sp>
      <p:sp>
        <p:nvSpPr>
          <p:cNvPr id="28" name="">
            <a:extLst xmlns:a="http://schemas.openxmlformats.org/drawingml/2006/main">
              <a:ext uri="{FF2B5EF4-FFF2-40B4-BE49-F238E27FC236}">
                <a16:creationId xmlns:a16="http://schemas.microsoft.com/office/drawing/2014/main" id="{A024367E-858C-4EC0-8A90-7CE466DA8D7F}"/>
              </a:ext>
            </a:extLst>
          </p:cNvPr>
          <p:cNvSpPr>
            <a:spLocks xmlns:a="http://schemas.openxmlformats.org/drawingml/2006/main" noGrp="1"/>
          </p:cNvSpPr>
          <p:nvPr/>
        </p:nvSpPr>
        <p:spPr>
          <a:xfrm xmlns:a="http://schemas.openxmlformats.org/drawingml/2006/main">
            <a:off x="94488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tests, certificates, complaints, approvals, release</a:t>
            </a:r>
          </a:p>
        </p:txBody>
      </p:sp>
      <p:sp>
        <p:nvSpPr>
          <p:cNvPr id="29" name="">
            <a:extLst xmlns:a="http://schemas.openxmlformats.org/drawingml/2006/main">
              <a:ext uri="{FF2B5EF4-FFF2-40B4-BE49-F238E27FC236}">
                <a16:creationId xmlns:a16="http://schemas.microsoft.com/office/drawing/2014/main" id="{55D7C4BD-C7BF-433F-BAA7-621A5A64C7BF}"/>
              </a:ext>
            </a:extLst>
          </p:cNvPr>
          <p:cNvSpPr>
            <a:spLocks xmlns:a="http://schemas.openxmlformats.org/drawingml/2006/main" noGrp="1"/>
          </p:cNvSpPr>
          <p:nvPr/>
        </p:nvSpPr>
        <p:spPr>
          <a:xfrm xmlns:a="http://schemas.openxmlformats.org/drawingml/2006/main">
            <a:off x="1143000" y="4762500"/>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11111"/>
                </a:solidFill>
              </a:defRPr>
            </a:pPr>
            <a:r>
              <a:rPr sz="1875" b="1">
                <a:solidFill>
                  <a:srgbClr val="111111"/>
                </a:solidFill>
              </a:rPr>
              <a:t>AI becomes valuable when it connects these steps at roll, recipe, test, and customer level.</a:t>
            </a:r>
          </a:p>
        </p:txBody>
      </p:sp>
      <p:sp>
        <p:nvSpPr>
          <p:cNvPr id="30" name="">
            <a:extLst xmlns:a="http://schemas.openxmlformats.org/drawingml/2006/main">
              <a:ext uri="{FF2B5EF4-FFF2-40B4-BE49-F238E27FC236}">
                <a16:creationId xmlns:a16="http://schemas.microsoft.com/office/drawing/2014/main" id="{98C5398D-3868-4A72-A6F1-122C43A65823}"/>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1" name="">
            <a:extLst xmlns:a="http://schemas.openxmlformats.org/drawingml/2006/main">
              <a:ext uri="{FF2B5EF4-FFF2-40B4-BE49-F238E27FC236}">
                <a16:creationId xmlns:a16="http://schemas.microsoft.com/office/drawing/2014/main" id="{05E8C576-14A4-41F5-8E50-4BC24965C2DB}"/>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Sources: Darmstaedter and Klevers company/product pages</a:t>
            </a:r>
          </a:p>
        </p:txBody>
      </p:sp>
      <p:sp>
        <p:nvSpPr>
          <p:cNvPr id="32" name="">
            <a:extLst xmlns:a="http://schemas.openxmlformats.org/drawingml/2006/main">
              <a:ext uri="{FF2B5EF4-FFF2-40B4-BE49-F238E27FC236}">
                <a16:creationId xmlns:a16="http://schemas.microsoft.com/office/drawing/2014/main" id="{28B59ABC-9068-454F-BA0D-C19946F0AD70}"/>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03</a:t>
            </a:r>
          </a:p>
        </p:txBody>
      </p:sp>
    </p:spTree>
    <p:extLst>
      <p:ext uri="{BB962C8B-B14F-4D97-AF65-F5344CB8AC3E}">
        <p14:creationId xmlns:p14="http://schemas.microsoft.com/office/powerpoint/2010/main" val="9369803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007C54-4328-42CB-8A42-E578630AD0C3}"/>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EVIDENCE</a:t>
            </a:r>
          </a:p>
        </p:txBody>
      </p:sp>
      <p:sp>
        <p:nvSpPr>
          <p:cNvPr id="2" name="">
            <a:extLst xmlns:a="http://schemas.openxmlformats.org/drawingml/2006/main">
              <a:ext uri="{FF2B5EF4-FFF2-40B4-BE49-F238E27FC236}">
                <a16:creationId xmlns:a16="http://schemas.microsoft.com/office/drawing/2014/main" id="{FD16BC3A-B352-49C4-8D3D-41CBE88E1DCF}"/>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Public evidence points to a high-mix, knowledge-heavy business</a:t>
            </a:r>
          </a:p>
        </p:txBody>
      </p:sp>
      <p:sp>
        <p:nvSpPr>
          <p:cNvPr id="3" name="">
            <a:extLst xmlns:a="http://schemas.openxmlformats.org/drawingml/2006/main">
              <a:ext uri="{FF2B5EF4-FFF2-40B4-BE49-F238E27FC236}">
                <a16:creationId xmlns:a16="http://schemas.microsoft.com/office/drawing/2014/main" id="{368A429C-A144-4088-8E27-CB8330027EC4}"/>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AI should target repeatability, traceability, and expert knowledge reuse.</a:t>
            </a:r>
          </a:p>
        </p:txBody>
      </p:sp>
      <p:sp>
        <p:nvSpPr>
          <p:cNvPr id="4" name="">
            <a:extLst xmlns:a="http://schemas.openxmlformats.org/drawingml/2006/main">
              <a:ext uri="{FF2B5EF4-FFF2-40B4-BE49-F238E27FC236}">
                <a16:creationId xmlns:a16="http://schemas.microsoft.com/office/drawing/2014/main" id="{19BFCFA6-6932-4618-B226-96EA8989166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62b9ecdb4154217"/>
          <a:srcRect xmlns:a="http://schemas.openxmlformats.org/drawingml/2006/main" l="9813" t="0" r="9813" b="0"/>
          <a:stretch xmlns:a="http://schemas.openxmlformats.org/drawingml/2006/main">
            <a:fillRect l="0" t="0" r="0" b="0"/>
          </a:stretch>
        </p:blipFill>
        <p:spPr>
          <a:xfrm xmlns:a="http://schemas.openxmlformats.org/drawingml/2006/main">
            <a:off x="666750" y="2038350"/>
            <a:ext cx="34290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6AAF89-2775-4787-98B7-74E44C6B515C}"/>
              </a:ext>
            </a:extLst>
          </p:cNvPr>
          <p:cNvSpPr>
            <a:spLocks xmlns:a="http://schemas.openxmlformats.org/drawingml/2006/main" noGrp="1"/>
          </p:cNvSpPr>
          <p:nvPr/>
        </p:nvSpPr>
        <p:spPr>
          <a:xfrm xmlns:a="http://schemas.openxmlformats.org/drawingml/2006/main">
            <a:off x="4476750" y="2019300"/>
            <a:ext cx="3429000" cy="5143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A19E6643-80B0-4517-9049-C8D58D0B71B8}"/>
              </a:ext>
            </a:extLst>
          </p:cNvPr>
          <p:cNvSpPr>
            <a:spLocks xmlns:a="http://schemas.openxmlformats.org/drawingml/2006/main" noGrp="1"/>
          </p:cNvSpPr>
          <p:nvPr/>
        </p:nvSpPr>
        <p:spPr>
          <a:xfrm xmlns:a="http://schemas.openxmlformats.org/drawingml/2006/main">
            <a:off x="45720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Evidence from public sources</a:t>
            </a:r>
          </a:p>
        </p:txBody>
      </p:sp>
      <p:sp>
        <p:nvSpPr>
          <p:cNvPr id="8" name="">
            <a:extLst xmlns:a="http://schemas.openxmlformats.org/drawingml/2006/main">
              <a:ext uri="{FF2B5EF4-FFF2-40B4-BE49-F238E27FC236}">
                <a16:creationId xmlns:a16="http://schemas.microsoft.com/office/drawing/2014/main" id="{F49ABCE9-DFBA-4C88-9466-472A0A18B65E}"/>
              </a:ext>
            </a:extLst>
          </p:cNvPr>
          <p:cNvSpPr>
            <a:spLocks xmlns:a="http://schemas.openxmlformats.org/drawingml/2006/main" noGrp="1"/>
          </p:cNvSpPr>
          <p:nvPr/>
        </p:nvSpPr>
        <p:spPr>
          <a:xfrm xmlns:a="http://schemas.openxmlformats.org/drawingml/2006/main">
            <a:off x="7905750" y="2019300"/>
            <a:ext cx="3429000" cy="5143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0E35B658-9EFD-4615-9DEE-602861DFA79A}"/>
              </a:ext>
            </a:extLst>
          </p:cNvPr>
          <p:cNvSpPr>
            <a:spLocks xmlns:a="http://schemas.openxmlformats.org/drawingml/2006/main" noGrp="1"/>
          </p:cNvSpPr>
          <p:nvPr/>
        </p:nvSpPr>
        <p:spPr>
          <a:xfrm xmlns:a="http://schemas.openxmlformats.org/drawingml/2006/main">
            <a:off x="80010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Strategic implication</a:t>
            </a:r>
          </a:p>
        </p:txBody>
      </p:sp>
      <p:sp>
        <p:nvSpPr>
          <p:cNvPr id="10" name="">
            <a:extLst xmlns:a="http://schemas.openxmlformats.org/drawingml/2006/main">
              <a:ext uri="{FF2B5EF4-FFF2-40B4-BE49-F238E27FC236}">
                <a16:creationId xmlns:a16="http://schemas.microsoft.com/office/drawing/2014/main" id="{B675E0EE-5CBD-4648-9EAF-FFB121C3F7F2}"/>
              </a:ext>
            </a:extLst>
          </p:cNvPr>
          <p:cNvSpPr>
            <a:spLocks xmlns:a="http://schemas.openxmlformats.org/drawingml/2006/main" noGrp="1"/>
          </p:cNvSpPr>
          <p:nvPr/>
        </p:nvSpPr>
        <p:spPr>
          <a:xfrm xmlns:a="http://schemas.openxmlformats.org/drawingml/2006/main">
            <a:off x="4476750" y="25336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5906219F-C88A-4897-8A70-5E5EB877F0BC}"/>
              </a:ext>
            </a:extLst>
          </p:cNvPr>
          <p:cNvSpPr>
            <a:spLocks xmlns:a="http://schemas.openxmlformats.org/drawingml/2006/main" noGrp="1"/>
          </p:cNvSpPr>
          <p:nvPr/>
        </p:nvSpPr>
        <p:spPr>
          <a:xfrm xmlns:a="http://schemas.openxmlformats.org/drawingml/2006/main">
            <a:off x="4572000" y="26098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Darmstaedter: coatings, appretures, laminations, hybrid articles</a:t>
            </a:r>
          </a:p>
        </p:txBody>
      </p:sp>
      <p:sp>
        <p:nvSpPr>
          <p:cNvPr id="12" name="">
            <a:extLst xmlns:a="http://schemas.openxmlformats.org/drawingml/2006/main">
              <a:ext uri="{FF2B5EF4-FFF2-40B4-BE49-F238E27FC236}">
                <a16:creationId xmlns:a16="http://schemas.microsoft.com/office/drawing/2014/main" id="{B2595753-B7E2-4510-BB46-2843A9F3E29B}"/>
              </a:ext>
            </a:extLst>
          </p:cNvPr>
          <p:cNvSpPr>
            <a:spLocks xmlns:a="http://schemas.openxmlformats.org/drawingml/2006/main" noGrp="1"/>
          </p:cNvSpPr>
          <p:nvPr/>
        </p:nvSpPr>
        <p:spPr>
          <a:xfrm xmlns:a="http://schemas.openxmlformats.org/drawingml/2006/main">
            <a:off x="7905750" y="25336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3" name="">
            <a:extLst xmlns:a="http://schemas.openxmlformats.org/drawingml/2006/main">
              <a:ext uri="{FF2B5EF4-FFF2-40B4-BE49-F238E27FC236}">
                <a16:creationId xmlns:a16="http://schemas.microsoft.com/office/drawing/2014/main" id="{280E72B8-A568-46B0-8824-C81B233A2A93}"/>
              </a:ext>
            </a:extLst>
          </p:cNvPr>
          <p:cNvSpPr>
            <a:spLocks xmlns:a="http://schemas.openxmlformats.org/drawingml/2006/main" noGrp="1"/>
          </p:cNvSpPr>
          <p:nvPr/>
        </p:nvSpPr>
        <p:spPr>
          <a:xfrm xmlns:a="http://schemas.openxmlformats.org/drawingml/2006/main">
            <a:off x="8001000" y="26098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Data must connect product design to process and quality</a:t>
            </a:r>
          </a:p>
        </p:txBody>
      </p:sp>
      <p:sp>
        <p:nvSpPr>
          <p:cNvPr id="14" name="">
            <a:extLst xmlns:a="http://schemas.openxmlformats.org/drawingml/2006/main">
              <a:ext uri="{FF2B5EF4-FFF2-40B4-BE49-F238E27FC236}">
                <a16:creationId xmlns:a16="http://schemas.microsoft.com/office/drawing/2014/main" id="{604F1DCD-1F9E-45C3-B6DB-C2452B6FC634}"/>
              </a:ext>
            </a:extLst>
          </p:cNvPr>
          <p:cNvSpPr>
            <a:spLocks xmlns:a="http://schemas.openxmlformats.org/drawingml/2006/main" noGrp="1"/>
          </p:cNvSpPr>
          <p:nvPr/>
        </p:nvSpPr>
        <p:spPr>
          <a:xfrm xmlns:a="http://schemas.openxmlformats.org/drawingml/2006/main">
            <a:off x="4476750" y="30480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B7B73BFA-1CD5-4FA1-B6FC-EB8264B56861}"/>
              </a:ext>
            </a:extLst>
          </p:cNvPr>
          <p:cNvSpPr>
            <a:spLocks xmlns:a="http://schemas.openxmlformats.org/drawingml/2006/main" noGrp="1"/>
          </p:cNvSpPr>
          <p:nvPr/>
        </p:nvSpPr>
        <p:spPr>
          <a:xfrm xmlns:a="http://schemas.openxmlformats.org/drawingml/2006/main">
            <a:off x="4572000" y="31242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Darmstaedter: R&amp;D lab mirrors production at small scale</a:t>
            </a:r>
          </a:p>
        </p:txBody>
      </p:sp>
      <p:sp>
        <p:nvSpPr>
          <p:cNvPr id="16" name="">
            <a:extLst xmlns:a="http://schemas.openxmlformats.org/drawingml/2006/main">
              <a:ext uri="{FF2B5EF4-FFF2-40B4-BE49-F238E27FC236}">
                <a16:creationId xmlns:a16="http://schemas.microsoft.com/office/drawing/2014/main" id="{D4AD0060-E586-47EA-9405-C98F2A017717}"/>
              </a:ext>
            </a:extLst>
          </p:cNvPr>
          <p:cNvSpPr>
            <a:spLocks xmlns:a="http://schemas.openxmlformats.org/drawingml/2006/main" noGrp="1"/>
          </p:cNvSpPr>
          <p:nvPr/>
        </p:nvSpPr>
        <p:spPr>
          <a:xfrm xmlns:a="http://schemas.openxmlformats.org/drawingml/2006/main">
            <a:off x="7905750" y="30480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7" name="">
            <a:extLst xmlns:a="http://schemas.openxmlformats.org/drawingml/2006/main">
              <a:ext uri="{FF2B5EF4-FFF2-40B4-BE49-F238E27FC236}">
                <a16:creationId xmlns:a16="http://schemas.microsoft.com/office/drawing/2014/main" id="{84B3C2FC-69D8-4987-92CC-B87A0A0BE961}"/>
              </a:ext>
            </a:extLst>
          </p:cNvPr>
          <p:cNvSpPr>
            <a:spLocks xmlns:a="http://schemas.openxmlformats.org/drawingml/2006/main" noGrp="1"/>
          </p:cNvSpPr>
          <p:nvPr/>
        </p:nvSpPr>
        <p:spPr>
          <a:xfrm xmlns:a="http://schemas.openxmlformats.org/drawingml/2006/main">
            <a:off x="8001000" y="31242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Lab-to-production scale-up is a major AI opportunity</a:t>
            </a:r>
          </a:p>
        </p:txBody>
      </p:sp>
      <p:sp>
        <p:nvSpPr>
          <p:cNvPr id="18" name="">
            <a:extLst xmlns:a="http://schemas.openxmlformats.org/drawingml/2006/main">
              <a:ext uri="{FF2B5EF4-FFF2-40B4-BE49-F238E27FC236}">
                <a16:creationId xmlns:a16="http://schemas.microsoft.com/office/drawing/2014/main" id="{C3C87605-71DC-41FD-8E7C-C2BBE5FE2C8C}"/>
              </a:ext>
            </a:extLst>
          </p:cNvPr>
          <p:cNvSpPr>
            <a:spLocks xmlns:a="http://schemas.openxmlformats.org/drawingml/2006/main" noGrp="1"/>
          </p:cNvSpPr>
          <p:nvPr/>
        </p:nvSpPr>
        <p:spPr>
          <a:xfrm xmlns:a="http://schemas.openxmlformats.org/drawingml/2006/main">
            <a:off x="4476750" y="35623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9" name="">
            <a:extLst xmlns:a="http://schemas.openxmlformats.org/drawingml/2006/main">
              <a:ext uri="{FF2B5EF4-FFF2-40B4-BE49-F238E27FC236}">
                <a16:creationId xmlns:a16="http://schemas.microsoft.com/office/drawing/2014/main" id="{5D06DEF8-14EF-441F-AEDC-122716CE4A46}"/>
              </a:ext>
            </a:extLst>
          </p:cNvPr>
          <p:cNvSpPr>
            <a:spLocks xmlns:a="http://schemas.openxmlformats.org/drawingml/2006/main" noGrp="1"/>
          </p:cNvSpPr>
          <p:nvPr/>
        </p:nvSpPr>
        <p:spPr>
          <a:xfrm xmlns:a="http://schemas.openxmlformats.org/drawingml/2006/main">
            <a:off x="4572000" y="36385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Klevers: integrated weaving and flexible combinations</a:t>
            </a:r>
          </a:p>
        </p:txBody>
      </p:sp>
      <p:sp>
        <p:nvSpPr>
          <p:cNvPr id="20" name="">
            <a:extLst xmlns:a="http://schemas.openxmlformats.org/drawingml/2006/main">
              <a:ext uri="{FF2B5EF4-FFF2-40B4-BE49-F238E27FC236}">
                <a16:creationId xmlns:a16="http://schemas.microsoft.com/office/drawing/2014/main" id="{13ED8BD4-7D57-45CC-A0C3-36AA05D8424F}"/>
              </a:ext>
            </a:extLst>
          </p:cNvPr>
          <p:cNvSpPr>
            <a:spLocks xmlns:a="http://schemas.openxmlformats.org/drawingml/2006/main" noGrp="1"/>
          </p:cNvSpPr>
          <p:nvPr/>
        </p:nvSpPr>
        <p:spPr>
          <a:xfrm xmlns:a="http://schemas.openxmlformats.org/drawingml/2006/main">
            <a:off x="7905750" y="35623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975F0392-894F-4798-B677-8AD59C003CF1}"/>
              </a:ext>
            </a:extLst>
          </p:cNvPr>
          <p:cNvSpPr>
            <a:spLocks xmlns:a="http://schemas.openxmlformats.org/drawingml/2006/main" noGrp="1"/>
          </p:cNvSpPr>
          <p:nvPr/>
        </p:nvSpPr>
        <p:spPr>
          <a:xfrm xmlns:a="http://schemas.openxmlformats.org/drawingml/2006/main">
            <a:off x="8001000" y="36385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Configuration knowledge is a strategic asset</a:t>
            </a:r>
          </a:p>
        </p:txBody>
      </p:sp>
      <p:sp>
        <p:nvSpPr>
          <p:cNvPr id="22" name="">
            <a:extLst xmlns:a="http://schemas.openxmlformats.org/drawingml/2006/main">
              <a:ext uri="{FF2B5EF4-FFF2-40B4-BE49-F238E27FC236}">
                <a16:creationId xmlns:a16="http://schemas.microsoft.com/office/drawing/2014/main" id="{5FDDCD75-EA92-42E8-A146-567067846C91}"/>
              </a:ext>
            </a:extLst>
          </p:cNvPr>
          <p:cNvSpPr>
            <a:spLocks xmlns:a="http://schemas.openxmlformats.org/drawingml/2006/main" noGrp="1"/>
          </p:cNvSpPr>
          <p:nvPr/>
        </p:nvSpPr>
        <p:spPr>
          <a:xfrm xmlns:a="http://schemas.openxmlformats.org/drawingml/2006/main">
            <a:off x="4476750" y="40767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3" name="">
            <a:extLst xmlns:a="http://schemas.openxmlformats.org/drawingml/2006/main">
              <a:ext uri="{FF2B5EF4-FFF2-40B4-BE49-F238E27FC236}">
                <a16:creationId xmlns:a16="http://schemas.microsoft.com/office/drawing/2014/main" id="{52B43409-E721-4892-8F15-4015BF15FD4D}"/>
              </a:ext>
            </a:extLst>
          </p:cNvPr>
          <p:cNvSpPr>
            <a:spLocks xmlns:a="http://schemas.openxmlformats.org/drawingml/2006/main" noGrp="1"/>
          </p:cNvSpPr>
          <p:nvPr/>
        </p:nvSpPr>
        <p:spPr>
          <a:xfrm xmlns:a="http://schemas.openxmlformats.org/drawingml/2006/main">
            <a:off x="4572000" y="4152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Quality: ISO, marine modules, flame classifications</a:t>
            </a:r>
          </a:p>
        </p:txBody>
      </p:sp>
      <p:sp>
        <p:nvSpPr>
          <p:cNvPr id="24" name="">
            <a:extLst xmlns:a="http://schemas.openxmlformats.org/drawingml/2006/main">
              <a:ext uri="{FF2B5EF4-FFF2-40B4-BE49-F238E27FC236}">
                <a16:creationId xmlns:a16="http://schemas.microsoft.com/office/drawing/2014/main" id="{D3D471E9-8C50-4865-B617-BD66687BC031}"/>
              </a:ext>
            </a:extLst>
          </p:cNvPr>
          <p:cNvSpPr>
            <a:spLocks xmlns:a="http://schemas.openxmlformats.org/drawingml/2006/main" noGrp="1"/>
          </p:cNvSpPr>
          <p:nvPr/>
        </p:nvSpPr>
        <p:spPr>
          <a:xfrm xmlns:a="http://schemas.openxmlformats.org/drawingml/2006/main">
            <a:off x="7905750" y="40767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5" name="">
            <a:extLst xmlns:a="http://schemas.openxmlformats.org/drawingml/2006/main">
              <a:ext uri="{FF2B5EF4-FFF2-40B4-BE49-F238E27FC236}">
                <a16:creationId xmlns:a16="http://schemas.microsoft.com/office/drawing/2014/main" id="{4253CA11-B74E-43AB-B036-942D60A4874F}"/>
              </a:ext>
            </a:extLst>
          </p:cNvPr>
          <p:cNvSpPr>
            <a:spLocks xmlns:a="http://schemas.openxmlformats.org/drawingml/2006/main" noGrp="1"/>
          </p:cNvSpPr>
          <p:nvPr/>
        </p:nvSpPr>
        <p:spPr>
          <a:xfrm xmlns:a="http://schemas.openxmlformats.org/drawingml/2006/main">
            <a:off x="8001000" y="4152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AI must be source-cited and compliance-safe</a:t>
            </a:r>
          </a:p>
        </p:txBody>
      </p:sp>
      <p:sp>
        <p:nvSpPr>
          <p:cNvPr id="26" name="">
            <a:extLst xmlns:a="http://schemas.openxmlformats.org/drawingml/2006/main">
              <a:ext uri="{FF2B5EF4-FFF2-40B4-BE49-F238E27FC236}">
                <a16:creationId xmlns:a16="http://schemas.microsoft.com/office/drawing/2014/main" id="{302D0F56-97A0-4A81-A757-2C65D0619F61}"/>
              </a:ext>
            </a:extLst>
          </p:cNvPr>
          <p:cNvSpPr>
            <a:spLocks xmlns:a="http://schemas.openxmlformats.org/drawingml/2006/main" noGrp="1"/>
          </p:cNvSpPr>
          <p:nvPr/>
        </p:nvSpPr>
        <p:spPr>
          <a:xfrm xmlns:a="http://schemas.openxmlformats.org/drawingml/2006/main">
            <a:off x="4476750" y="45910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7" name="">
            <a:extLst xmlns:a="http://schemas.openxmlformats.org/drawingml/2006/main">
              <a:ext uri="{FF2B5EF4-FFF2-40B4-BE49-F238E27FC236}">
                <a16:creationId xmlns:a16="http://schemas.microsoft.com/office/drawing/2014/main" id="{7F15684C-3AE0-44DB-9814-02540BC2E92E}"/>
              </a:ext>
            </a:extLst>
          </p:cNvPr>
          <p:cNvSpPr>
            <a:spLocks xmlns:a="http://schemas.openxmlformats.org/drawingml/2006/main" noGrp="1"/>
          </p:cNvSpPr>
          <p:nvPr/>
        </p:nvSpPr>
        <p:spPr>
          <a:xfrm xmlns:a="http://schemas.openxmlformats.org/drawingml/2006/main">
            <a:off x="4572000" y="4667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Klevers: public R&amp;D projects with RWTH Aachen ITA</a:t>
            </a:r>
          </a:p>
        </p:txBody>
      </p:sp>
      <p:sp>
        <p:nvSpPr>
          <p:cNvPr id="28" name="">
            <a:extLst xmlns:a="http://schemas.openxmlformats.org/drawingml/2006/main">
              <a:ext uri="{FF2B5EF4-FFF2-40B4-BE49-F238E27FC236}">
                <a16:creationId xmlns:a16="http://schemas.microsoft.com/office/drawing/2014/main" id="{FF5B16B9-6073-4E0D-8C98-C1BFE58182C4}"/>
              </a:ext>
            </a:extLst>
          </p:cNvPr>
          <p:cNvSpPr>
            <a:spLocks xmlns:a="http://schemas.openxmlformats.org/drawingml/2006/main" noGrp="1"/>
          </p:cNvSpPr>
          <p:nvPr/>
        </p:nvSpPr>
        <p:spPr>
          <a:xfrm xmlns:a="http://schemas.openxmlformats.org/drawingml/2006/main">
            <a:off x="7905750" y="45910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9" name="">
            <a:extLst xmlns:a="http://schemas.openxmlformats.org/drawingml/2006/main">
              <a:ext uri="{FF2B5EF4-FFF2-40B4-BE49-F238E27FC236}">
                <a16:creationId xmlns:a16="http://schemas.microsoft.com/office/drawing/2014/main" id="{22175C59-4142-4932-A814-80DB714C4C0D}"/>
              </a:ext>
            </a:extLst>
          </p:cNvPr>
          <p:cNvSpPr>
            <a:spLocks xmlns:a="http://schemas.openxmlformats.org/drawingml/2006/main" noGrp="1"/>
          </p:cNvSpPr>
          <p:nvPr/>
        </p:nvSpPr>
        <p:spPr>
          <a:xfrm xmlns:a="http://schemas.openxmlformats.org/drawingml/2006/main">
            <a:off x="8001000" y="4667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11111"/>
                </a:solidFill>
              </a:defRPr>
            </a:pPr>
            <a:r>
              <a:rPr sz="975" b="0">
                <a:solidFill>
                  <a:srgbClr val="111111"/>
                </a:solidFill>
              </a:rPr>
              <a:t>Funding and research partnerships are realistic</a:t>
            </a:r>
          </a:p>
        </p:txBody>
      </p:sp>
      <p:sp>
        <p:nvSpPr>
          <p:cNvPr id="30" name="">
            <a:extLst xmlns:a="http://schemas.openxmlformats.org/drawingml/2006/main">
              <a:ext uri="{FF2B5EF4-FFF2-40B4-BE49-F238E27FC236}">
                <a16:creationId xmlns:a16="http://schemas.microsoft.com/office/drawing/2014/main" id="{968E89C3-5FAA-4267-BA14-68B18EB12471}"/>
              </a:ext>
            </a:extLst>
          </p:cNvPr>
          <p:cNvSpPr>
            <a:spLocks xmlns:a="http://schemas.openxmlformats.org/drawingml/2006/main" noGrp="1"/>
          </p:cNvSpPr>
          <p:nvPr/>
        </p:nvSpPr>
        <p:spPr>
          <a:xfrm xmlns:a="http://schemas.openxmlformats.org/drawingml/2006/main">
            <a:off x="4476750" y="2019300"/>
            <a:ext cx="6858000" cy="3086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1" name="">
            <a:extLst xmlns:a="http://schemas.openxmlformats.org/drawingml/2006/main">
              <a:ext uri="{FF2B5EF4-FFF2-40B4-BE49-F238E27FC236}">
                <a16:creationId xmlns:a16="http://schemas.microsoft.com/office/drawing/2014/main" id="{34A22AA4-42E1-4830-BE58-1ACFD0B42D9C}"/>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2" name="">
            <a:extLst xmlns:a="http://schemas.openxmlformats.org/drawingml/2006/main">
              <a:ext uri="{FF2B5EF4-FFF2-40B4-BE49-F238E27FC236}">
                <a16:creationId xmlns:a16="http://schemas.microsoft.com/office/drawing/2014/main" id="{3848D673-AF93-4990-94B7-AD93F87C7F59}"/>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Sources: Darmstaedter Entwicklung/Qualitaet; Klevers Lieferprogramm/Projekte/Qualitaet</a:t>
            </a:r>
          </a:p>
        </p:txBody>
      </p:sp>
      <p:sp>
        <p:nvSpPr>
          <p:cNvPr id="33" name="">
            <a:extLst xmlns:a="http://schemas.openxmlformats.org/drawingml/2006/main">
              <a:ext uri="{FF2B5EF4-FFF2-40B4-BE49-F238E27FC236}">
                <a16:creationId xmlns:a16="http://schemas.microsoft.com/office/drawing/2014/main" id="{FFC26B02-2836-44D1-889D-B94B29745117}"/>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04</a:t>
            </a:r>
          </a:p>
        </p:txBody>
      </p:sp>
    </p:spTree>
    <p:extLst>
      <p:ext uri="{BB962C8B-B14F-4D97-AF65-F5344CB8AC3E}">
        <p14:creationId xmlns:p14="http://schemas.microsoft.com/office/powerpoint/2010/main" val="103108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7F5ABB-72CF-4584-BE67-AAF374423CF9}"/>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VALUE POOLS</a:t>
            </a:r>
          </a:p>
        </p:txBody>
      </p:sp>
      <p:sp>
        <p:nvSpPr>
          <p:cNvPr id="2" name="">
            <a:extLst xmlns:a="http://schemas.openxmlformats.org/drawingml/2006/main">
              <a:ext uri="{FF2B5EF4-FFF2-40B4-BE49-F238E27FC236}">
                <a16:creationId xmlns:a16="http://schemas.microsoft.com/office/drawing/2014/main" id="{109A7EDB-A8FD-463A-9D4C-1C9847716F82}"/>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largest near-term value pools sit in quality, R&amp;D, and production</a:t>
            </a:r>
          </a:p>
        </p:txBody>
      </p:sp>
      <p:sp>
        <p:nvSpPr>
          <p:cNvPr id="3" name="">
            <a:extLst xmlns:a="http://schemas.openxmlformats.org/drawingml/2006/main">
              <a:ext uri="{FF2B5EF4-FFF2-40B4-BE49-F238E27FC236}">
                <a16:creationId xmlns:a16="http://schemas.microsoft.com/office/drawing/2014/main" id="{8E8564C4-9E71-4F2F-BCCB-C0BBF7AF4D3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These areas share the same missing foundation: connected roll, recipe, process, and test data.</a:t>
            </a:r>
          </a:p>
        </p:txBody>
      </p:sp>
      <p:sp>
        <p:nvSpPr>
          <p:cNvPr id="4" name="">
            <a:extLst xmlns:a="http://schemas.openxmlformats.org/drawingml/2006/main">
              <a:ext uri="{FF2B5EF4-FFF2-40B4-BE49-F238E27FC236}">
                <a16:creationId xmlns:a16="http://schemas.microsoft.com/office/drawing/2014/main" id="{41797B06-F771-4EB5-8AB6-C60E496C9BF5}"/>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4891B2DA-B025-4ABA-AB2B-9784110EBEBA}"/>
              </a:ext>
            </a:extLst>
          </p:cNvPr>
          <p:cNvSpPr>
            <a:spLocks xmlns:a="http://schemas.openxmlformats.org/drawingml/2006/main" noGrp="1"/>
          </p:cNvSpPr>
          <p:nvPr/>
        </p:nvSpPr>
        <p:spPr>
          <a:xfrm xmlns:a="http://schemas.openxmlformats.org/drawingml/2006/main">
            <a:off x="1333500" y="21431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Quality</a:t>
            </a:r>
          </a:p>
        </p:txBody>
      </p:sp>
      <p:sp>
        <p:nvSpPr>
          <p:cNvPr id="6" name="">
            <a:extLst xmlns:a="http://schemas.openxmlformats.org/drawingml/2006/main">
              <a:ext uri="{FF2B5EF4-FFF2-40B4-BE49-F238E27FC236}">
                <a16:creationId xmlns:a16="http://schemas.microsoft.com/office/drawing/2014/main" id="{E735980C-8FF5-4C61-91E1-71D405E1A486}"/>
              </a:ext>
            </a:extLst>
          </p:cNvPr>
          <p:cNvSpPr>
            <a:spLocks xmlns:a="http://schemas.openxmlformats.org/drawingml/2006/main" noGrp="1"/>
          </p:cNvSpPr>
          <p:nvPr/>
        </p:nvSpPr>
        <p:spPr>
          <a:xfrm xmlns:a="http://schemas.openxmlformats.org/drawingml/2006/main">
            <a:off x="4000500" y="22002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C000B8A-D477-41F9-B08E-B98ECC381F45}"/>
              </a:ext>
            </a:extLst>
          </p:cNvPr>
          <p:cNvSpPr>
            <a:spLocks xmlns:a="http://schemas.openxmlformats.org/drawingml/2006/main" noGrp="1"/>
          </p:cNvSpPr>
          <p:nvPr/>
        </p:nvSpPr>
        <p:spPr>
          <a:xfrm xmlns:a="http://schemas.openxmlformats.org/drawingml/2006/main">
            <a:off x="4000500" y="2200275"/>
            <a:ext cx="49530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1FAB0D-A590-47EC-B8BB-1788BAA720EE}"/>
              </a:ext>
            </a:extLst>
          </p:cNvPr>
          <p:cNvSpPr>
            <a:spLocks xmlns:a="http://schemas.openxmlformats.org/drawingml/2006/main" noGrp="1"/>
          </p:cNvSpPr>
          <p:nvPr/>
        </p:nvSpPr>
        <p:spPr>
          <a:xfrm xmlns:a="http://schemas.openxmlformats.org/drawingml/2006/main">
            <a:off x="9067800" y="21431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5.0</a:t>
            </a:r>
          </a:p>
        </p:txBody>
      </p:sp>
      <p:sp>
        <p:nvSpPr>
          <p:cNvPr id="9" name="">
            <a:extLst xmlns:a="http://schemas.openxmlformats.org/drawingml/2006/main">
              <a:ext uri="{FF2B5EF4-FFF2-40B4-BE49-F238E27FC236}">
                <a16:creationId xmlns:a16="http://schemas.microsoft.com/office/drawing/2014/main" id="{CDD6C1E6-8E89-48C9-803B-AA03B3AE60CF}"/>
              </a:ext>
            </a:extLst>
          </p:cNvPr>
          <p:cNvSpPr>
            <a:spLocks xmlns:a="http://schemas.openxmlformats.org/drawingml/2006/main" noGrp="1"/>
          </p:cNvSpPr>
          <p:nvPr/>
        </p:nvSpPr>
        <p:spPr>
          <a:xfrm xmlns:a="http://schemas.openxmlformats.org/drawingml/2006/main">
            <a:off x="1333500" y="26955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R&amp;D</a:t>
            </a:r>
          </a:p>
        </p:txBody>
      </p:sp>
      <p:sp>
        <p:nvSpPr>
          <p:cNvPr id="10" name="">
            <a:extLst xmlns:a="http://schemas.openxmlformats.org/drawingml/2006/main">
              <a:ext uri="{FF2B5EF4-FFF2-40B4-BE49-F238E27FC236}">
                <a16:creationId xmlns:a16="http://schemas.microsoft.com/office/drawing/2014/main" id="{43DDA420-CEAD-445C-8369-BD10B1F63E4C}"/>
              </a:ext>
            </a:extLst>
          </p:cNvPr>
          <p:cNvSpPr>
            <a:spLocks xmlns:a="http://schemas.openxmlformats.org/drawingml/2006/main" noGrp="1"/>
          </p:cNvSpPr>
          <p:nvPr/>
        </p:nvSpPr>
        <p:spPr>
          <a:xfrm xmlns:a="http://schemas.openxmlformats.org/drawingml/2006/main">
            <a:off x="4000500" y="27527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CA508C-CEED-4C9F-A8CB-84E6433F285A}"/>
              </a:ext>
            </a:extLst>
          </p:cNvPr>
          <p:cNvSpPr>
            <a:spLocks xmlns:a="http://schemas.openxmlformats.org/drawingml/2006/main" noGrp="1"/>
          </p:cNvSpPr>
          <p:nvPr/>
        </p:nvSpPr>
        <p:spPr>
          <a:xfrm xmlns:a="http://schemas.openxmlformats.org/drawingml/2006/main">
            <a:off x="4000500" y="2752725"/>
            <a:ext cx="49530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5D944FF-6437-4F6C-9A6B-DAEEA9368FC1}"/>
              </a:ext>
            </a:extLst>
          </p:cNvPr>
          <p:cNvSpPr>
            <a:spLocks xmlns:a="http://schemas.openxmlformats.org/drawingml/2006/main" noGrp="1"/>
          </p:cNvSpPr>
          <p:nvPr/>
        </p:nvSpPr>
        <p:spPr>
          <a:xfrm xmlns:a="http://schemas.openxmlformats.org/drawingml/2006/main">
            <a:off x="9067800" y="26955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5.0</a:t>
            </a:r>
          </a:p>
        </p:txBody>
      </p:sp>
      <p:sp>
        <p:nvSpPr>
          <p:cNvPr id="13" name="">
            <a:extLst xmlns:a="http://schemas.openxmlformats.org/drawingml/2006/main">
              <a:ext uri="{FF2B5EF4-FFF2-40B4-BE49-F238E27FC236}">
                <a16:creationId xmlns:a16="http://schemas.microsoft.com/office/drawing/2014/main" id="{BB5BD31B-2C25-45E6-A662-CDDF2FEC0457}"/>
              </a:ext>
            </a:extLst>
          </p:cNvPr>
          <p:cNvSpPr>
            <a:spLocks xmlns:a="http://schemas.openxmlformats.org/drawingml/2006/main" noGrp="1"/>
          </p:cNvSpPr>
          <p:nvPr/>
        </p:nvSpPr>
        <p:spPr>
          <a:xfrm xmlns:a="http://schemas.openxmlformats.org/drawingml/2006/main">
            <a:off x="1333500" y="32480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Production</a:t>
            </a:r>
          </a:p>
        </p:txBody>
      </p:sp>
      <p:sp>
        <p:nvSpPr>
          <p:cNvPr id="14" name="">
            <a:extLst xmlns:a="http://schemas.openxmlformats.org/drawingml/2006/main">
              <a:ext uri="{FF2B5EF4-FFF2-40B4-BE49-F238E27FC236}">
                <a16:creationId xmlns:a16="http://schemas.microsoft.com/office/drawing/2014/main" id="{C862F5FC-B89F-45E0-A71A-753CFFC6FAAC}"/>
              </a:ext>
            </a:extLst>
          </p:cNvPr>
          <p:cNvSpPr>
            <a:spLocks xmlns:a="http://schemas.openxmlformats.org/drawingml/2006/main" noGrp="1"/>
          </p:cNvSpPr>
          <p:nvPr/>
        </p:nvSpPr>
        <p:spPr>
          <a:xfrm xmlns:a="http://schemas.openxmlformats.org/drawingml/2006/main">
            <a:off x="4000500" y="33051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A1C426A-AEEC-4BA7-A4B0-1C8BFEE1459D}"/>
              </a:ext>
            </a:extLst>
          </p:cNvPr>
          <p:cNvSpPr>
            <a:spLocks xmlns:a="http://schemas.openxmlformats.org/drawingml/2006/main" noGrp="1"/>
          </p:cNvSpPr>
          <p:nvPr/>
        </p:nvSpPr>
        <p:spPr>
          <a:xfrm xmlns:a="http://schemas.openxmlformats.org/drawingml/2006/main">
            <a:off x="4000500" y="3305175"/>
            <a:ext cx="44577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33BD56-C112-4B79-8802-92EDCF40E614}"/>
              </a:ext>
            </a:extLst>
          </p:cNvPr>
          <p:cNvSpPr>
            <a:spLocks xmlns:a="http://schemas.openxmlformats.org/drawingml/2006/main" noGrp="1"/>
          </p:cNvSpPr>
          <p:nvPr/>
        </p:nvSpPr>
        <p:spPr>
          <a:xfrm xmlns:a="http://schemas.openxmlformats.org/drawingml/2006/main">
            <a:off x="9067800" y="32480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4.5</a:t>
            </a:r>
          </a:p>
        </p:txBody>
      </p:sp>
      <p:sp>
        <p:nvSpPr>
          <p:cNvPr id="17" name="">
            <a:extLst xmlns:a="http://schemas.openxmlformats.org/drawingml/2006/main">
              <a:ext uri="{FF2B5EF4-FFF2-40B4-BE49-F238E27FC236}">
                <a16:creationId xmlns:a16="http://schemas.microsoft.com/office/drawing/2014/main" id="{B89DF69D-C916-4BAC-B0EC-5EA7E113CCEF}"/>
              </a:ext>
            </a:extLst>
          </p:cNvPr>
          <p:cNvSpPr>
            <a:spLocks xmlns:a="http://schemas.openxmlformats.org/drawingml/2006/main" noGrp="1"/>
          </p:cNvSpPr>
          <p:nvPr/>
        </p:nvSpPr>
        <p:spPr>
          <a:xfrm xmlns:a="http://schemas.openxmlformats.org/drawingml/2006/main">
            <a:off x="1333500" y="38004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Sales</a:t>
            </a:r>
          </a:p>
        </p:txBody>
      </p:sp>
      <p:sp>
        <p:nvSpPr>
          <p:cNvPr id="18" name="">
            <a:extLst xmlns:a="http://schemas.openxmlformats.org/drawingml/2006/main">
              <a:ext uri="{FF2B5EF4-FFF2-40B4-BE49-F238E27FC236}">
                <a16:creationId xmlns:a16="http://schemas.microsoft.com/office/drawing/2014/main" id="{7866C82A-9832-46BA-BC26-04FB41A2F82E}"/>
              </a:ext>
            </a:extLst>
          </p:cNvPr>
          <p:cNvSpPr>
            <a:spLocks xmlns:a="http://schemas.openxmlformats.org/drawingml/2006/main" noGrp="1"/>
          </p:cNvSpPr>
          <p:nvPr/>
        </p:nvSpPr>
        <p:spPr>
          <a:xfrm xmlns:a="http://schemas.openxmlformats.org/drawingml/2006/main">
            <a:off x="4000500" y="38576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360B165-A43F-4D6C-A24E-2D08E530A571}"/>
              </a:ext>
            </a:extLst>
          </p:cNvPr>
          <p:cNvSpPr>
            <a:spLocks xmlns:a="http://schemas.openxmlformats.org/drawingml/2006/main" noGrp="1"/>
          </p:cNvSpPr>
          <p:nvPr/>
        </p:nvSpPr>
        <p:spPr>
          <a:xfrm xmlns:a="http://schemas.openxmlformats.org/drawingml/2006/main">
            <a:off x="4000500" y="3857625"/>
            <a:ext cx="366522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1CD51C9-BD49-4AF7-9821-4EF09A94890F}"/>
              </a:ext>
            </a:extLst>
          </p:cNvPr>
          <p:cNvSpPr>
            <a:spLocks xmlns:a="http://schemas.openxmlformats.org/drawingml/2006/main" noGrp="1"/>
          </p:cNvSpPr>
          <p:nvPr/>
        </p:nvSpPr>
        <p:spPr>
          <a:xfrm xmlns:a="http://schemas.openxmlformats.org/drawingml/2006/main">
            <a:off x="9067800" y="38004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3.7</a:t>
            </a:r>
          </a:p>
        </p:txBody>
      </p:sp>
      <p:sp>
        <p:nvSpPr>
          <p:cNvPr id="21" name="">
            <a:extLst xmlns:a="http://schemas.openxmlformats.org/drawingml/2006/main">
              <a:ext uri="{FF2B5EF4-FFF2-40B4-BE49-F238E27FC236}">
                <a16:creationId xmlns:a16="http://schemas.microsoft.com/office/drawing/2014/main" id="{CD2F91A1-A9D8-47ED-801B-B31515CB62D7}"/>
              </a:ext>
            </a:extLst>
          </p:cNvPr>
          <p:cNvSpPr>
            <a:spLocks xmlns:a="http://schemas.openxmlformats.org/drawingml/2006/main" noGrp="1"/>
          </p:cNvSpPr>
          <p:nvPr/>
        </p:nvSpPr>
        <p:spPr>
          <a:xfrm xmlns:a="http://schemas.openxmlformats.org/drawingml/2006/main">
            <a:off x="1333500" y="43529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Supply</a:t>
            </a:r>
          </a:p>
        </p:txBody>
      </p:sp>
      <p:sp>
        <p:nvSpPr>
          <p:cNvPr id="22" name="">
            <a:extLst xmlns:a="http://schemas.openxmlformats.org/drawingml/2006/main">
              <a:ext uri="{FF2B5EF4-FFF2-40B4-BE49-F238E27FC236}">
                <a16:creationId xmlns:a16="http://schemas.microsoft.com/office/drawing/2014/main" id="{32C4C736-72C3-4EAE-BB98-B19108F3DFE7}"/>
              </a:ext>
            </a:extLst>
          </p:cNvPr>
          <p:cNvSpPr>
            <a:spLocks xmlns:a="http://schemas.openxmlformats.org/drawingml/2006/main" noGrp="1"/>
          </p:cNvSpPr>
          <p:nvPr/>
        </p:nvSpPr>
        <p:spPr>
          <a:xfrm xmlns:a="http://schemas.openxmlformats.org/drawingml/2006/main">
            <a:off x="4000500" y="44100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FCCC33D-DD37-494E-A9B9-1840C2FEDA84}"/>
              </a:ext>
            </a:extLst>
          </p:cNvPr>
          <p:cNvSpPr>
            <a:spLocks xmlns:a="http://schemas.openxmlformats.org/drawingml/2006/main" noGrp="1"/>
          </p:cNvSpPr>
          <p:nvPr/>
        </p:nvSpPr>
        <p:spPr>
          <a:xfrm xmlns:a="http://schemas.openxmlformats.org/drawingml/2006/main">
            <a:off x="4000500" y="4410075"/>
            <a:ext cx="34671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870F188-29D4-4ED3-A4F1-743AA0EF405D}"/>
              </a:ext>
            </a:extLst>
          </p:cNvPr>
          <p:cNvSpPr>
            <a:spLocks xmlns:a="http://schemas.openxmlformats.org/drawingml/2006/main" noGrp="1"/>
          </p:cNvSpPr>
          <p:nvPr/>
        </p:nvSpPr>
        <p:spPr>
          <a:xfrm xmlns:a="http://schemas.openxmlformats.org/drawingml/2006/main">
            <a:off x="9067800" y="43529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3.5</a:t>
            </a:r>
          </a:p>
        </p:txBody>
      </p:sp>
      <p:sp>
        <p:nvSpPr>
          <p:cNvPr id="25" name="">
            <a:extLst xmlns:a="http://schemas.openxmlformats.org/drawingml/2006/main">
              <a:ext uri="{FF2B5EF4-FFF2-40B4-BE49-F238E27FC236}">
                <a16:creationId xmlns:a16="http://schemas.microsoft.com/office/drawing/2014/main" id="{77B73F7C-A1C7-4A01-A39F-31FDFFC65230}"/>
              </a:ext>
            </a:extLst>
          </p:cNvPr>
          <p:cNvSpPr>
            <a:spLocks xmlns:a="http://schemas.openxmlformats.org/drawingml/2006/main" noGrp="1"/>
          </p:cNvSpPr>
          <p:nvPr/>
        </p:nvSpPr>
        <p:spPr>
          <a:xfrm xmlns:a="http://schemas.openxmlformats.org/drawingml/2006/main">
            <a:off x="1333500" y="4905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111"/>
                </a:solidFill>
              </a:defRPr>
            </a:pPr>
            <a:r>
              <a:rPr sz="1125" b="1">
                <a:solidFill>
                  <a:srgbClr val="111111"/>
                </a:solidFill>
              </a:rPr>
              <a:t>Admin</a:t>
            </a:r>
          </a:p>
        </p:txBody>
      </p:sp>
      <p:sp>
        <p:nvSpPr>
          <p:cNvPr id="26" name="">
            <a:extLst xmlns:a="http://schemas.openxmlformats.org/drawingml/2006/main">
              <a:ext uri="{FF2B5EF4-FFF2-40B4-BE49-F238E27FC236}">
                <a16:creationId xmlns:a16="http://schemas.microsoft.com/office/drawing/2014/main" id="{B2CE44D6-1C0D-470C-86F3-FF5BC424F9AD}"/>
              </a:ext>
            </a:extLst>
          </p:cNvPr>
          <p:cNvSpPr>
            <a:spLocks xmlns:a="http://schemas.openxmlformats.org/drawingml/2006/main" noGrp="1"/>
          </p:cNvSpPr>
          <p:nvPr/>
        </p:nvSpPr>
        <p:spPr>
          <a:xfrm xmlns:a="http://schemas.openxmlformats.org/drawingml/2006/main">
            <a:off x="4000500" y="49625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6D4A89-3F59-4BD6-94BF-2E951AA80EB8}"/>
              </a:ext>
            </a:extLst>
          </p:cNvPr>
          <p:cNvSpPr>
            <a:spLocks xmlns:a="http://schemas.openxmlformats.org/drawingml/2006/main" noGrp="1"/>
          </p:cNvSpPr>
          <p:nvPr/>
        </p:nvSpPr>
        <p:spPr>
          <a:xfrm xmlns:a="http://schemas.openxmlformats.org/drawingml/2006/main">
            <a:off x="4000500" y="4962525"/>
            <a:ext cx="24765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E352DC-F582-42B7-8491-2D2407FD5F30}"/>
              </a:ext>
            </a:extLst>
          </p:cNvPr>
          <p:cNvSpPr>
            <a:spLocks xmlns:a="http://schemas.openxmlformats.org/drawingml/2006/main" noGrp="1"/>
          </p:cNvSpPr>
          <p:nvPr/>
        </p:nvSpPr>
        <p:spPr>
          <a:xfrm xmlns:a="http://schemas.openxmlformats.org/drawingml/2006/main">
            <a:off x="9067800" y="49053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2.5</a:t>
            </a:r>
          </a:p>
        </p:txBody>
      </p:sp>
      <p:sp>
        <p:nvSpPr>
          <p:cNvPr id="29" name="">
            <a:extLst xmlns:a="http://schemas.openxmlformats.org/drawingml/2006/main">
              <a:ext uri="{FF2B5EF4-FFF2-40B4-BE49-F238E27FC236}">
                <a16:creationId xmlns:a16="http://schemas.microsoft.com/office/drawing/2014/main" id="{346B564D-7E6E-4B32-A86F-B308F41BEE42}"/>
              </a:ext>
            </a:extLst>
          </p:cNvPr>
          <p:cNvSpPr>
            <a:spLocks xmlns:a="http://schemas.openxmlformats.org/drawingml/2006/main" noGrp="1"/>
          </p:cNvSpPr>
          <p:nvPr/>
        </p:nvSpPr>
        <p:spPr>
          <a:xfrm xmlns:a="http://schemas.openxmlformats.org/drawingml/2006/main">
            <a:off x="7810500" y="2190750"/>
            <a:ext cx="2952750" cy="26670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30" name="">
            <a:extLst xmlns:a="http://schemas.openxmlformats.org/drawingml/2006/main">
              <a:ext uri="{FF2B5EF4-FFF2-40B4-BE49-F238E27FC236}">
                <a16:creationId xmlns:a16="http://schemas.microsoft.com/office/drawing/2014/main" id="{7F561DC1-A393-482B-A41C-6C3B91001A8A}"/>
              </a:ext>
            </a:extLst>
          </p:cNvPr>
          <p:cNvSpPr>
            <a:spLocks xmlns:a="http://schemas.openxmlformats.org/drawingml/2006/main" noGrp="1"/>
          </p:cNvSpPr>
          <p:nvPr/>
        </p:nvSpPr>
        <p:spPr>
          <a:xfrm xmlns:a="http://schemas.openxmlformats.org/drawingml/2006/main">
            <a:off x="8096250" y="2476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defRPr>
            </a:pPr>
            <a:r>
              <a:rPr sz="1800" b="1">
                <a:solidFill>
                  <a:srgbClr val="111111"/>
                </a:solidFill>
              </a:rPr>
              <a:t>Why quality first?</a:t>
            </a:r>
          </a:p>
        </p:txBody>
      </p:sp>
      <p:sp>
        <p:nvSpPr>
          <p:cNvPr id="31" name="">
            <a:extLst xmlns:a="http://schemas.openxmlformats.org/drawingml/2006/main">
              <a:ext uri="{FF2B5EF4-FFF2-40B4-BE49-F238E27FC236}">
                <a16:creationId xmlns:a16="http://schemas.microsoft.com/office/drawing/2014/main" id="{F52CE278-BCF5-42BF-A5A3-ECA07955445D}"/>
              </a:ext>
            </a:extLst>
          </p:cNvPr>
          <p:cNvSpPr>
            <a:spLocks xmlns:a="http://schemas.openxmlformats.org/drawingml/2006/main" noGrp="1"/>
          </p:cNvSpPr>
          <p:nvPr/>
        </p:nvSpPr>
        <p:spPr>
          <a:xfrm xmlns:a="http://schemas.openxmlformats.org/drawingml/2006/main">
            <a:off x="8096250" y="2990850"/>
            <a:ext cx="2190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 Visible to management</a:t>
            </a:r>
          </a:p>
          <a:p xmlns:a="http://schemas.openxmlformats.org/drawingml/2006/main">
            <a:pPr algn="l">
              <a:defRPr sz="1350" b="0">
                <a:solidFill>
                  <a:srgbClr val="111111"/>
                </a:solidFill>
              </a:defRPr>
            </a:pPr>
            <a:r>
              <a:rPr sz="1350" b="0">
                <a:solidFill>
                  <a:srgbClr val="111111"/>
                </a:solidFill>
              </a:rPr>
              <a:t>- Uses existing evidence</a:t>
            </a:r>
          </a:p>
          <a:p xmlns:a="http://schemas.openxmlformats.org/drawingml/2006/main">
            <a:pPr algn="l">
              <a:defRPr sz="1350" b="0">
                <a:solidFill>
                  <a:srgbClr val="111111"/>
                </a:solidFill>
              </a:defRPr>
            </a:pPr>
            <a:r>
              <a:rPr sz="1350" b="0">
                <a:solidFill>
                  <a:srgbClr val="111111"/>
                </a:solidFill>
              </a:rPr>
              <a:t>- Connects production and R&amp;D</a:t>
            </a:r>
          </a:p>
          <a:p xmlns:a="http://schemas.openxmlformats.org/drawingml/2006/main">
            <a:pPr algn="l">
              <a:defRPr sz="1350" b="0">
                <a:solidFill>
                  <a:srgbClr val="111111"/>
                </a:solidFill>
              </a:defRPr>
            </a:pPr>
            <a:r>
              <a:rPr sz="1350" b="0">
                <a:solidFill>
                  <a:srgbClr val="111111"/>
                </a:solidFill>
              </a:rPr>
              <a:t>- Measurable within weeks</a:t>
            </a:r>
          </a:p>
          <a:p xmlns:a="http://schemas.openxmlformats.org/drawingml/2006/main">
            <a:pPr algn="l">
              <a:defRPr sz="1350" b="0">
                <a:solidFill>
                  <a:srgbClr val="111111"/>
                </a:solidFill>
              </a:defRPr>
            </a:pPr>
            <a:r>
              <a:rPr sz="1350" b="0">
                <a:solidFill>
                  <a:srgbClr val="111111"/>
                </a:solidFill>
              </a:rPr>
              <a:t>- Low operational risk</a:t>
            </a:r>
          </a:p>
        </p:txBody>
      </p:sp>
      <p:sp>
        <p:nvSpPr>
          <p:cNvPr id="32" name="">
            <a:extLst xmlns:a="http://schemas.openxmlformats.org/drawingml/2006/main">
              <a:ext uri="{FF2B5EF4-FFF2-40B4-BE49-F238E27FC236}">
                <a16:creationId xmlns:a16="http://schemas.microsoft.com/office/drawing/2014/main" id="{3CB86ED2-956D-438A-A84F-3F9FDF06ECF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3" name="">
            <a:extLst xmlns:a="http://schemas.openxmlformats.org/drawingml/2006/main">
              <a:ext uri="{FF2B5EF4-FFF2-40B4-BE49-F238E27FC236}">
                <a16:creationId xmlns:a16="http://schemas.microsoft.com/office/drawing/2014/main" id="{FBD9C21B-3648-4465-9957-A2D50CAF0BD0}"/>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05</a:t>
            </a:r>
          </a:p>
        </p:txBody>
      </p:sp>
    </p:spTree>
    <p:extLst>
      <p:ext uri="{BB962C8B-B14F-4D97-AF65-F5344CB8AC3E}">
        <p14:creationId xmlns:p14="http://schemas.microsoft.com/office/powerpoint/2010/main" val="15805181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B50061-65E2-497D-A1EA-EAC2B4D30476}"/>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OPPORTUNITY MAP</a:t>
            </a:r>
          </a:p>
        </p:txBody>
      </p:sp>
      <p:sp>
        <p:nvSpPr>
          <p:cNvPr id="2" name="">
            <a:extLst xmlns:a="http://schemas.openxmlformats.org/drawingml/2006/main">
              <a:ext uri="{FF2B5EF4-FFF2-40B4-BE49-F238E27FC236}">
                <a16:creationId xmlns:a16="http://schemas.microsoft.com/office/drawing/2014/main" id="{3BE71DCC-CCE0-4499-A7FB-DBD878692F1F}"/>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AI opportunities cover the whole company, but not all should start now</a:t>
            </a:r>
          </a:p>
        </p:txBody>
      </p:sp>
      <p:sp>
        <p:nvSpPr>
          <p:cNvPr id="3" name="">
            <a:extLst xmlns:a="http://schemas.openxmlformats.org/drawingml/2006/main">
              <a:ext uri="{FF2B5EF4-FFF2-40B4-BE49-F238E27FC236}">
                <a16:creationId xmlns:a16="http://schemas.microsoft.com/office/drawing/2014/main" id="{66455A00-EC87-4348-8282-97185B8378E2}"/>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first wave should create reusable data assets, not isolated demos.</a:t>
            </a:r>
          </a:p>
        </p:txBody>
      </p:sp>
      <p:sp>
        <p:nvSpPr>
          <p:cNvPr id="4" name="">
            <a:extLst xmlns:a="http://schemas.openxmlformats.org/drawingml/2006/main">
              <a:ext uri="{FF2B5EF4-FFF2-40B4-BE49-F238E27FC236}">
                <a16:creationId xmlns:a16="http://schemas.microsoft.com/office/drawing/2014/main" id="{B173C2FE-3034-49FF-AF56-255AB9938C5A}"/>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EBB610CD-3FAF-4A2D-B249-52672E76185C}"/>
              </a:ext>
            </a:extLst>
          </p:cNvPr>
          <p:cNvSpPr>
            <a:spLocks xmlns:a="http://schemas.openxmlformats.org/drawingml/2006/main" noGrp="1"/>
          </p:cNvSpPr>
          <p:nvPr/>
        </p:nvSpPr>
        <p:spPr>
          <a:xfrm xmlns:a="http://schemas.openxmlformats.org/drawingml/2006/main">
            <a:off x="666750" y="1924050"/>
            <a:ext cx="161925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7F31C523-4D89-4B28-AA1B-F9341BF86942}"/>
              </a:ext>
            </a:extLst>
          </p:cNvPr>
          <p:cNvSpPr>
            <a:spLocks xmlns:a="http://schemas.openxmlformats.org/drawingml/2006/main" noGrp="1"/>
          </p:cNvSpPr>
          <p:nvPr/>
        </p:nvSpPr>
        <p:spPr>
          <a:xfrm xmlns:a="http://schemas.openxmlformats.org/drawingml/2006/main">
            <a:off x="762000" y="2000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Function</a:t>
            </a:r>
          </a:p>
        </p:txBody>
      </p:sp>
      <p:sp>
        <p:nvSpPr>
          <p:cNvPr id="7" name="">
            <a:extLst xmlns:a="http://schemas.openxmlformats.org/drawingml/2006/main">
              <a:ext uri="{FF2B5EF4-FFF2-40B4-BE49-F238E27FC236}">
                <a16:creationId xmlns:a16="http://schemas.microsoft.com/office/drawing/2014/main" id="{75F8C4D5-2A6B-4A79-A4EF-B06FBDDECE39}"/>
              </a:ext>
            </a:extLst>
          </p:cNvPr>
          <p:cNvSpPr>
            <a:spLocks xmlns:a="http://schemas.openxmlformats.org/drawingml/2006/main" noGrp="1"/>
          </p:cNvSpPr>
          <p:nvPr/>
        </p:nvSpPr>
        <p:spPr>
          <a:xfrm xmlns:a="http://schemas.openxmlformats.org/drawingml/2006/main">
            <a:off x="2286000" y="1924050"/>
            <a:ext cx="28575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CA9AA6D6-5202-4ABE-A39F-3E4DC6585388}"/>
              </a:ext>
            </a:extLst>
          </p:cNvPr>
          <p:cNvSpPr>
            <a:spLocks xmlns:a="http://schemas.openxmlformats.org/drawingml/2006/main" noGrp="1"/>
          </p:cNvSpPr>
          <p:nvPr/>
        </p:nvSpPr>
        <p:spPr>
          <a:xfrm xmlns:a="http://schemas.openxmlformats.org/drawingml/2006/main">
            <a:off x="2381250" y="20002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Quick win</a:t>
            </a:r>
          </a:p>
        </p:txBody>
      </p:sp>
      <p:sp>
        <p:nvSpPr>
          <p:cNvPr id="9" name="">
            <a:extLst xmlns:a="http://schemas.openxmlformats.org/drawingml/2006/main">
              <a:ext uri="{FF2B5EF4-FFF2-40B4-BE49-F238E27FC236}">
                <a16:creationId xmlns:a16="http://schemas.microsoft.com/office/drawing/2014/main" id="{B2AF1153-CAEC-439C-A2A2-4BF9000E0658}"/>
              </a:ext>
            </a:extLst>
          </p:cNvPr>
          <p:cNvSpPr>
            <a:spLocks xmlns:a="http://schemas.openxmlformats.org/drawingml/2006/main" noGrp="1"/>
          </p:cNvSpPr>
          <p:nvPr/>
        </p:nvSpPr>
        <p:spPr>
          <a:xfrm xmlns:a="http://schemas.openxmlformats.org/drawingml/2006/main">
            <a:off x="5143500" y="1924050"/>
            <a:ext cx="34290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00B4414B-F30B-49F0-92B4-E675C58278A9}"/>
              </a:ext>
            </a:extLst>
          </p:cNvPr>
          <p:cNvSpPr>
            <a:spLocks xmlns:a="http://schemas.openxmlformats.org/drawingml/2006/main" noGrp="1"/>
          </p:cNvSpPr>
          <p:nvPr/>
        </p:nvSpPr>
        <p:spPr>
          <a:xfrm xmlns:a="http://schemas.openxmlformats.org/drawingml/2006/main">
            <a:off x="5238750" y="20002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Long-term AI opportunity</a:t>
            </a:r>
          </a:p>
        </p:txBody>
      </p:sp>
      <p:sp>
        <p:nvSpPr>
          <p:cNvPr id="11" name="">
            <a:extLst xmlns:a="http://schemas.openxmlformats.org/drawingml/2006/main">
              <a:ext uri="{FF2B5EF4-FFF2-40B4-BE49-F238E27FC236}">
                <a16:creationId xmlns:a16="http://schemas.microsoft.com/office/drawing/2014/main" id="{5BDDEBAE-7364-4781-BFC9-D1EEAF6301B9}"/>
              </a:ext>
            </a:extLst>
          </p:cNvPr>
          <p:cNvSpPr>
            <a:spLocks xmlns:a="http://schemas.openxmlformats.org/drawingml/2006/main" noGrp="1"/>
          </p:cNvSpPr>
          <p:nvPr/>
        </p:nvSpPr>
        <p:spPr>
          <a:xfrm xmlns:a="http://schemas.openxmlformats.org/drawingml/2006/main">
            <a:off x="8572500" y="1924050"/>
            <a:ext cx="11430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B6D771C1-6377-4F47-A07F-B011696F20B3}"/>
              </a:ext>
            </a:extLst>
          </p:cNvPr>
          <p:cNvSpPr>
            <a:spLocks xmlns:a="http://schemas.openxmlformats.org/drawingml/2006/main" noGrp="1"/>
          </p:cNvSpPr>
          <p:nvPr/>
        </p:nvSpPr>
        <p:spPr>
          <a:xfrm xmlns:a="http://schemas.openxmlformats.org/drawingml/2006/main">
            <a:off x="8667750" y="2000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Start</a:t>
            </a:r>
          </a:p>
        </p:txBody>
      </p:sp>
      <p:sp>
        <p:nvSpPr>
          <p:cNvPr id="13" name="">
            <a:extLst xmlns:a="http://schemas.openxmlformats.org/drawingml/2006/main">
              <a:ext uri="{FF2B5EF4-FFF2-40B4-BE49-F238E27FC236}">
                <a16:creationId xmlns:a16="http://schemas.microsoft.com/office/drawing/2014/main" id="{4295C156-1E81-4617-A8C9-9829881A6656}"/>
              </a:ext>
            </a:extLst>
          </p:cNvPr>
          <p:cNvSpPr>
            <a:spLocks xmlns:a="http://schemas.openxmlformats.org/drawingml/2006/main" noGrp="1"/>
          </p:cNvSpPr>
          <p:nvPr/>
        </p:nvSpPr>
        <p:spPr>
          <a:xfrm xmlns:a="http://schemas.openxmlformats.org/drawingml/2006/main">
            <a:off x="666750" y="23241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C1CC47E1-CB5C-4DA7-AB39-33D86BFA2993}"/>
              </a:ext>
            </a:extLst>
          </p:cNvPr>
          <p:cNvSpPr>
            <a:spLocks xmlns:a="http://schemas.openxmlformats.org/drawingml/2006/main" noGrp="1"/>
          </p:cNvSpPr>
          <p:nvPr/>
        </p:nvSpPr>
        <p:spPr>
          <a:xfrm xmlns:a="http://schemas.openxmlformats.org/drawingml/2006/main">
            <a:off x="762000" y="2400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R&amp;D</a:t>
            </a:r>
          </a:p>
        </p:txBody>
      </p:sp>
      <p:sp>
        <p:nvSpPr>
          <p:cNvPr id="15" name="">
            <a:extLst xmlns:a="http://schemas.openxmlformats.org/drawingml/2006/main">
              <a:ext uri="{FF2B5EF4-FFF2-40B4-BE49-F238E27FC236}">
                <a16:creationId xmlns:a16="http://schemas.microsoft.com/office/drawing/2014/main" id="{A134C67C-0DB4-4009-9610-6B4013CA26EB}"/>
              </a:ext>
            </a:extLst>
          </p:cNvPr>
          <p:cNvSpPr>
            <a:spLocks xmlns:a="http://schemas.openxmlformats.org/drawingml/2006/main" noGrp="1"/>
          </p:cNvSpPr>
          <p:nvPr/>
        </p:nvSpPr>
        <p:spPr>
          <a:xfrm xmlns:a="http://schemas.openxmlformats.org/drawingml/2006/main">
            <a:off x="2286000" y="23241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04DCA076-5BAF-40FA-B08C-CCCFAFD63668}"/>
              </a:ext>
            </a:extLst>
          </p:cNvPr>
          <p:cNvSpPr>
            <a:spLocks xmlns:a="http://schemas.openxmlformats.org/drawingml/2006/main" noGrp="1"/>
          </p:cNvSpPr>
          <p:nvPr/>
        </p:nvSpPr>
        <p:spPr>
          <a:xfrm xmlns:a="http://schemas.openxmlformats.org/drawingml/2006/main">
            <a:off x="2381250" y="2400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Knowledge graph</a:t>
            </a:r>
          </a:p>
        </p:txBody>
      </p:sp>
      <p:sp>
        <p:nvSpPr>
          <p:cNvPr id="17" name="">
            <a:extLst xmlns:a="http://schemas.openxmlformats.org/drawingml/2006/main">
              <a:ext uri="{FF2B5EF4-FFF2-40B4-BE49-F238E27FC236}">
                <a16:creationId xmlns:a16="http://schemas.microsoft.com/office/drawing/2014/main" id="{A001A326-6F38-4121-8EEE-9FC9B8F4C8D6}"/>
              </a:ext>
            </a:extLst>
          </p:cNvPr>
          <p:cNvSpPr>
            <a:spLocks xmlns:a="http://schemas.openxmlformats.org/drawingml/2006/main" noGrp="1"/>
          </p:cNvSpPr>
          <p:nvPr/>
        </p:nvSpPr>
        <p:spPr>
          <a:xfrm xmlns:a="http://schemas.openxmlformats.org/drawingml/2006/main">
            <a:off x="5143500" y="23241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45D2E4EB-CF55-4566-961B-BF39FA61B52A}"/>
              </a:ext>
            </a:extLst>
          </p:cNvPr>
          <p:cNvSpPr>
            <a:spLocks xmlns:a="http://schemas.openxmlformats.org/drawingml/2006/main" noGrp="1"/>
          </p:cNvSpPr>
          <p:nvPr/>
        </p:nvSpPr>
        <p:spPr>
          <a:xfrm xmlns:a="http://schemas.openxmlformats.org/drawingml/2006/main">
            <a:off x="5238750" y="2400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Formulation optimizer</a:t>
            </a:r>
          </a:p>
        </p:txBody>
      </p:sp>
      <p:sp>
        <p:nvSpPr>
          <p:cNvPr id="19" name="">
            <a:extLst xmlns:a="http://schemas.openxmlformats.org/drawingml/2006/main">
              <a:ext uri="{FF2B5EF4-FFF2-40B4-BE49-F238E27FC236}">
                <a16:creationId xmlns:a16="http://schemas.microsoft.com/office/drawing/2014/main" id="{449D2B77-A918-487E-9D07-DA0CBBF4B909}"/>
              </a:ext>
            </a:extLst>
          </p:cNvPr>
          <p:cNvSpPr>
            <a:spLocks xmlns:a="http://schemas.openxmlformats.org/drawingml/2006/main" noGrp="1"/>
          </p:cNvSpPr>
          <p:nvPr/>
        </p:nvSpPr>
        <p:spPr>
          <a:xfrm xmlns:a="http://schemas.openxmlformats.org/drawingml/2006/main">
            <a:off x="8572500" y="23241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85ABBB4A-7D86-452F-8D7D-54A5B2284D99}"/>
              </a:ext>
            </a:extLst>
          </p:cNvPr>
          <p:cNvSpPr>
            <a:spLocks xmlns:a="http://schemas.openxmlformats.org/drawingml/2006/main" noGrp="1"/>
          </p:cNvSpPr>
          <p:nvPr/>
        </p:nvSpPr>
        <p:spPr>
          <a:xfrm xmlns:a="http://schemas.openxmlformats.org/drawingml/2006/main">
            <a:off x="8667750" y="24003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Now</a:t>
            </a:r>
          </a:p>
        </p:txBody>
      </p:sp>
      <p:sp>
        <p:nvSpPr>
          <p:cNvPr id="21" name="">
            <a:extLst xmlns:a="http://schemas.openxmlformats.org/drawingml/2006/main">
              <a:ext uri="{FF2B5EF4-FFF2-40B4-BE49-F238E27FC236}">
                <a16:creationId xmlns:a16="http://schemas.microsoft.com/office/drawing/2014/main" id="{E7923199-8596-4C34-B5F7-12426C4373A5}"/>
              </a:ext>
            </a:extLst>
          </p:cNvPr>
          <p:cNvSpPr>
            <a:spLocks xmlns:a="http://schemas.openxmlformats.org/drawingml/2006/main" noGrp="1"/>
          </p:cNvSpPr>
          <p:nvPr/>
        </p:nvSpPr>
        <p:spPr>
          <a:xfrm xmlns:a="http://schemas.openxmlformats.org/drawingml/2006/main">
            <a:off x="666750" y="27241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4BF597AF-119C-43A2-90B7-F577F7BA5F41}"/>
              </a:ext>
            </a:extLst>
          </p:cNvPr>
          <p:cNvSpPr>
            <a:spLocks xmlns:a="http://schemas.openxmlformats.org/drawingml/2006/main" noGrp="1"/>
          </p:cNvSpPr>
          <p:nvPr/>
        </p:nvSpPr>
        <p:spPr>
          <a:xfrm xmlns:a="http://schemas.openxmlformats.org/drawingml/2006/main">
            <a:off x="762000" y="2800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Production</a:t>
            </a:r>
          </a:p>
        </p:txBody>
      </p:sp>
      <p:sp>
        <p:nvSpPr>
          <p:cNvPr id="23" name="">
            <a:extLst xmlns:a="http://schemas.openxmlformats.org/drawingml/2006/main">
              <a:ext uri="{FF2B5EF4-FFF2-40B4-BE49-F238E27FC236}">
                <a16:creationId xmlns:a16="http://schemas.microsoft.com/office/drawing/2014/main" id="{BE5009A9-2B05-4D31-AF0B-BDDC7C73F6CD}"/>
              </a:ext>
            </a:extLst>
          </p:cNvPr>
          <p:cNvSpPr>
            <a:spLocks xmlns:a="http://schemas.openxmlformats.org/drawingml/2006/main" noGrp="1"/>
          </p:cNvSpPr>
          <p:nvPr/>
        </p:nvSpPr>
        <p:spPr>
          <a:xfrm xmlns:a="http://schemas.openxmlformats.org/drawingml/2006/main">
            <a:off x="2286000" y="27241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721BB427-EB90-4E1C-A277-B95B7DABF297}"/>
              </a:ext>
            </a:extLst>
          </p:cNvPr>
          <p:cNvSpPr>
            <a:spLocks xmlns:a="http://schemas.openxmlformats.org/drawingml/2006/main" noGrp="1"/>
          </p:cNvSpPr>
          <p:nvPr/>
        </p:nvSpPr>
        <p:spPr>
          <a:xfrm xmlns:a="http://schemas.openxmlformats.org/drawingml/2006/main">
            <a:off x="2381250" y="28003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Read-only process intelligence</a:t>
            </a:r>
          </a:p>
        </p:txBody>
      </p:sp>
      <p:sp>
        <p:nvSpPr>
          <p:cNvPr id="25" name="">
            <a:extLst xmlns:a="http://schemas.openxmlformats.org/drawingml/2006/main">
              <a:ext uri="{FF2B5EF4-FFF2-40B4-BE49-F238E27FC236}">
                <a16:creationId xmlns:a16="http://schemas.microsoft.com/office/drawing/2014/main" id="{130C8DEF-9AFE-49B5-911A-756779BE8E86}"/>
              </a:ext>
            </a:extLst>
          </p:cNvPr>
          <p:cNvSpPr>
            <a:spLocks xmlns:a="http://schemas.openxmlformats.org/drawingml/2006/main" noGrp="1"/>
          </p:cNvSpPr>
          <p:nvPr/>
        </p:nvSpPr>
        <p:spPr>
          <a:xfrm xmlns:a="http://schemas.openxmlformats.org/drawingml/2006/main">
            <a:off x="5143500" y="27241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8E7EA1E8-F4E9-42E3-8E8A-4F09C8E2977B}"/>
              </a:ext>
            </a:extLst>
          </p:cNvPr>
          <p:cNvSpPr>
            <a:spLocks xmlns:a="http://schemas.openxmlformats.org/drawingml/2006/main" noGrp="1"/>
          </p:cNvSpPr>
          <p:nvPr/>
        </p:nvSpPr>
        <p:spPr>
          <a:xfrm xmlns:a="http://schemas.openxmlformats.org/drawingml/2006/main">
            <a:off x="5238750" y="2800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Digital twin</a:t>
            </a:r>
          </a:p>
        </p:txBody>
      </p:sp>
      <p:sp>
        <p:nvSpPr>
          <p:cNvPr id="27" name="">
            <a:extLst xmlns:a="http://schemas.openxmlformats.org/drawingml/2006/main">
              <a:ext uri="{FF2B5EF4-FFF2-40B4-BE49-F238E27FC236}">
                <a16:creationId xmlns:a16="http://schemas.microsoft.com/office/drawing/2014/main" id="{8FD911C1-2F20-461C-8A13-629612463947}"/>
              </a:ext>
            </a:extLst>
          </p:cNvPr>
          <p:cNvSpPr>
            <a:spLocks xmlns:a="http://schemas.openxmlformats.org/drawingml/2006/main" noGrp="1"/>
          </p:cNvSpPr>
          <p:nvPr/>
        </p:nvSpPr>
        <p:spPr>
          <a:xfrm xmlns:a="http://schemas.openxmlformats.org/drawingml/2006/main">
            <a:off x="8572500" y="27241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0886E380-E043-491F-96C1-4FE164365F06}"/>
              </a:ext>
            </a:extLst>
          </p:cNvPr>
          <p:cNvSpPr>
            <a:spLocks xmlns:a="http://schemas.openxmlformats.org/drawingml/2006/main" noGrp="1"/>
          </p:cNvSpPr>
          <p:nvPr/>
        </p:nvSpPr>
        <p:spPr>
          <a:xfrm xmlns:a="http://schemas.openxmlformats.org/drawingml/2006/main">
            <a:off x="8667750" y="2800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Now</a:t>
            </a:r>
          </a:p>
        </p:txBody>
      </p:sp>
      <p:sp>
        <p:nvSpPr>
          <p:cNvPr id="29" name="">
            <a:extLst xmlns:a="http://schemas.openxmlformats.org/drawingml/2006/main">
              <a:ext uri="{FF2B5EF4-FFF2-40B4-BE49-F238E27FC236}">
                <a16:creationId xmlns:a16="http://schemas.microsoft.com/office/drawing/2014/main" id="{97EA1D51-A32A-4EBA-ABEF-FB080B7DC5C4}"/>
              </a:ext>
            </a:extLst>
          </p:cNvPr>
          <p:cNvSpPr>
            <a:spLocks xmlns:a="http://schemas.openxmlformats.org/drawingml/2006/main" noGrp="1"/>
          </p:cNvSpPr>
          <p:nvPr/>
        </p:nvSpPr>
        <p:spPr>
          <a:xfrm xmlns:a="http://schemas.openxmlformats.org/drawingml/2006/main">
            <a:off x="666750" y="31242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E08C8386-814B-4190-AA1F-22D7203E4D7D}"/>
              </a:ext>
            </a:extLst>
          </p:cNvPr>
          <p:cNvSpPr>
            <a:spLocks xmlns:a="http://schemas.openxmlformats.org/drawingml/2006/main" noGrp="1"/>
          </p:cNvSpPr>
          <p:nvPr/>
        </p:nvSpPr>
        <p:spPr>
          <a:xfrm xmlns:a="http://schemas.openxmlformats.org/drawingml/2006/main">
            <a:off x="762000" y="32004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Quality</a:t>
            </a:r>
          </a:p>
        </p:txBody>
      </p:sp>
      <p:sp>
        <p:nvSpPr>
          <p:cNvPr id="31" name="">
            <a:extLst xmlns:a="http://schemas.openxmlformats.org/drawingml/2006/main">
              <a:ext uri="{FF2B5EF4-FFF2-40B4-BE49-F238E27FC236}">
                <a16:creationId xmlns:a16="http://schemas.microsoft.com/office/drawing/2014/main" id="{A2A09283-C92B-4BDB-A10F-D91156FEBEC3}"/>
              </a:ext>
            </a:extLst>
          </p:cNvPr>
          <p:cNvSpPr>
            <a:spLocks xmlns:a="http://schemas.openxmlformats.org/drawingml/2006/main" noGrp="1"/>
          </p:cNvSpPr>
          <p:nvPr/>
        </p:nvSpPr>
        <p:spPr>
          <a:xfrm xmlns:a="http://schemas.openxmlformats.org/drawingml/2006/main">
            <a:off x="2286000" y="31242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14E39F0C-4BBA-4448-B010-A73355DB78F7}"/>
              </a:ext>
            </a:extLst>
          </p:cNvPr>
          <p:cNvSpPr>
            <a:spLocks xmlns:a="http://schemas.openxmlformats.org/drawingml/2006/main" noGrp="1"/>
          </p:cNvSpPr>
          <p:nvPr/>
        </p:nvSpPr>
        <p:spPr>
          <a:xfrm xmlns:a="http://schemas.openxmlformats.org/drawingml/2006/main">
            <a:off x="2381250" y="32004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Roll passport + root cause AI</a:t>
            </a:r>
          </a:p>
        </p:txBody>
      </p:sp>
      <p:sp>
        <p:nvSpPr>
          <p:cNvPr id="33" name="">
            <a:extLst xmlns:a="http://schemas.openxmlformats.org/drawingml/2006/main">
              <a:ext uri="{FF2B5EF4-FFF2-40B4-BE49-F238E27FC236}">
                <a16:creationId xmlns:a16="http://schemas.microsoft.com/office/drawing/2014/main" id="{F3F50714-BE92-4712-9137-F5CFD3CC6EB9}"/>
              </a:ext>
            </a:extLst>
          </p:cNvPr>
          <p:cNvSpPr>
            <a:spLocks xmlns:a="http://schemas.openxmlformats.org/drawingml/2006/main" noGrp="1"/>
          </p:cNvSpPr>
          <p:nvPr/>
        </p:nvSpPr>
        <p:spPr>
          <a:xfrm xmlns:a="http://schemas.openxmlformats.org/drawingml/2006/main">
            <a:off x="5143500" y="31242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646F196F-5CDF-40A5-B7FB-8A9464E4EDCC}"/>
              </a:ext>
            </a:extLst>
          </p:cNvPr>
          <p:cNvSpPr>
            <a:spLocks xmlns:a="http://schemas.openxmlformats.org/drawingml/2006/main" noGrp="1"/>
          </p:cNvSpPr>
          <p:nvPr/>
        </p:nvSpPr>
        <p:spPr>
          <a:xfrm xmlns:a="http://schemas.openxmlformats.org/drawingml/2006/main">
            <a:off x="5238750" y="32004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Predictive release</a:t>
            </a:r>
          </a:p>
        </p:txBody>
      </p:sp>
      <p:sp>
        <p:nvSpPr>
          <p:cNvPr id="35" name="">
            <a:extLst xmlns:a="http://schemas.openxmlformats.org/drawingml/2006/main">
              <a:ext uri="{FF2B5EF4-FFF2-40B4-BE49-F238E27FC236}">
                <a16:creationId xmlns:a16="http://schemas.microsoft.com/office/drawing/2014/main" id="{10BA026D-95CB-4C12-A7AE-2F7998143193}"/>
              </a:ext>
            </a:extLst>
          </p:cNvPr>
          <p:cNvSpPr>
            <a:spLocks xmlns:a="http://schemas.openxmlformats.org/drawingml/2006/main" noGrp="1"/>
          </p:cNvSpPr>
          <p:nvPr/>
        </p:nvSpPr>
        <p:spPr>
          <a:xfrm xmlns:a="http://schemas.openxmlformats.org/drawingml/2006/main">
            <a:off x="8572500" y="31242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0340502C-8360-4FB1-A683-92323F37C432}"/>
              </a:ext>
            </a:extLst>
          </p:cNvPr>
          <p:cNvSpPr>
            <a:spLocks xmlns:a="http://schemas.openxmlformats.org/drawingml/2006/main" noGrp="1"/>
          </p:cNvSpPr>
          <p:nvPr/>
        </p:nvSpPr>
        <p:spPr>
          <a:xfrm xmlns:a="http://schemas.openxmlformats.org/drawingml/2006/main">
            <a:off x="8667750" y="32004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Now</a:t>
            </a:r>
          </a:p>
        </p:txBody>
      </p:sp>
      <p:sp>
        <p:nvSpPr>
          <p:cNvPr id="37" name="">
            <a:extLst xmlns:a="http://schemas.openxmlformats.org/drawingml/2006/main">
              <a:ext uri="{FF2B5EF4-FFF2-40B4-BE49-F238E27FC236}">
                <a16:creationId xmlns:a16="http://schemas.microsoft.com/office/drawing/2014/main" id="{BAC258B6-7EF4-4971-A7C7-F9C6CDDBEC80}"/>
              </a:ext>
            </a:extLst>
          </p:cNvPr>
          <p:cNvSpPr>
            <a:spLocks xmlns:a="http://schemas.openxmlformats.org/drawingml/2006/main" noGrp="1"/>
          </p:cNvSpPr>
          <p:nvPr/>
        </p:nvSpPr>
        <p:spPr>
          <a:xfrm xmlns:a="http://schemas.openxmlformats.org/drawingml/2006/main">
            <a:off x="666750" y="35242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1F0EF91A-3128-4488-A1E1-6343AA854055}"/>
              </a:ext>
            </a:extLst>
          </p:cNvPr>
          <p:cNvSpPr>
            <a:spLocks xmlns:a="http://schemas.openxmlformats.org/drawingml/2006/main" noGrp="1"/>
          </p:cNvSpPr>
          <p:nvPr/>
        </p:nvSpPr>
        <p:spPr>
          <a:xfrm xmlns:a="http://schemas.openxmlformats.org/drawingml/2006/main">
            <a:off x="762000" y="3600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Packaging</a:t>
            </a:r>
          </a:p>
        </p:txBody>
      </p:sp>
      <p:sp>
        <p:nvSpPr>
          <p:cNvPr id="39" name="">
            <a:extLst xmlns:a="http://schemas.openxmlformats.org/drawingml/2006/main">
              <a:ext uri="{FF2B5EF4-FFF2-40B4-BE49-F238E27FC236}">
                <a16:creationId xmlns:a16="http://schemas.microsoft.com/office/drawing/2014/main" id="{AB17006A-B92E-4CF8-9A5E-9827BAB4C93C}"/>
              </a:ext>
            </a:extLst>
          </p:cNvPr>
          <p:cNvSpPr>
            <a:spLocks xmlns:a="http://schemas.openxmlformats.org/drawingml/2006/main" noGrp="1"/>
          </p:cNvSpPr>
          <p:nvPr/>
        </p:nvSpPr>
        <p:spPr>
          <a:xfrm xmlns:a="http://schemas.openxmlformats.org/drawingml/2006/main">
            <a:off x="2286000" y="35242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3E398D4B-03AF-41E9-A471-859670FC4A90}"/>
              </a:ext>
            </a:extLst>
          </p:cNvPr>
          <p:cNvSpPr>
            <a:spLocks xmlns:a="http://schemas.openxmlformats.org/drawingml/2006/main" noGrp="1"/>
          </p:cNvSpPr>
          <p:nvPr/>
        </p:nvSpPr>
        <p:spPr>
          <a:xfrm xmlns:a="http://schemas.openxmlformats.org/drawingml/2006/main">
            <a:off x="23812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Defect mining</a:t>
            </a:r>
          </a:p>
        </p:txBody>
      </p:sp>
      <p:sp>
        <p:nvSpPr>
          <p:cNvPr id="41" name="">
            <a:extLst xmlns:a="http://schemas.openxmlformats.org/drawingml/2006/main">
              <a:ext uri="{FF2B5EF4-FFF2-40B4-BE49-F238E27FC236}">
                <a16:creationId xmlns:a16="http://schemas.microsoft.com/office/drawing/2014/main" id="{D42A17B1-DA81-4791-99D3-5B59EFCF7DEC}"/>
              </a:ext>
            </a:extLst>
          </p:cNvPr>
          <p:cNvSpPr>
            <a:spLocks xmlns:a="http://schemas.openxmlformats.org/drawingml/2006/main" noGrp="1"/>
          </p:cNvSpPr>
          <p:nvPr/>
        </p:nvSpPr>
        <p:spPr>
          <a:xfrm xmlns:a="http://schemas.openxmlformats.org/drawingml/2006/main">
            <a:off x="5143500" y="35242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42AC008A-D028-408C-B134-B64A45398C38}"/>
              </a:ext>
            </a:extLst>
          </p:cNvPr>
          <p:cNvSpPr>
            <a:spLocks xmlns:a="http://schemas.openxmlformats.org/drawingml/2006/main" noGrp="1"/>
          </p:cNvSpPr>
          <p:nvPr/>
        </p:nvSpPr>
        <p:spPr>
          <a:xfrm xmlns:a="http://schemas.openxmlformats.org/drawingml/2006/main">
            <a:off x="5238750" y="36004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Vision/process feedback loop</a:t>
            </a:r>
          </a:p>
        </p:txBody>
      </p:sp>
      <p:sp>
        <p:nvSpPr>
          <p:cNvPr id="43" name="">
            <a:extLst xmlns:a="http://schemas.openxmlformats.org/drawingml/2006/main">
              <a:ext uri="{FF2B5EF4-FFF2-40B4-BE49-F238E27FC236}">
                <a16:creationId xmlns:a16="http://schemas.microsoft.com/office/drawing/2014/main" id="{8432824A-56E9-4612-B521-BFB4A07D92AA}"/>
              </a:ext>
            </a:extLst>
          </p:cNvPr>
          <p:cNvSpPr>
            <a:spLocks xmlns:a="http://schemas.openxmlformats.org/drawingml/2006/main" noGrp="1"/>
          </p:cNvSpPr>
          <p:nvPr/>
        </p:nvSpPr>
        <p:spPr>
          <a:xfrm xmlns:a="http://schemas.openxmlformats.org/drawingml/2006/main">
            <a:off x="8572500" y="35242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BC822846-040F-429D-81B9-343EE90602FD}"/>
              </a:ext>
            </a:extLst>
          </p:cNvPr>
          <p:cNvSpPr>
            <a:spLocks xmlns:a="http://schemas.openxmlformats.org/drawingml/2006/main" noGrp="1"/>
          </p:cNvSpPr>
          <p:nvPr/>
        </p:nvSpPr>
        <p:spPr>
          <a:xfrm xmlns:a="http://schemas.openxmlformats.org/drawingml/2006/main">
            <a:off x="8667750" y="36004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Now</a:t>
            </a:r>
          </a:p>
        </p:txBody>
      </p:sp>
      <p:sp>
        <p:nvSpPr>
          <p:cNvPr id="45" name="">
            <a:extLst xmlns:a="http://schemas.openxmlformats.org/drawingml/2006/main">
              <a:ext uri="{FF2B5EF4-FFF2-40B4-BE49-F238E27FC236}">
                <a16:creationId xmlns:a16="http://schemas.microsoft.com/office/drawing/2014/main" id="{9533C01A-EFA0-4030-8474-1FB6ED3BC8E2}"/>
              </a:ext>
            </a:extLst>
          </p:cNvPr>
          <p:cNvSpPr>
            <a:spLocks xmlns:a="http://schemas.openxmlformats.org/drawingml/2006/main" noGrp="1"/>
          </p:cNvSpPr>
          <p:nvPr/>
        </p:nvSpPr>
        <p:spPr>
          <a:xfrm xmlns:a="http://schemas.openxmlformats.org/drawingml/2006/main">
            <a:off x="666750" y="39243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FD198EB6-B772-4121-B91C-985E8DC4953F}"/>
              </a:ext>
            </a:extLst>
          </p:cNvPr>
          <p:cNvSpPr>
            <a:spLocks xmlns:a="http://schemas.openxmlformats.org/drawingml/2006/main" noGrp="1"/>
          </p:cNvSpPr>
          <p:nvPr/>
        </p:nvSpPr>
        <p:spPr>
          <a:xfrm xmlns:a="http://schemas.openxmlformats.org/drawingml/2006/main">
            <a:off x="762000" y="4000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Sales</a:t>
            </a:r>
          </a:p>
        </p:txBody>
      </p:sp>
      <p:sp>
        <p:nvSpPr>
          <p:cNvPr id="47" name="">
            <a:extLst xmlns:a="http://schemas.openxmlformats.org/drawingml/2006/main">
              <a:ext uri="{FF2B5EF4-FFF2-40B4-BE49-F238E27FC236}">
                <a16:creationId xmlns:a16="http://schemas.microsoft.com/office/drawing/2014/main" id="{1DFBE0CD-41FE-458D-87ED-7CACDDCE57C7}"/>
              </a:ext>
            </a:extLst>
          </p:cNvPr>
          <p:cNvSpPr>
            <a:spLocks xmlns:a="http://schemas.openxmlformats.org/drawingml/2006/main" noGrp="1"/>
          </p:cNvSpPr>
          <p:nvPr/>
        </p:nvSpPr>
        <p:spPr>
          <a:xfrm xmlns:a="http://schemas.openxmlformats.org/drawingml/2006/main">
            <a:off x="2286000" y="39243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E9A9F3A6-CA98-40C0-8775-21110A134E3D}"/>
              </a:ext>
            </a:extLst>
          </p:cNvPr>
          <p:cNvSpPr>
            <a:spLocks xmlns:a="http://schemas.openxmlformats.org/drawingml/2006/main" noGrp="1"/>
          </p:cNvSpPr>
          <p:nvPr/>
        </p:nvSpPr>
        <p:spPr>
          <a:xfrm xmlns:a="http://schemas.openxmlformats.org/drawingml/2006/main">
            <a:off x="2381250" y="40005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Spec-to-product search</a:t>
            </a:r>
          </a:p>
        </p:txBody>
      </p:sp>
      <p:sp>
        <p:nvSpPr>
          <p:cNvPr id="49" name="">
            <a:extLst xmlns:a="http://schemas.openxmlformats.org/drawingml/2006/main">
              <a:ext uri="{FF2B5EF4-FFF2-40B4-BE49-F238E27FC236}">
                <a16:creationId xmlns:a16="http://schemas.microsoft.com/office/drawing/2014/main" id="{0BB26057-CB83-4FAB-9AED-5EC47B04EB5C}"/>
              </a:ext>
            </a:extLst>
          </p:cNvPr>
          <p:cNvSpPr>
            <a:spLocks xmlns:a="http://schemas.openxmlformats.org/drawingml/2006/main" noGrp="1"/>
          </p:cNvSpPr>
          <p:nvPr/>
        </p:nvSpPr>
        <p:spPr>
          <a:xfrm xmlns:a="http://schemas.openxmlformats.org/drawingml/2006/main">
            <a:off x="5143500" y="39243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8B5718CA-1DF5-484D-AD7D-236663FB63A9}"/>
              </a:ext>
            </a:extLst>
          </p:cNvPr>
          <p:cNvSpPr>
            <a:spLocks xmlns:a="http://schemas.openxmlformats.org/drawingml/2006/main" noGrp="1"/>
          </p:cNvSpPr>
          <p:nvPr/>
        </p:nvSpPr>
        <p:spPr>
          <a:xfrm xmlns:a="http://schemas.openxmlformats.org/drawingml/2006/main">
            <a:off x="5238750" y="40005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AI sales engineer</a:t>
            </a:r>
          </a:p>
        </p:txBody>
      </p:sp>
      <p:sp>
        <p:nvSpPr>
          <p:cNvPr id="51" name="">
            <a:extLst xmlns:a="http://schemas.openxmlformats.org/drawingml/2006/main">
              <a:ext uri="{FF2B5EF4-FFF2-40B4-BE49-F238E27FC236}">
                <a16:creationId xmlns:a16="http://schemas.microsoft.com/office/drawing/2014/main" id="{42852643-52F4-40BD-8286-FDB132E49AC4}"/>
              </a:ext>
            </a:extLst>
          </p:cNvPr>
          <p:cNvSpPr>
            <a:spLocks xmlns:a="http://schemas.openxmlformats.org/drawingml/2006/main" noGrp="1"/>
          </p:cNvSpPr>
          <p:nvPr/>
        </p:nvSpPr>
        <p:spPr>
          <a:xfrm xmlns:a="http://schemas.openxmlformats.org/drawingml/2006/main">
            <a:off x="8572500" y="39243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AE785EC9-A19E-496C-83C0-790576C055CC}"/>
              </a:ext>
            </a:extLst>
          </p:cNvPr>
          <p:cNvSpPr>
            <a:spLocks xmlns:a="http://schemas.openxmlformats.org/drawingml/2006/main" noGrp="1"/>
          </p:cNvSpPr>
          <p:nvPr/>
        </p:nvSpPr>
        <p:spPr>
          <a:xfrm xmlns:a="http://schemas.openxmlformats.org/drawingml/2006/main">
            <a:off x="8667750" y="4000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Phase 2</a:t>
            </a:r>
          </a:p>
        </p:txBody>
      </p:sp>
      <p:sp>
        <p:nvSpPr>
          <p:cNvPr id="53" name="">
            <a:extLst xmlns:a="http://schemas.openxmlformats.org/drawingml/2006/main">
              <a:ext uri="{FF2B5EF4-FFF2-40B4-BE49-F238E27FC236}">
                <a16:creationId xmlns:a16="http://schemas.microsoft.com/office/drawing/2014/main" id="{8E62DEEE-E53D-4E7B-8163-5E646686F92A}"/>
              </a:ext>
            </a:extLst>
          </p:cNvPr>
          <p:cNvSpPr>
            <a:spLocks xmlns:a="http://schemas.openxmlformats.org/drawingml/2006/main" noGrp="1"/>
          </p:cNvSpPr>
          <p:nvPr/>
        </p:nvSpPr>
        <p:spPr>
          <a:xfrm xmlns:a="http://schemas.openxmlformats.org/drawingml/2006/main">
            <a:off x="666750" y="43243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2FCEA214-9016-417E-AC53-43C7177ABB14}"/>
              </a:ext>
            </a:extLst>
          </p:cNvPr>
          <p:cNvSpPr>
            <a:spLocks xmlns:a="http://schemas.openxmlformats.org/drawingml/2006/main" noGrp="1"/>
          </p:cNvSpPr>
          <p:nvPr/>
        </p:nvSpPr>
        <p:spPr>
          <a:xfrm xmlns:a="http://schemas.openxmlformats.org/drawingml/2006/main">
            <a:off x="762000" y="44005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Procurement</a:t>
            </a:r>
          </a:p>
        </p:txBody>
      </p:sp>
      <p:sp>
        <p:nvSpPr>
          <p:cNvPr id="55" name="">
            <a:extLst xmlns:a="http://schemas.openxmlformats.org/drawingml/2006/main">
              <a:ext uri="{FF2B5EF4-FFF2-40B4-BE49-F238E27FC236}">
                <a16:creationId xmlns:a16="http://schemas.microsoft.com/office/drawing/2014/main" id="{D3F836D7-14B9-447B-BD29-8B2ACABD7B94}"/>
              </a:ext>
            </a:extLst>
          </p:cNvPr>
          <p:cNvSpPr>
            <a:spLocks xmlns:a="http://schemas.openxmlformats.org/drawingml/2006/main" noGrp="1"/>
          </p:cNvSpPr>
          <p:nvPr/>
        </p:nvSpPr>
        <p:spPr>
          <a:xfrm xmlns:a="http://schemas.openxmlformats.org/drawingml/2006/main">
            <a:off x="2286000" y="43243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6" name="">
            <a:extLst xmlns:a="http://schemas.openxmlformats.org/drawingml/2006/main">
              <a:ext uri="{FF2B5EF4-FFF2-40B4-BE49-F238E27FC236}">
                <a16:creationId xmlns:a16="http://schemas.microsoft.com/office/drawing/2014/main" id="{D4941375-5B07-4F6C-A790-834E7E13656F}"/>
              </a:ext>
            </a:extLst>
          </p:cNvPr>
          <p:cNvSpPr>
            <a:spLocks xmlns:a="http://schemas.openxmlformats.org/drawingml/2006/main" noGrp="1"/>
          </p:cNvSpPr>
          <p:nvPr/>
        </p:nvSpPr>
        <p:spPr>
          <a:xfrm xmlns:a="http://schemas.openxmlformats.org/drawingml/2006/main">
            <a:off x="2381250" y="44005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Supplier docs intelligence</a:t>
            </a:r>
          </a:p>
        </p:txBody>
      </p:sp>
      <p:sp>
        <p:nvSpPr>
          <p:cNvPr id="57" name="">
            <a:extLst xmlns:a="http://schemas.openxmlformats.org/drawingml/2006/main">
              <a:ext uri="{FF2B5EF4-FFF2-40B4-BE49-F238E27FC236}">
                <a16:creationId xmlns:a16="http://schemas.microsoft.com/office/drawing/2014/main" id="{5C28D605-9E3B-4F26-82C6-D696CB1E0FE6}"/>
              </a:ext>
            </a:extLst>
          </p:cNvPr>
          <p:cNvSpPr>
            <a:spLocks xmlns:a="http://schemas.openxmlformats.org/drawingml/2006/main" noGrp="1"/>
          </p:cNvSpPr>
          <p:nvPr/>
        </p:nvSpPr>
        <p:spPr>
          <a:xfrm xmlns:a="http://schemas.openxmlformats.org/drawingml/2006/main">
            <a:off x="5143500" y="43243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8" name="">
            <a:extLst xmlns:a="http://schemas.openxmlformats.org/drawingml/2006/main">
              <a:ext uri="{FF2B5EF4-FFF2-40B4-BE49-F238E27FC236}">
                <a16:creationId xmlns:a16="http://schemas.microsoft.com/office/drawing/2014/main" id="{C496E0CD-29F8-4F9C-BAB0-447E49D5A3CF}"/>
              </a:ext>
            </a:extLst>
          </p:cNvPr>
          <p:cNvSpPr>
            <a:spLocks xmlns:a="http://schemas.openxmlformats.org/drawingml/2006/main" noGrp="1"/>
          </p:cNvSpPr>
          <p:nvPr/>
        </p:nvSpPr>
        <p:spPr>
          <a:xfrm xmlns:a="http://schemas.openxmlformats.org/drawingml/2006/main">
            <a:off x="5238750" y="4400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Substitution recommender</a:t>
            </a:r>
          </a:p>
        </p:txBody>
      </p:sp>
      <p:sp>
        <p:nvSpPr>
          <p:cNvPr id="59" name="">
            <a:extLst xmlns:a="http://schemas.openxmlformats.org/drawingml/2006/main">
              <a:ext uri="{FF2B5EF4-FFF2-40B4-BE49-F238E27FC236}">
                <a16:creationId xmlns:a16="http://schemas.microsoft.com/office/drawing/2014/main" id="{040B95E2-3C66-4A37-B73D-9C43DC2BD612}"/>
              </a:ext>
            </a:extLst>
          </p:cNvPr>
          <p:cNvSpPr>
            <a:spLocks xmlns:a="http://schemas.openxmlformats.org/drawingml/2006/main" noGrp="1"/>
          </p:cNvSpPr>
          <p:nvPr/>
        </p:nvSpPr>
        <p:spPr>
          <a:xfrm xmlns:a="http://schemas.openxmlformats.org/drawingml/2006/main">
            <a:off x="8572500" y="43243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0" name="">
            <a:extLst xmlns:a="http://schemas.openxmlformats.org/drawingml/2006/main">
              <a:ext uri="{FF2B5EF4-FFF2-40B4-BE49-F238E27FC236}">
                <a16:creationId xmlns:a16="http://schemas.microsoft.com/office/drawing/2014/main" id="{9E3C4A45-96E4-4FCB-B838-18F4CE3D5B42}"/>
              </a:ext>
            </a:extLst>
          </p:cNvPr>
          <p:cNvSpPr>
            <a:spLocks xmlns:a="http://schemas.openxmlformats.org/drawingml/2006/main" noGrp="1"/>
          </p:cNvSpPr>
          <p:nvPr/>
        </p:nvSpPr>
        <p:spPr>
          <a:xfrm xmlns:a="http://schemas.openxmlformats.org/drawingml/2006/main">
            <a:off x="8667750" y="440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Phase 2</a:t>
            </a:r>
          </a:p>
        </p:txBody>
      </p:sp>
      <p:sp>
        <p:nvSpPr>
          <p:cNvPr id="61" name="">
            <a:extLst xmlns:a="http://schemas.openxmlformats.org/drawingml/2006/main">
              <a:ext uri="{FF2B5EF4-FFF2-40B4-BE49-F238E27FC236}">
                <a16:creationId xmlns:a16="http://schemas.microsoft.com/office/drawing/2014/main" id="{FE1E7506-F8F5-43C2-885A-83E6CDE40549}"/>
              </a:ext>
            </a:extLst>
          </p:cNvPr>
          <p:cNvSpPr>
            <a:spLocks xmlns:a="http://schemas.openxmlformats.org/drawingml/2006/main" noGrp="1"/>
          </p:cNvSpPr>
          <p:nvPr/>
        </p:nvSpPr>
        <p:spPr>
          <a:xfrm xmlns:a="http://schemas.openxmlformats.org/drawingml/2006/main">
            <a:off x="666750" y="47244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2" name="">
            <a:extLst xmlns:a="http://schemas.openxmlformats.org/drawingml/2006/main">
              <a:ext uri="{FF2B5EF4-FFF2-40B4-BE49-F238E27FC236}">
                <a16:creationId xmlns:a16="http://schemas.microsoft.com/office/drawing/2014/main" id="{5E776535-06E8-4B36-9D5E-3535D4CB917E}"/>
              </a:ext>
            </a:extLst>
          </p:cNvPr>
          <p:cNvSpPr>
            <a:spLocks xmlns:a="http://schemas.openxmlformats.org/drawingml/2006/main" noGrp="1"/>
          </p:cNvSpPr>
          <p:nvPr/>
        </p:nvSpPr>
        <p:spPr>
          <a:xfrm xmlns:a="http://schemas.openxmlformats.org/drawingml/2006/main">
            <a:off x="762000" y="4800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Maintenance</a:t>
            </a:r>
          </a:p>
        </p:txBody>
      </p:sp>
      <p:sp>
        <p:nvSpPr>
          <p:cNvPr id="63" name="">
            <a:extLst xmlns:a="http://schemas.openxmlformats.org/drawingml/2006/main">
              <a:ext uri="{FF2B5EF4-FFF2-40B4-BE49-F238E27FC236}">
                <a16:creationId xmlns:a16="http://schemas.microsoft.com/office/drawing/2014/main" id="{BE4195AA-85A5-400C-9842-11B7C5AB6290}"/>
              </a:ext>
            </a:extLst>
          </p:cNvPr>
          <p:cNvSpPr>
            <a:spLocks xmlns:a="http://schemas.openxmlformats.org/drawingml/2006/main" noGrp="1"/>
          </p:cNvSpPr>
          <p:nvPr/>
        </p:nvSpPr>
        <p:spPr>
          <a:xfrm xmlns:a="http://schemas.openxmlformats.org/drawingml/2006/main">
            <a:off x="2286000" y="47244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4" name="">
            <a:extLst xmlns:a="http://schemas.openxmlformats.org/drawingml/2006/main">
              <a:ext uri="{FF2B5EF4-FFF2-40B4-BE49-F238E27FC236}">
                <a16:creationId xmlns:a16="http://schemas.microsoft.com/office/drawing/2014/main" id="{4C19C287-2B80-450F-9D8E-31A8ED4D49F4}"/>
              </a:ext>
            </a:extLst>
          </p:cNvPr>
          <p:cNvSpPr>
            <a:spLocks xmlns:a="http://schemas.openxmlformats.org/drawingml/2006/main" noGrp="1"/>
          </p:cNvSpPr>
          <p:nvPr/>
        </p:nvSpPr>
        <p:spPr>
          <a:xfrm xmlns:a="http://schemas.openxmlformats.org/drawingml/2006/main">
            <a:off x="2381250" y="4800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Failure log assistant</a:t>
            </a:r>
          </a:p>
        </p:txBody>
      </p:sp>
      <p:sp>
        <p:nvSpPr>
          <p:cNvPr id="65" name="">
            <a:extLst xmlns:a="http://schemas.openxmlformats.org/drawingml/2006/main">
              <a:ext uri="{FF2B5EF4-FFF2-40B4-BE49-F238E27FC236}">
                <a16:creationId xmlns:a16="http://schemas.microsoft.com/office/drawing/2014/main" id="{5F72DDB9-C96F-4E17-906E-02129573224C}"/>
              </a:ext>
            </a:extLst>
          </p:cNvPr>
          <p:cNvSpPr>
            <a:spLocks xmlns:a="http://schemas.openxmlformats.org/drawingml/2006/main" noGrp="1"/>
          </p:cNvSpPr>
          <p:nvPr/>
        </p:nvSpPr>
        <p:spPr>
          <a:xfrm xmlns:a="http://schemas.openxmlformats.org/drawingml/2006/main">
            <a:off x="5143500" y="47244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6" name="">
            <a:extLst xmlns:a="http://schemas.openxmlformats.org/drawingml/2006/main">
              <a:ext uri="{FF2B5EF4-FFF2-40B4-BE49-F238E27FC236}">
                <a16:creationId xmlns:a16="http://schemas.microsoft.com/office/drawing/2014/main" id="{A4975F06-F8BD-4D9F-8936-F81D6BC4134E}"/>
              </a:ext>
            </a:extLst>
          </p:cNvPr>
          <p:cNvSpPr>
            <a:spLocks xmlns:a="http://schemas.openxmlformats.org/drawingml/2006/main" noGrp="1"/>
          </p:cNvSpPr>
          <p:nvPr/>
        </p:nvSpPr>
        <p:spPr>
          <a:xfrm xmlns:a="http://schemas.openxmlformats.org/drawingml/2006/main">
            <a:off x="5238750" y="4800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Predictive maintenance</a:t>
            </a:r>
          </a:p>
        </p:txBody>
      </p:sp>
      <p:sp>
        <p:nvSpPr>
          <p:cNvPr id="67" name="">
            <a:extLst xmlns:a="http://schemas.openxmlformats.org/drawingml/2006/main">
              <a:ext uri="{FF2B5EF4-FFF2-40B4-BE49-F238E27FC236}">
                <a16:creationId xmlns:a16="http://schemas.microsoft.com/office/drawing/2014/main" id="{09347204-41D5-41EB-B751-AEFB969A200B}"/>
              </a:ext>
            </a:extLst>
          </p:cNvPr>
          <p:cNvSpPr>
            <a:spLocks xmlns:a="http://schemas.openxmlformats.org/drawingml/2006/main" noGrp="1"/>
          </p:cNvSpPr>
          <p:nvPr/>
        </p:nvSpPr>
        <p:spPr>
          <a:xfrm xmlns:a="http://schemas.openxmlformats.org/drawingml/2006/main">
            <a:off x="8572500" y="47244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8" name="">
            <a:extLst xmlns:a="http://schemas.openxmlformats.org/drawingml/2006/main">
              <a:ext uri="{FF2B5EF4-FFF2-40B4-BE49-F238E27FC236}">
                <a16:creationId xmlns:a16="http://schemas.microsoft.com/office/drawing/2014/main" id="{BCDC4B09-5F2D-41D7-B94C-04123483D549}"/>
              </a:ext>
            </a:extLst>
          </p:cNvPr>
          <p:cNvSpPr>
            <a:spLocks xmlns:a="http://schemas.openxmlformats.org/drawingml/2006/main" noGrp="1"/>
          </p:cNvSpPr>
          <p:nvPr/>
        </p:nvSpPr>
        <p:spPr>
          <a:xfrm xmlns:a="http://schemas.openxmlformats.org/drawingml/2006/main">
            <a:off x="8667750" y="48006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Phase 2</a:t>
            </a:r>
          </a:p>
        </p:txBody>
      </p:sp>
      <p:sp>
        <p:nvSpPr>
          <p:cNvPr id="69" name="">
            <a:extLst xmlns:a="http://schemas.openxmlformats.org/drawingml/2006/main">
              <a:ext uri="{FF2B5EF4-FFF2-40B4-BE49-F238E27FC236}">
                <a16:creationId xmlns:a16="http://schemas.microsoft.com/office/drawing/2014/main" id="{BF578351-2397-4108-8A04-7B74A1C98942}"/>
              </a:ext>
            </a:extLst>
          </p:cNvPr>
          <p:cNvSpPr>
            <a:spLocks xmlns:a="http://schemas.openxmlformats.org/drawingml/2006/main" noGrp="1"/>
          </p:cNvSpPr>
          <p:nvPr/>
        </p:nvSpPr>
        <p:spPr>
          <a:xfrm xmlns:a="http://schemas.openxmlformats.org/drawingml/2006/main">
            <a:off x="666750" y="51244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0" name="">
            <a:extLst xmlns:a="http://schemas.openxmlformats.org/drawingml/2006/main">
              <a:ext uri="{FF2B5EF4-FFF2-40B4-BE49-F238E27FC236}">
                <a16:creationId xmlns:a16="http://schemas.microsoft.com/office/drawing/2014/main" id="{1CA37A50-E106-481C-8D94-A9B9D80EFEE1}"/>
              </a:ext>
            </a:extLst>
          </p:cNvPr>
          <p:cNvSpPr>
            <a:spLocks xmlns:a="http://schemas.openxmlformats.org/drawingml/2006/main" noGrp="1"/>
          </p:cNvSpPr>
          <p:nvPr/>
        </p:nvSpPr>
        <p:spPr>
          <a:xfrm xmlns:a="http://schemas.openxmlformats.org/drawingml/2006/main">
            <a:off x="762000" y="52006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Finance</a:t>
            </a:r>
          </a:p>
        </p:txBody>
      </p:sp>
      <p:sp>
        <p:nvSpPr>
          <p:cNvPr id="71" name="">
            <a:extLst xmlns:a="http://schemas.openxmlformats.org/drawingml/2006/main">
              <a:ext uri="{FF2B5EF4-FFF2-40B4-BE49-F238E27FC236}">
                <a16:creationId xmlns:a16="http://schemas.microsoft.com/office/drawing/2014/main" id="{0ED6A14E-61EA-4C05-94E3-F64A364B7030}"/>
              </a:ext>
            </a:extLst>
          </p:cNvPr>
          <p:cNvSpPr>
            <a:spLocks xmlns:a="http://schemas.openxmlformats.org/drawingml/2006/main" noGrp="1"/>
          </p:cNvSpPr>
          <p:nvPr/>
        </p:nvSpPr>
        <p:spPr>
          <a:xfrm xmlns:a="http://schemas.openxmlformats.org/drawingml/2006/main">
            <a:off x="2286000" y="51244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2" name="">
            <a:extLst xmlns:a="http://schemas.openxmlformats.org/drawingml/2006/main">
              <a:ext uri="{FF2B5EF4-FFF2-40B4-BE49-F238E27FC236}">
                <a16:creationId xmlns:a16="http://schemas.microsoft.com/office/drawing/2014/main" id="{9405C629-7733-4D79-BDCD-30BEE0147B46}"/>
              </a:ext>
            </a:extLst>
          </p:cNvPr>
          <p:cNvSpPr>
            <a:spLocks xmlns:a="http://schemas.openxmlformats.org/drawingml/2006/main" noGrp="1"/>
          </p:cNvSpPr>
          <p:nvPr/>
        </p:nvSpPr>
        <p:spPr>
          <a:xfrm xmlns:a="http://schemas.openxmlformats.org/drawingml/2006/main">
            <a:off x="2381250" y="52006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Margin leakage dashboard</a:t>
            </a:r>
          </a:p>
        </p:txBody>
      </p:sp>
      <p:sp>
        <p:nvSpPr>
          <p:cNvPr id="73" name="">
            <a:extLst xmlns:a="http://schemas.openxmlformats.org/drawingml/2006/main">
              <a:ext uri="{FF2B5EF4-FFF2-40B4-BE49-F238E27FC236}">
                <a16:creationId xmlns:a16="http://schemas.microsoft.com/office/drawing/2014/main" id="{3FC53125-6F2B-40F1-997E-D94F43ABAEBF}"/>
              </a:ext>
            </a:extLst>
          </p:cNvPr>
          <p:cNvSpPr>
            <a:spLocks xmlns:a="http://schemas.openxmlformats.org/drawingml/2006/main" noGrp="1"/>
          </p:cNvSpPr>
          <p:nvPr/>
        </p:nvSpPr>
        <p:spPr>
          <a:xfrm xmlns:a="http://schemas.openxmlformats.org/drawingml/2006/main">
            <a:off x="5143500" y="51244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4" name="">
            <a:extLst xmlns:a="http://schemas.openxmlformats.org/drawingml/2006/main">
              <a:ext uri="{FF2B5EF4-FFF2-40B4-BE49-F238E27FC236}">
                <a16:creationId xmlns:a16="http://schemas.microsoft.com/office/drawing/2014/main" id="{C12BACD0-8D6E-43AB-B190-ACBF5DAF8BDE}"/>
              </a:ext>
            </a:extLst>
          </p:cNvPr>
          <p:cNvSpPr>
            <a:spLocks xmlns:a="http://schemas.openxmlformats.org/drawingml/2006/main" noGrp="1"/>
          </p:cNvSpPr>
          <p:nvPr/>
        </p:nvSpPr>
        <p:spPr>
          <a:xfrm xmlns:a="http://schemas.openxmlformats.org/drawingml/2006/main">
            <a:off x="5238750" y="5200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Quote-to-margin AI</a:t>
            </a:r>
          </a:p>
        </p:txBody>
      </p:sp>
      <p:sp>
        <p:nvSpPr>
          <p:cNvPr id="75" name="">
            <a:extLst xmlns:a="http://schemas.openxmlformats.org/drawingml/2006/main">
              <a:ext uri="{FF2B5EF4-FFF2-40B4-BE49-F238E27FC236}">
                <a16:creationId xmlns:a16="http://schemas.microsoft.com/office/drawing/2014/main" id="{9F35EB32-53D2-474F-8620-4BAB826A0D1B}"/>
              </a:ext>
            </a:extLst>
          </p:cNvPr>
          <p:cNvSpPr>
            <a:spLocks xmlns:a="http://schemas.openxmlformats.org/drawingml/2006/main" noGrp="1"/>
          </p:cNvSpPr>
          <p:nvPr/>
        </p:nvSpPr>
        <p:spPr>
          <a:xfrm xmlns:a="http://schemas.openxmlformats.org/drawingml/2006/main">
            <a:off x="8572500" y="51244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6" name="">
            <a:extLst xmlns:a="http://schemas.openxmlformats.org/drawingml/2006/main">
              <a:ext uri="{FF2B5EF4-FFF2-40B4-BE49-F238E27FC236}">
                <a16:creationId xmlns:a16="http://schemas.microsoft.com/office/drawing/2014/main" id="{F1EE0FEE-77FC-45C9-8B2A-3CCE168F0BDC}"/>
              </a:ext>
            </a:extLst>
          </p:cNvPr>
          <p:cNvSpPr>
            <a:spLocks xmlns:a="http://schemas.openxmlformats.org/drawingml/2006/main" noGrp="1"/>
          </p:cNvSpPr>
          <p:nvPr/>
        </p:nvSpPr>
        <p:spPr>
          <a:xfrm xmlns:a="http://schemas.openxmlformats.org/drawingml/2006/main">
            <a:off x="8667750" y="52006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111111"/>
                </a:solidFill>
              </a:defRPr>
            </a:pPr>
            <a:r>
              <a:rPr sz="900" b="0">
                <a:solidFill>
                  <a:srgbClr val="111111"/>
                </a:solidFill>
              </a:rPr>
              <a:t>Phase 2</a:t>
            </a:r>
          </a:p>
        </p:txBody>
      </p:sp>
      <p:sp>
        <p:nvSpPr>
          <p:cNvPr id="77" name="">
            <a:extLst xmlns:a="http://schemas.openxmlformats.org/drawingml/2006/main">
              <a:ext uri="{FF2B5EF4-FFF2-40B4-BE49-F238E27FC236}">
                <a16:creationId xmlns:a16="http://schemas.microsoft.com/office/drawing/2014/main" id="{B2CBE6E2-2ABD-4DAE-8796-DF6B23CF5016}"/>
              </a:ext>
            </a:extLst>
          </p:cNvPr>
          <p:cNvSpPr>
            <a:spLocks xmlns:a="http://schemas.openxmlformats.org/drawingml/2006/main" noGrp="1"/>
          </p:cNvSpPr>
          <p:nvPr/>
        </p:nvSpPr>
        <p:spPr>
          <a:xfrm xmlns:a="http://schemas.openxmlformats.org/drawingml/2006/main">
            <a:off x="666750" y="1924050"/>
            <a:ext cx="9048750" cy="360045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78" name="">
            <a:extLst xmlns:a="http://schemas.openxmlformats.org/drawingml/2006/main">
              <a:ext uri="{FF2B5EF4-FFF2-40B4-BE49-F238E27FC236}">
                <a16:creationId xmlns:a16="http://schemas.microsoft.com/office/drawing/2014/main" id="{9A1E1F4C-15B5-46A0-8F71-6AEA271DF2D6}"/>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79" name="">
            <a:extLst xmlns:a="http://schemas.openxmlformats.org/drawingml/2006/main">
              <a:ext uri="{FF2B5EF4-FFF2-40B4-BE49-F238E27FC236}">
                <a16:creationId xmlns:a16="http://schemas.microsoft.com/office/drawing/2014/main" id="{8C477B08-25E0-4058-B4BD-CA1D36040038}"/>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06</a:t>
            </a:r>
          </a:p>
        </p:txBody>
      </p:sp>
    </p:spTree>
    <p:extLst>
      <p:ext uri="{BB962C8B-B14F-4D97-AF65-F5344CB8AC3E}">
        <p14:creationId xmlns:p14="http://schemas.microsoft.com/office/powerpoint/2010/main" val="21158462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F93D94-871D-430C-8323-7C78B34C0396}"/>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PILOT</a:t>
            </a:r>
          </a:p>
        </p:txBody>
      </p:sp>
      <p:sp>
        <p:nvSpPr>
          <p:cNvPr id="2" name="">
            <a:extLst xmlns:a="http://schemas.openxmlformats.org/drawingml/2006/main">
              <a:ext uri="{FF2B5EF4-FFF2-40B4-BE49-F238E27FC236}">
                <a16:creationId xmlns:a16="http://schemas.microsoft.com/office/drawing/2014/main" id="{076B3212-EA87-4059-BE4A-84DAFFDD3789}"/>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Recommended pilot: Quality Intelligence</a:t>
            </a:r>
          </a:p>
        </p:txBody>
      </p:sp>
      <p:sp>
        <p:nvSpPr>
          <p:cNvPr id="3" name="">
            <a:extLst xmlns:a="http://schemas.openxmlformats.org/drawingml/2006/main">
              <a:ext uri="{FF2B5EF4-FFF2-40B4-BE49-F238E27FC236}">
                <a16:creationId xmlns:a16="http://schemas.microsoft.com/office/drawing/2014/main" id="{06284D2F-E1E7-4529-A667-46F962BAAB1D}"/>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 read-only pilot that turns existing evidence into root-cause and traceability insight.</a:t>
            </a:r>
          </a:p>
        </p:txBody>
      </p:sp>
      <p:sp>
        <p:nvSpPr>
          <p:cNvPr id="4" name="">
            <a:extLst xmlns:a="http://schemas.openxmlformats.org/drawingml/2006/main">
              <a:ext uri="{FF2B5EF4-FFF2-40B4-BE49-F238E27FC236}">
                <a16:creationId xmlns:a16="http://schemas.microsoft.com/office/drawing/2014/main" id="{7CEFB0B9-A907-4175-8857-36A461B1603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2F838860-F790-4E5C-A9AD-1A33C28E6AA7}"/>
              </a:ext>
            </a:extLst>
          </p:cNvPr>
          <p:cNvSpPr>
            <a:spLocks xmlns:a="http://schemas.openxmlformats.org/drawingml/2006/main" noGrp="1"/>
          </p:cNvSpPr>
          <p:nvPr/>
        </p:nvSpPr>
        <p:spPr>
          <a:xfrm xmlns:a="http://schemas.openxmlformats.org/drawingml/2006/main">
            <a:off x="762000" y="2095500"/>
            <a:ext cx="3143250" cy="28575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4DF2CE-8448-4B35-9A19-2AC6A520AC0A}"/>
              </a:ext>
            </a:extLst>
          </p:cNvPr>
          <p:cNvSpPr>
            <a:spLocks xmlns:a="http://schemas.openxmlformats.org/drawingml/2006/main" noGrp="1"/>
          </p:cNvSpPr>
          <p:nvPr/>
        </p:nvSpPr>
        <p:spPr>
          <a:xfrm xmlns:a="http://schemas.openxmlformats.org/drawingml/2006/main">
            <a:off x="104775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Pilot scope</a:t>
            </a:r>
          </a:p>
        </p:txBody>
      </p:sp>
      <p:sp>
        <p:nvSpPr>
          <p:cNvPr id="7" name="">
            <a:extLst xmlns:a="http://schemas.openxmlformats.org/drawingml/2006/main">
              <a:ext uri="{FF2B5EF4-FFF2-40B4-BE49-F238E27FC236}">
                <a16:creationId xmlns:a16="http://schemas.microsoft.com/office/drawing/2014/main" id="{B8E1047E-66FE-4E8E-937A-435D855B289D}"/>
              </a:ext>
            </a:extLst>
          </p:cNvPr>
          <p:cNvSpPr>
            <a:spLocks xmlns:a="http://schemas.openxmlformats.org/drawingml/2006/main" noGrp="1"/>
          </p:cNvSpPr>
          <p:nvPr/>
        </p:nvSpPr>
        <p:spPr>
          <a:xfrm xmlns:a="http://schemas.openxmlformats.org/drawingml/2006/main">
            <a:off x="1047750" y="295275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 One product family or line</a:t>
            </a:r>
          </a:p>
          <a:p xmlns:a="http://schemas.openxmlformats.org/drawingml/2006/main">
            <a:pPr algn="l">
              <a:defRPr sz="1350" b="0">
                <a:solidFill>
                  <a:srgbClr val="FFFFFF"/>
                </a:solidFill>
              </a:defRPr>
            </a:pPr>
            <a:r>
              <a:rPr sz="1350" b="0">
                <a:solidFill>
                  <a:srgbClr val="FFFFFF"/>
                </a:solidFill>
              </a:rPr>
              <a:t>- ERP/order context</a:t>
            </a:r>
          </a:p>
          <a:p xmlns:a="http://schemas.openxmlformats.org/drawingml/2006/main">
            <a:pPr algn="l">
              <a:defRPr sz="1350" b="0">
                <a:solidFill>
                  <a:srgbClr val="FFFFFF"/>
                </a:solidFill>
              </a:defRPr>
            </a:pPr>
            <a:r>
              <a:rPr sz="1350" b="0">
                <a:solidFill>
                  <a:srgbClr val="FFFFFF"/>
                </a:solidFill>
              </a:rPr>
              <a:t>- Inspection/defect evidence</a:t>
            </a:r>
          </a:p>
          <a:p xmlns:a="http://schemas.openxmlformats.org/drawingml/2006/main">
            <a:pPr algn="l">
              <a:defRPr sz="1350" b="0">
                <a:solidFill>
                  <a:srgbClr val="FFFFFF"/>
                </a:solidFill>
              </a:defRPr>
            </a:pPr>
            <a:r>
              <a:rPr sz="1350" b="0">
                <a:solidFill>
                  <a:srgbClr val="FFFFFF"/>
                </a:solidFill>
              </a:rPr>
              <a:t>- QC and lab results</a:t>
            </a:r>
          </a:p>
          <a:p xmlns:a="http://schemas.openxmlformats.org/drawingml/2006/main">
            <a:pPr algn="l">
              <a:defRPr sz="1350" b="0">
                <a:solidFill>
                  <a:srgbClr val="FFFFFF"/>
                </a:solidFill>
              </a:defRPr>
            </a:pPr>
            <a:r>
              <a:rPr sz="1350" b="0">
                <a:solidFill>
                  <a:srgbClr val="FFFFFF"/>
                </a:solidFill>
              </a:rPr>
              <a:t>- Operator and complaint notes</a:t>
            </a:r>
          </a:p>
        </p:txBody>
      </p:sp>
      <p:sp>
        <p:nvSpPr>
          <p:cNvPr id="8" name="">
            <a:extLst xmlns:a="http://schemas.openxmlformats.org/drawingml/2006/main">
              <a:ext uri="{FF2B5EF4-FFF2-40B4-BE49-F238E27FC236}">
                <a16:creationId xmlns:a16="http://schemas.microsoft.com/office/drawing/2014/main" id="{E853C104-BCE1-4446-9544-EFD9D235FFA0}"/>
              </a:ext>
            </a:extLst>
          </p:cNvPr>
          <p:cNvSpPr>
            <a:spLocks xmlns:a="http://schemas.openxmlformats.org/drawingml/2006/main" noGrp="1"/>
          </p:cNvSpPr>
          <p:nvPr/>
        </p:nvSpPr>
        <p:spPr>
          <a:xfrm xmlns:a="http://schemas.openxmlformats.org/drawingml/2006/main">
            <a:off x="4476750" y="2095500"/>
            <a:ext cx="3143250" cy="2857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6A24FDCB-CB7B-4680-8CC5-1301CC90A1E0}"/>
              </a:ext>
            </a:extLst>
          </p:cNvPr>
          <p:cNvSpPr>
            <a:spLocks xmlns:a="http://schemas.openxmlformats.org/drawingml/2006/main" noGrp="1"/>
          </p:cNvSpPr>
          <p:nvPr/>
        </p:nvSpPr>
        <p:spPr>
          <a:xfrm xmlns:a="http://schemas.openxmlformats.org/drawingml/2006/main">
            <a:off x="476250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1111"/>
                </a:solidFill>
              </a:defRPr>
            </a:pPr>
            <a:r>
              <a:rPr sz="1950" b="1">
                <a:solidFill>
                  <a:srgbClr val="111111"/>
                </a:solidFill>
              </a:rPr>
              <a:t>Pilot outputs</a:t>
            </a:r>
          </a:p>
        </p:txBody>
      </p:sp>
      <p:sp>
        <p:nvSpPr>
          <p:cNvPr id="10" name="">
            <a:extLst xmlns:a="http://schemas.openxmlformats.org/drawingml/2006/main">
              <a:ext uri="{FF2B5EF4-FFF2-40B4-BE49-F238E27FC236}">
                <a16:creationId xmlns:a16="http://schemas.microsoft.com/office/drawing/2014/main" id="{82A2D0AB-A617-4422-9BE9-361BD64C101A}"/>
              </a:ext>
            </a:extLst>
          </p:cNvPr>
          <p:cNvSpPr>
            <a:spLocks xmlns:a="http://schemas.openxmlformats.org/drawingml/2006/main" noGrp="1"/>
          </p:cNvSpPr>
          <p:nvPr/>
        </p:nvSpPr>
        <p:spPr>
          <a:xfrm xmlns:a="http://schemas.openxmlformats.org/drawingml/2006/main">
            <a:off x="4762500" y="295275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 Defect Pareto by roll/product</a:t>
            </a:r>
          </a:p>
          <a:p xmlns:a="http://schemas.openxmlformats.org/drawingml/2006/main">
            <a:pPr algn="l">
              <a:defRPr sz="1350" b="0">
                <a:solidFill>
                  <a:srgbClr val="111111"/>
                </a:solidFill>
              </a:defRPr>
            </a:pPr>
            <a:r>
              <a:rPr sz="1350" b="0">
                <a:solidFill>
                  <a:srgbClr val="111111"/>
                </a:solidFill>
              </a:rPr>
              <a:t>- Process-quality correlations</a:t>
            </a:r>
          </a:p>
          <a:p xmlns:a="http://schemas.openxmlformats.org/drawingml/2006/main">
            <a:pPr algn="l">
              <a:defRPr sz="1350" b="0">
                <a:solidFill>
                  <a:srgbClr val="111111"/>
                </a:solidFill>
              </a:defRPr>
            </a:pPr>
            <a:r>
              <a:rPr sz="1350" b="0">
                <a:solidFill>
                  <a:srgbClr val="111111"/>
                </a:solidFill>
              </a:rPr>
              <a:t>- Roll quality passport</a:t>
            </a:r>
          </a:p>
          <a:p xmlns:a="http://schemas.openxmlformats.org/drawingml/2006/main">
            <a:pPr algn="l">
              <a:defRPr sz="1350" b="0">
                <a:solidFill>
                  <a:srgbClr val="111111"/>
                </a:solidFill>
              </a:defRPr>
            </a:pPr>
            <a:r>
              <a:rPr sz="1350" b="0">
                <a:solidFill>
                  <a:srgbClr val="111111"/>
                </a:solidFill>
              </a:rPr>
              <a:t>- Root-cause shortlist</a:t>
            </a:r>
          </a:p>
          <a:p xmlns:a="http://schemas.openxmlformats.org/drawingml/2006/main">
            <a:pPr algn="l">
              <a:defRPr sz="1350" b="0">
                <a:solidFill>
                  <a:srgbClr val="111111"/>
                </a:solidFill>
              </a:defRPr>
            </a:pPr>
            <a:r>
              <a:rPr sz="1350" b="0">
                <a:solidFill>
                  <a:srgbClr val="111111"/>
                </a:solidFill>
              </a:rPr>
              <a:t>- Scale-up data requirements</a:t>
            </a:r>
          </a:p>
        </p:txBody>
      </p:sp>
      <p:sp>
        <p:nvSpPr>
          <p:cNvPr id="11" name="">
            <a:extLst xmlns:a="http://schemas.openxmlformats.org/drawingml/2006/main">
              <a:ext uri="{FF2B5EF4-FFF2-40B4-BE49-F238E27FC236}">
                <a16:creationId xmlns:a16="http://schemas.microsoft.com/office/drawing/2014/main" id="{E235054E-FEDE-46A7-B83B-707B9A0B3768}"/>
              </a:ext>
            </a:extLst>
          </p:cNvPr>
          <p:cNvSpPr>
            <a:spLocks xmlns:a="http://schemas.openxmlformats.org/drawingml/2006/main" noGrp="1"/>
          </p:cNvSpPr>
          <p:nvPr/>
        </p:nvSpPr>
        <p:spPr>
          <a:xfrm xmlns:a="http://schemas.openxmlformats.org/drawingml/2006/main">
            <a:off x="8191500" y="2095500"/>
            <a:ext cx="3143250" cy="2857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9E410A62-EFB8-40C3-913F-1950CB546D51}"/>
              </a:ext>
            </a:extLst>
          </p:cNvPr>
          <p:cNvSpPr>
            <a:spLocks xmlns:a="http://schemas.openxmlformats.org/drawingml/2006/main" noGrp="1"/>
          </p:cNvSpPr>
          <p:nvPr/>
        </p:nvSpPr>
        <p:spPr>
          <a:xfrm xmlns:a="http://schemas.openxmlformats.org/drawingml/2006/main">
            <a:off x="847725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1111"/>
                </a:solidFill>
              </a:defRPr>
            </a:pPr>
            <a:r>
              <a:rPr sz="1950" b="1">
                <a:solidFill>
                  <a:srgbClr val="111111"/>
                </a:solidFill>
              </a:rPr>
              <a:t>Why this wins</a:t>
            </a:r>
          </a:p>
        </p:txBody>
      </p:sp>
      <p:sp>
        <p:nvSpPr>
          <p:cNvPr id="13" name="">
            <a:extLst xmlns:a="http://schemas.openxmlformats.org/drawingml/2006/main">
              <a:ext uri="{FF2B5EF4-FFF2-40B4-BE49-F238E27FC236}">
                <a16:creationId xmlns:a16="http://schemas.microsoft.com/office/drawing/2014/main" id="{1CF365AA-0A8C-4E66-A890-81A4C64B60F5}"/>
              </a:ext>
            </a:extLst>
          </p:cNvPr>
          <p:cNvSpPr>
            <a:spLocks xmlns:a="http://schemas.openxmlformats.org/drawingml/2006/main" noGrp="1"/>
          </p:cNvSpPr>
          <p:nvPr/>
        </p:nvSpPr>
        <p:spPr>
          <a:xfrm xmlns:a="http://schemas.openxmlformats.org/drawingml/2006/main">
            <a:off x="8477250" y="2952750"/>
            <a:ext cx="238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 Measurable in 12 weeks</a:t>
            </a:r>
          </a:p>
          <a:p xmlns:a="http://schemas.openxmlformats.org/drawingml/2006/main">
            <a:pPr algn="l">
              <a:defRPr sz="1350" b="0">
                <a:solidFill>
                  <a:srgbClr val="111111"/>
                </a:solidFill>
              </a:defRPr>
            </a:pPr>
            <a:r>
              <a:rPr sz="1350" b="0">
                <a:solidFill>
                  <a:srgbClr val="111111"/>
                </a:solidFill>
              </a:rPr>
              <a:t>- Low risk: no control loop</a:t>
            </a:r>
          </a:p>
          <a:p xmlns:a="http://schemas.openxmlformats.org/drawingml/2006/main">
            <a:pPr algn="l">
              <a:defRPr sz="1350" b="0">
                <a:solidFill>
                  <a:srgbClr val="111111"/>
                </a:solidFill>
              </a:defRPr>
            </a:pPr>
            <a:r>
              <a:rPr sz="1350" b="0">
                <a:solidFill>
                  <a:srgbClr val="111111"/>
                </a:solidFill>
              </a:rPr>
              <a:t>- Useful for quality, R&amp;D, production</a:t>
            </a:r>
          </a:p>
          <a:p xmlns:a="http://schemas.openxmlformats.org/drawingml/2006/main">
            <a:pPr algn="l">
              <a:defRPr sz="1350" b="0">
                <a:solidFill>
                  <a:srgbClr val="111111"/>
                </a:solidFill>
              </a:defRPr>
            </a:pPr>
            <a:r>
              <a:rPr sz="1350" b="0">
                <a:solidFill>
                  <a:srgbClr val="111111"/>
                </a:solidFill>
              </a:rPr>
              <a:t>- Creates data spine for platform</a:t>
            </a:r>
          </a:p>
        </p:txBody>
      </p:sp>
      <p:sp>
        <p:nvSpPr>
          <p:cNvPr id="14" name="">
            <a:extLst xmlns:a="http://schemas.openxmlformats.org/drawingml/2006/main">
              <a:ext uri="{FF2B5EF4-FFF2-40B4-BE49-F238E27FC236}">
                <a16:creationId xmlns:a16="http://schemas.microsoft.com/office/drawing/2014/main" id="{021C1C7E-1E91-48B8-94EB-A0390340321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15" name="">
            <a:extLst xmlns:a="http://schemas.openxmlformats.org/drawingml/2006/main">
              <a:ext uri="{FF2B5EF4-FFF2-40B4-BE49-F238E27FC236}">
                <a16:creationId xmlns:a16="http://schemas.microsoft.com/office/drawing/2014/main" id="{4595D78F-A136-45C7-A408-5D66B9E3348D}"/>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07</a:t>
            </a:r>
          </a:p>
        </p:txBody>
      </p:sp>
    </p:spTree>
    <p:extLst>
      <p:ext uri="{BB962C8B-B14F-4D97-AF65-F5344CB8AC3E}">
        <p14:creationId xmlns:p14="http://schemas.microsoft.com/office/powerpoint/2010/main" val="3736984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9AB8AD-9465-422B-BC32-6221DE5895B2}"/>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PILOT ARCHITECTURE</a:t>
            </a:r>
          </a:p>
        </p:txBody>
      </p:sp>
      <p:sp>
        <p:nvSpPr>
          <p:cNvPr id="2" name="">
            <a:extLst xmlns:a="http://schemas.openxmlformats.org/drawingml/2006/main">
              <a:ext uri="{FF2B5EF4-FFF2-40B4-BE49-F238E27FC236}">
                <a16:creationId xmlns:a16="http://schemas.microsoft.com/office/drawing/2014/main" id="{31CCBD7F-CD62-40DA-AC99-A5C60D611EFC}"/>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pilot architecture is simple and scalable</a:t>
            </a:r>
          </a:p>
        </p:txBody>
      </p:sp>
      <p:sp>
        <p:nvSpPr>
          <p:cNvPr id="3" name="">
            <a:extLst xmlns:a="http://schemas.openxmlformats.org/drawingml/2006/main">
              <a:ext uri="{FF2B5EF4-FFF2-40B4-BE49-F238E27FC236}">
                <a16:creationId xmlns:a16="http://schemas.microsoft.com/office/drawing/2014/main" id="{27D0B4EE-6BD7-4B7A-92BD-F7AEC1857375}"/>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Read-only connectors feed one traceable quality model.</a:t>
            </a:r>
          </a:p>
        </p:txBody>
      </p:sp>
      <p:sp>
        <p:nvSpPr>
          <p:cNvPr id="4" name="">
            <a:extLst xmlns:a="http://schemas.openxmlformats.org/drawingml/2006/main">
              <a:ext uri="{FF2B5EF4-FFF2-40B4-BE49-F238E27FC236}">
                <a16:creationId xmlns:a16="http://schemas.microsoft.com/office/drawing/2014/main" id="{C344FB75-3326-4059-BA59-6F67BF19520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00948E0A-2A60-4110-A72E-2791165863DB}"/>
              </a:ext>
            </a:extLst>
          </p:cNvPr>
          <p:cNvSpPr>
            <a:spLocks xmlns:a="http://schemas.openxmlformats.org/drawingml/2006/main" noGrp="1"/>
          </p:cNvSpPr>
          <p:nvPr/>
        </p:nvSpPr>
        <p:spPr>
          <a:xfrm xmlns:a="http://schemas.openxmlformats.org/drawingml/2006/main">
            <a:off x="6667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57924EF3-CD0E-4FD2-8F59-9A7EEDA3421F}"/>
              </a:ext>
            </a:extLst>
          </p:cNvPr>
          <p:cNvSpPr>
            <a:spLocks xmlns:a="http://schemas.openxmlformats.org/drawingml/2006/main" noGrp="1"/>
          </p:cNvSpPr>
          <p:nvPr/>
        </p:nvSpPr>
        <p:spPr>
          <a:xfrm xmlns:a="http://schemas.openxmlformats.org/drawingml/2006/main">
            <a:off x="8001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ERP / order</a:t>
            </a:r>
          </a:p>
        </p:txBody>
      </p:sp>
      <p:sp>
        <p:nvSpPr>
          <p:cNvPr id="7" name="">
            <a:extLst xmlns:a="http://schemas.openxmlformats.org/drawingml/2006/main">
              <a:ext uri="{FF2B5EF4-FFF2-40B4-BE49-F238E27FC236}">
                <a16:creationId xmlns:a16="http://schemas.microsoft.com/office/drawing/2014/main" id="{EF31F885-359A-4AB7-AF7C-7A0F2DE7BD00}"/>
              </a:ext>
            </a:extLst>
          </p:cNvPr>
          <p:cNvSpPr>
            <a:spLocks xmlns:a="http://schemas.openxmlformats.org/drawingml/2006/main" noGrp="1"/>
          </p:cNvSpPr>
          <p:nvPr/>
        </p:nvSpPr>
        <p:spPr>
          <a:xfrm xmlns:a="http://schemas.openxmlformats.org/drawingml/2006/main">
            <a:off x="8001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customer, product, route, roll</a:t>
            </a:r>
          </a:p>
        </p:txBody>
      </p:sp>
      <p:sp>
        <p:nvSpPr>
          <p:cNvPr id="8" name="">
            <a:extLst xmlns:a="http://schemas.openxmlformats.org/drawingml/2006/main">
              <a:ext uri="{FF2B5EF4-FFF2-40B4-BE49-F238E27FC236}">
                <a16:creationId xmlns:a16="http://schemas.microsoft.com/office/drawing/2014/main" id="{50FDBB85-8D60-44E3-BD44-B4382A851F8B}"/>
              </a:ext>
            </a:extLst>
          </p:cNvPr>
          <p:cNvSpPr>
            <a:spLocks xmlns:a="http://schemas.openxmlformats.org/drawingml/2006/main" noGrp="1"/>
          </p:cNvSpPr>
          <p:nvPr/>
        </p:nvSpPr>
        <p:spPr>
          <a:xfrm xmlns:a="http://schemas.openxmlformats.org/drawingml/2006/main">
            <a:off x="262890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A1A25960-ED88-4991-981D-B30CC278150C}"/>
              </a:ext>
            </a:extLst>
          </p:cNvPr>
          <p:cNvSpPr>
            <a:spLocks xmlns:a="http://schemas.openxmlformats.org/drawingml/2006/main" noGrp="1"/>
          </p:cNvSpPr>
          <p:nvPr/>
        </p:nvSpPr>
        <p:spPr>
          <a:xfrm xmlns:a="http://schemas.openxmlformats.org/drawingml/2006/main">
            <a:off x="276225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Production</a:t>
            </a:r>
          </a:p>
        </p:txBody>
      </p:sp>
      <p:sp>
        <p:nvSpPr>
          <p:cNvPr id="10" name="">
            <a:extLst xmlns:a="http://schemas.openxmlformats.org/drawingml/2006/main">
              <a:ext uri="{FF2B5EF4-FFF2-40B4-BE49-F238E27FC236}">
                <a16:creationId xmlns:a16="http://schemas.microsoft.com/office/drawing/2014/main" id="{E30B17CF-8EA8-4B52-BC4C-DDE652A13FEB}"/>
              </a:ext>
            </a:extLst>
          </p:cNvPr>
          <p:cNvSpPr>
            <a:spLocks xmlns:a="http://schemas.openxmlformats.org/drawingml/2006/main" noGrp="1"/>
          </p:cNvSpPr>
          <p:nvPr/>
        </p:nvSpPr>
        <p:spPr>
          <a:xfrm xmlns:a="http://schemas.openxmlformats.org/drawingml/2006/main">
            <a:off x="276225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recipe, settings, line, time</a:t>
            </a:r>
          </a:p>
        </p:txBody>
      </p:sp>
      <p:sp>
        <p:nvSpPr>
          <p:cNvPr id="11" name="">
            <a:extLst xmlns:a="http://schemas.openxmlformats.org/drawingml/2006/main">
              <a:ext uri="{FF2B5EF4-FFF2-40B4-BE49-F238E27FC236}">
                <a16:creationId xmlns:a16="http://schemas.microsoft.com/office/drawing/2014/main" id="{98797000-F60C-4391-9663-7B2EB20ACD98}"/>
              </a:ext>
            </a:extLst>
          </p:cNvPr>
          <p:cNvSpPr>
            <a:spLocks xmlns:a="http://schemas.openxmlformats.org/drawingml/2006/main" noGrp="1"/>
          </p:cNvSpPr>
          <p:nvPr/>
        </p:nvSpPr>
        <p:spPr>
          <a:xfrm xmlns:a="http://schemas.openxmlformats.org/drawingml/2006/main">
            <a:off x="45910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3477D790-0770-4B5D-8285-69774B8B7881}"/>
              </a:ext>
            </a:extLst>
          </p:cNvPr>
          <p:cNvSpPr>
            <a:spLocks xmlns:a="http://schemas.openxmlformats.org/drawingml/2006/main" noGrp="1"/>
          </p:cNvSpPr>
          <p:nvPr/>
        </p:nvSpPr>
        <p:spPr>
          <a:xfrm xmlns:a="http://schemas.openxmlformats.org/drawingml/2006/main">
            <a:off x="47244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Inspection</a:t>
            </a:r>
          </a:p>
        </p:txBody>
      </p:sp>
      <p:sp>
        <p:nvSpPr>
          <p:cNvPr id="13" name="">
            <a:extLst xmlns:a="http://schemas.openxmlformats.org/drawingml/2006/main">
              <a:ext uri="{FF2B5EF4-FFF2-40B4-BE49-F238E27FC236}">
                <a16:creationId xmlns:a16="http://schemas.microsoft.com/office/drawing/2014/main" id="{06562060-8AB3-41C6-A922-B345F0A9312A}"/>
              </a:ext>
            </a:extLst>
          </p:cNvPr>
          <p:cNvSpPr>
            <a:spLocks xmlns:a="http://schemas.openxmlformats.org/drawingml/2006/main" noGrp="1"/>
          </p:cNvSpPr>
          <p:nvPr/>
        </p:nvSpPr>
        <p:spPr>
          <a:xfrm xmlns:a="http://schemas.openxmlformats.org/drawingml/2006/main">
            <a:off x="47244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images, labels, defects</a:t>
            </a:r>
          </a:p>
        </p:txBody>
      </p:sp>
      <p:sp>
        <p:nvSpPr>
          <p:cNvPr id="14" name="">
            <a:extLst xmlns:a="http://schemas.openxmlformats.org/drawingml/2006/main">
              <a:ext uri="{FF2B5EF4-FFF2-40B4-BE49-F238E27FC236}">
                <a16:creationId xmlns:a16="http://schemas.microsoft.com/office/drawing/2014/main" id="{2ECA6BE9-C6BA-4800-8F47-C11E27B03B9C}"/>
              </a:ext>
            </a:extLst>
          </p:cNvPr>
          <p:cNvSpPr>
            <a:spLocks xmlns:a="http://schemas.openxmlformats.org/drawingml/2006/main" noGrp="1"/>
          </p:cNvSpPr>
          <p:nvPr/>
        </p:nvSpPr>
        <p:spPr>
          <a:xfrm xmlns:a="http://schemas.openxmlformats.org/drawingml/2006/main">
            <a:off x="655320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CDA3FC04-4D5D-4E14-A249-A174E1C66EB7}"/>
              </a:ext>
            </a:extLst>
          </p:cNvPr>
          <p:cNvSpPr>
            <a:spLocks xmlns:a="http://schemas.openxmlformats.org/drawingml/2006/main" noGrp="1"/>
          </p:cNvSpPr>
          <p:nvPr/>
        </p:nvSpPr>
        <p:spPr>
          <a:xfrm xmlns:a="http://schemas.openxmlformats.org/drawingml/2006/main">
            <a:off x="668655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QC / lab</a:t>
            </a:r>
          </a:p>
        </p:txBody>
      </p:sp>
      <p:sp>
        <p:nvSpPr>
          <p:cNvPr id="16" name="">
            <a:extLst xmlns:a="http://schemas.openxmlformats.org/drawingml/2006/main">
              <a:ext uri="{FF2B5EF4-FFF2-40B4-BE49-F238E27FC236}">
                <a16:creationId xmlns:a16="http://schemas.microsoft.com/office/drawing/2014/main" id="{AB3F7338-6511-4D86-A2FF-A33CFEDA7F06}"/>
              </a:ext>
            </a:extLst>
          </p:cNvPr>
          <p:cNvSpPr>
            <a:spLocks xmlns:a="http://schemas.openxmlformats.org/drawingml/2006/main" noGrp="1"/>
          </p:cNvSpPr>
          <p:nvPr/>
        </p:nvSpPr>
        <p:spPr>
          <a:xfrm xmlns:a="http://schemas.openxmlformats.org/drawingml/2006/main">
            <a:off x="668655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tests, release, certificates</a:t>
            </a:r>
          </a:p>
        </p:txBody>
      </p:sp>
      <p:sp>
        <p:nvSpPr>
          <p:cNvPr id="17" name="">
            <a:extLst xmlns:a="http://schemas.openxmlformats.org/drawingml/2006/main">
              <a:ext uri="{FF2B5EF4-FFF2-40B4-BE49-F238E27FC236}">
                <a16:creationId xmlns:a16="http://schemas.microsoft.com/office/drawing/2014/main" id="{CE805D7E-6668-415B-A233-65B24BC9BF82}"/>
              </a:ext>
            </a:extLst>
          </p:cNvPr>
          <p:cNvSpPr>
            <a:spLocks xmlns:a="http://schemas.openxmlformats.org/drawingml/2006/main" noGrp="1"/>
          </p:cNvSpPr>
          <p:nvPr/>
        </p:nvSpPr>
        <p:spPr>
          <a:xfrm xmlns:a="http://schemas.openxmlformats.org/drawingml/2006/main">
            <a:off x="85153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1AF2C094-8982-4731-8BE1-6B4A90F5CD9B}"/>
              </a:ext>
            </a:extLst>
          </p:cNvPr>
          <p:cNvSpPr>
            <a:spLocks xmlns:a="http://schemas.openxmlformats.org/drawingml/2006/main" noGrp="1"/>
          </p:cNvSpPr>
          <p:nvPr/>
        </p:nvSpPr>
        <p:spPr>
          <a:xfrm xmlns:a="http://schemas.openxmlformats.org/drawingml/2006/main">
            <a:off x="86487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Complaints</a:t>
            </a:r>
          </a:p>
        </p:txBody>
      </p:sp>
      <p:sp>
        <p:nvSpPr>
          <p:cNvPr id="19" name="">
            <a:extLst xmlns:a="http://schemas.openxmlformats.org/drawingml/2006/main">
              <a:ext uri="{FF2B5EF4-FFF2-40B4-BE49-F238E27FC236}">
                <a16:creationId xmlns:a16="http://schemas.microsoft.com/office/drawing/2014/main" id="{F551C471-138C-4719-9566-4E24D08948C8}"/>
              </a:ext>
            </a:extLst>
          </p:cNvPr>
          <p:cNvSpPr>
            <a:spLocks xmlns:a="http://schemas.openxmlformats.org/drawingml/2006/main" noGrp="1"/>
          </p:cNvSpPr>
          <p:nvPr/>
        </p:nvSpPr>
        <p:spPr>
          <a:xfrm xmlns:a="http://schemas.openxmlformats.org/drawingml/2006/main">
            <a:off x="86487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customer feedback, CAPA</a:t>
            </a:r>
          </a:p>
        </p:txBody>
      </p:sp>
      <p:sp>
        <p:nvSpPr>
          <p:cNvPr id="20" name="">
            <a:extLst xmlns:a="http://schemas.openxmlformats.org/drawingml/2006/main">
              <a:ext uri="{FF2B5EF4-FFF2-40B4-BE49-F238E27FC236}">
                <a16:creationId xmlns:a16="http://schemas.microsoft.com/office/drawing/2014/main" id="{75F110B2-0368-4C5F-BEF9-0EA2B831EA68}"/>
              </a:ext>
            </a:extLst>
          </p:cNvPr>
          <p:cNvSpPr>
            <a:spLocks xmlns:a="http://schemas.openxmlformats.org/drawingml/2006/main" noGrp="1"/>
          </p:cNvSpPr>
          <p:nvPr/>
        </p:nvSpPr>
        <p:spPr>
          <a:xfrm xmlns:a="http://schemas.openxmlformats.org/drawingml/2006/main">
            <a:off x="5695950" y="342900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39200"/>
                </a:solidFill>
              </a:defRPr>
            </a:pPr>
            <a:r>
              <a:rPr sz="2550" b="1">
                <a:solidFill>
                  <a:srgbClr val="F39200"/>
                </a:solidFill>
              </a:rPr>
              <a:t>v</a:t>
            </a:r>
          </a:p>
        </p:txBody>
      </p:sp>
      <p:sp>
        <p:nvSpPr>
          <p:cNvPr id="21" name="">
            <a:extLst xmlns:a="http://schemas.openxmlformats.org/drawingml/2006/main">
              <a:ext uri="{FF2B5EF4-FFF2-40B4-BE49-F238E27FC236}">
                <a16:creationId xmlns:a16="http://schemas.microsoft.com/office/drawing/2014/main" id="{916C3546-0625-42AC-AC9A-3ED8B915F942}"/>
              </a:ext>
            </a:extLst>
          </p:cNvPr>
          <p:cNvSpPr>
            <a:spLocks xmlns:a="http://schemas.openxmlformats.org/drawingml/2006/main" noGrp="1"/>
          </p:cNvSpPr>
          <p:nvPr/>
        </p:nvSpPr>
        <p:spPr>
          <a:xfrm xmlns:a="http://schemas.openxmlformats.org/drawingml/2006/main">
            <a:off x="3095625" y="4000500"/>
            <a:ext cx="5905500" cy="8953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22" name="">
            <a:extLst xmlns:a="http://schemas.openxmlformats.org/drawingml/2006/main">
              <a:ext uri="{FF2B5EF4-FFF2-40B4-BE49-F238E27FC236}">
                <a16:creationId xmlns:a16="http://schemas.microsoft.com/office/drawing/2014/main" id="{3126C2FB-5B64-497F-B51D-DE7D2A404DA7}"/>
              </a:ext>
            </a:extLst>
          </p:cNvPr>
          <p:cNvSpPr>
            <a:spLocks xmlns:a="http://schemas.openxmlformats.org/drawingml/2006/main" noGrp="1"/>
          </p:cNvSpPr>
          <p:nvPr/>
        </p:nvSpPr>
        <p:spPr>
          <a:xfrm xmlns:a="http://schemas.openxmlformats.org/drawingml/2006/main">
            <a:off x="3429000" y="42672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11111"/>
                </a:solidFill>
              </a:defRPr>
            </a:pPr>
            <a:r>
              <a:rPr sz="2025" b="1">
                <a:solidFill>
                  <a:srgbClr val="111111"/>
                </a:solidFill>
              </a:rPr>
              <a:t>Roll-level quality passport + analytics dashboard</a:t>
            </a:r>
          </a:p>
        </p:txBody>
      </p:sp>
      <p:sp>
        <p:nvSpPr>
          <p:cNvPr id="23" name="">
            <a:extLst xmlns:a="http://schemas.openxmlformats.org/drawingml/2006/main">
              <a:ext uri="{FF2B5EF4-FFF2-40B4-BE49-F238E27FC236}">
                <a16:creationId xmlns:a16="http://schemas.microsoft.com/office/drawing/2014/main" id="{8117D104-9F11-4923-A347-1675E35BD49E}"/>
              </a:ext>
            </a:extLst>
          </p:cNvPr>
          <p:cNvSpPr>
            <a:spLocks xmlns:a="http://schemas.openxmlformats.org/drawingml/2006/main" noGrp="1"/>
          </p:cNvSpPr>
          <p:nvPr/>
        </p:nvSpPr>
        <p:spPr>
          <a:xfrm xmlns:a="http://schemas.openxmlformats.org/drawingml/2006/main">
            <a:off x="3467100" y="46291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55555"/>
                </a:solidFill>
              </a:defRPr>
            </a:pPr>
            <a:r>
              <a:rPr sz="1200" b="0">
                <a:solidFill>
                  <a:srgbClr val="555555"/>
                </a:solidFill>
              </a:rPr>
              <a:t>No machine control. No ERP writeback. Human-reviewed recommendations only.</a:t>
            </a:r>
          </a:p>
        </p:txBody>
      </p:sp>
      <p:sp>
        <p:nvSpPr>
          <p:cNvPr id="24" name="">
            <a:extLst xmlns:a="http://schemas.openxmlformats.org/drawingml/2006/main">
              <a:ext uri="{FF2B5EF4-FFF2-40B4-BE49-F238E27FC236}">
                <a16:creationId xmlns:a16="http://schemas.microsoft.com/office/drawing/2014/main" id="{0948D6B5-66D5-42D9-9EE4-33FCDFC32CA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5" name="">
            <a:extLst xmlns:a="http://schemas.openxmlformats.org/drawingml/2006/main">
              <a:ext uri="{FF2B5EF4-FFF2-40B4-BE49-F238E27FC236}">
                <a16:creationId xmlns:a16="http://schemas.microsoft.com/office/drawing/2014/main" id="{FFA9B942-464D-4857-8355-0CA1C215163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08</a:t>
            </a:r>
          </a:p>
        </p:txBody>
      </p:sp>
    </p:spTree>
    <p:extLst>
      <p:ext uri="{BB962C8B-B14F-4D97-AF65-F5344CB8AC3E}">
        <p14:creationId xmlns:p14="http://schemas.microsoft.com/office/powerpoint/2010/main" val="89563154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522E49-D543-4E10-B8DE-F0B25236DEF3}"/>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R&amp;D</a:t>
            </a:r>
          </a:p>
        </p:txBody>
      </p:sp>
      <p:sp>
        <p:nvSpPr>
          <p:cNvPr id="2" name="">
            <a:extLst xmlns:a="http://schemas.openxmlformats.org/drawingml/2006/main">
              <a:ext uri="{FF2B5EF4-FFF2-40B4-BE49-F238E27FC236}">
                <a16:creationId xmlns:a16="http://schemas.microsoft.com/office/drawing/2014/main" id="{2CCECCF9-57E8-4910-9BFD-3950E7D03FA6}"/>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R&amp;D becomes the long-term strategic engine</a:t>
            </a:r>
          </a:p>
        </p:txBody>
      </p:sp>
      <p:sp>
        <p:nvSpPr>
          <p:cNvPr id="3" name="">
            <a:extLst xmlns:a="http://schemas.openxmlformats.org/drawingml/2006/main">
              <a:ext uri="{FF2B5EF4-FFF2-40B4-BE49-F238E27FC236}">
                <a16:creationId xmlns:a16="http://schemas.microsoft.com/office/drawing/2014/main" id="{B838786F-7880-4841-BE02-283937D8DC7D}"/>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goal is a materials intelligence system, not a document chatbot.</a:t>
            </a:r>
          </a:p>
        </p:txBody>
      </p:sp>
      <p:sp>
        <p:nvSpPr>
          <p:cNvPr id="4" name="">
            <a:extLst xmlns:a="http://schemas.openxmlformats.org/drawingml/2006/main">
              <a:ext uri="{FF2B5EF4-FFF2-40B4-BE49-F238E27FC236}">
                <a16:creationId xmlns:a16="http://schemas.microsoft.com/office/drawing/2014/main" id="{9C555758-AA2E-4686-BB43-2A02A94D8209}"/>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65cc3678b694a26"/>
          <a:srcRect xmlns:a="http://schemas.openxmlformats.org/drawingml/2006/main" l="4627" t="0" r="4627" b="0"/>
          <a:stretch xmlns:a="http://schemas.openxmlformats.org/drawingml/2006/main">
            <a:fillRect l="0" t="0" r="0" b="0"/>
          </a:stretch>
        </p:blipFill>
        <p:spPr>
          <a:xfrm xmlns:a="http://schemas.openxmlformats.org/drawingml/2006/main">
            <a:off x="666750" y="2047875"/>
            <a:ext cx="4000500" cy="2952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F08219-2D75-4F29-A9F0-790B8DFD727A}"/>
              </a:ext>
            </a:extLst>
          </p:cNvPr>
          <p:cNvSpPr>
            <a:spLocks xmlns:a="http://schemas.openxmlformats.org/drawingml/2006/main" noGrp="1"/>
          </p:cNvSpPr>
          <p:nvPr/>
        </p:nvSpPr>
        <p:spPr>
          <a:xfrm xmlns:a="http://schemas.openxmlformats.org/drawingml/2006/main">
            <a:off x="5191125" y="2047875"/>
            <a:ext cx="5810250" cy="2952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8ED5FDA6-A563-46E1-B254-AD6C4545AA47}"/>
              </a:ext>
            </a:extLst>
          </p:cNvPr>
          <p:cNvSpPr>
            <a:spLocks xmlns:a="http://schemas.openxmlformats.org/drawingml/2006/main" noGrp="1"/>
          </p:cNvSpPr>
          <p:nvPr/>
        </p:nvSpPr>
        <p:spPr>
          <a:xfrm xmlns:a="http://schemas.openxmlformats.org/drawingml/2006/main">
            <a:off x="5476875" y="2333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1111"/>
                </a:solidFill>
              </a:defRPr>
            </a:pPr>
            <a:r>
              <a:rPr sz="1950" b="1">
                <a:solidFill>
                  <a:srgbClr val="111111"/>
                </a:solidFill>
              </a:rPr>
              <a:t>Materials AI use cases</a:t>
            </a:r>
          </a:p>
        </p:txBody>
      </p:sp>
      <p:sp>
        <p:nvSpPr>
          <p:cNvPr id="8" name="">
            <a:extLst xmlns:a="http://schemas.openxmlformats.org/drawingml/2006/main">
              <a:ext uri="{FF2B5EF4-FFF2-40B4-BE49-F238E27FC236}">
                <a16:creationId xmlns:a16="http://schemas.microsoft.com/office/drawing/2014/main" id="{A993AF61-7948-404D-972E-8123E29B8161}"/>
              </a:ext>
            </a:extLst>
          </p:cNvPr>
          <p:cNvSpPr>
            <a:spLocks xmlns:a="http://schemas.openxmlformats.org/drawingml/2006/main" noGrp="1"/>
          </p:cNvSpPr>
          <p:nvPr/>
        </p:nvSpPr>
        <p:spPr>
          <a:xfrm xmlns:a="http://schemas.openxmlformats.org/drawingml/2006/main">
            <a:off x="5476875" y="2876550"/>
            <a:ext cx="4857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111"/>
                </a:solidFill>
              </a:defRPr>
            </a:pPr>
            <a:r>
              <a:rPr sz="1425" b="0">
                <a:solidFill>
                  <a:srgbClr val="111111"/>
                </a:solidFill>
              </a:rPr>
              <a:t>- Formulation and recipe optimization</a:t>
            </a:r>
          </a:p>
          <a:p xmlns:a="http://schemas.openxmlformats.org/drawingml/2006/main">
            <a:pPr algn="l">
              <a:defRPr sz="1425" b="0">
                <a:solidFill>
                  <a:srgbClr val="111111"/>
                </a:solidFill>
              </a:defRPr>
            </a:pPr>
            <a:r>
              <a:rPr sz="1425" b="0">
                <a:solidFill>
                  <a:srgbClr val="111111"/>
                </a:solidFill>
              </a:rPr>
              <a:t>- Experiment recommendation and DOE planning</a:t>
            </a:r>
          </a:p>
          <a:p xmlns:a="http://schemas.openxmlformats.org/drawingml/2006/main">
            <a:pPr algn="l">
              <a:defRPr sz="1425" b="0">
                <a:solidFill>
                  <a:srgbClr val="111111"/>
                </a:solidFill>
              </a:defRPr>
            </a:pPr>
            <a:r>
              <a:rPr sz="1425" b="0">
                <a:solidFill>
                  <a:srgbClr val="111111"/>
                </a:solidFill>
              </a:rPr>
              <a:t>- Raw material alternative search</a:t>
            </a:r>
          </a:p>
          <a:p xmlns:a="http://schemas.openxmlformats.org/drawingml/2006/main">
            <a:pPr algn="l">
              <a:defRPr sz="1425" b="0">
                <a:solidFill>
                  <a:srgbClr val="111111"/>
                </a:solidFill>
              </a:defRPr>
            </a:pPr>
            <a:r>
              <a:rPr sz="1425" b="0">
                <a:solidFill>
                  <a:srgbClr val="111111"/>
                </a:solidFill>
              </a:rPr>
              <a:t>- Supplier and patent/literature intelligence</a:t>
            </a:r>
          </a:p>
          <a:p xmlns:a="http://schemas.openxmlformats.org/drawingml/2006/main">
            <a:pPr algn="l">
              <a:defRPr sz="1425" b="0">
                <a:solidFill>
                  <a:srgbClr val="111111"/>
                </a:solidFill>
              </a:defRPr>
            </a:pPr>
            <a:r>
              <a:rPr sz="1425" b="0">
                <a:solidFill>
                  <a:srgbClr val="111111"/>
                </a:solidFill>
              </a:rPr>
              <a:t>- Failure analysis and scale-up learning</a:t>
            </a:r>
          </a:p>
          <a:p xmlns:a="http://schemas.openxmlformats.org/drawingml/2006/main">
            <a:pPr algn="l">
              <a:defRPr sz="1425" b="0">
                <a:solidFill>
                  <a:srgbClr val="111111"/>
                </a:solidFill>
              </a:defRPr>
            </a:pPr>
            <a:r>
              <a:rPr sz="1425" b="0">
                <a:solidFill>
                  <a:srgbClr val="111111"/>
                </a:solidFill>
              </a:rPr>
              <a:t>- Digital lab notebook and scientific agents</a:t>
            </a:r>
          </a:p>
        </p:txBody>
      </p:sp>
      <p:sp>
        <p:nvSpPr>
          <p:cNvPr id="9" name="">
            <a:extLst xmlns:a="http://schemas.openxmlformats.org/drawingml/2006/main">
              <a:ext uri="{FF2B5EF4-FFF2-40B4-BE49-F238E27FC236}">
                <a16:creationId xmlns:a16="http://schemas.microsoft.com/office/drawing/2014/main" id="{9CA1DDB9-B935-4482-B396-5403A8EBB857}"/>
              </a:ext>
            </a:extLst>
          </p:cNvPr>
          <p:cNvSpPr>
            <a:spLocks xmlns:a="http://schemas.openxmlformats.org/drawingml/2006/main" noGrp="1"/>
          </p:cNvSpPr>
          <p:nvPr/>
        </p:nvSpPr>
        <p:spPr>
          <a:xfrm xmlns:a="http://schemas.openxmlformats.org/drawingml/2006/main">
            <a:off x="5476875" y="45720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39200"/>
                </a:solidFill>
              </a:defRPr>
            </a:pPr>
            <a:r>
              <a:rPr sz="1200" b="1">
                <a:solidFill>
                  <a:srgbClr val="F39200"/>
                </a:solidFill>
              </a:rPr>
              <a:t>First step: capture historical experiments, lab tests, customer specs, and failed trials into a knowledge graph.</a:t>
            </a:r>
          </a:p>
        </p:txBody>
      </p:sp>
      <p:sp>
        <p:nvSpPr>
          <p:cNvPr id="10" name="">
            <a:extLst xmlns:a="http://schemas.openxmlformats.org/drawingml/2006/main">
              <a:ext uri="{FF2B5EF4-FFF2-40B4-BE49-F238E27FC236}">
                <a16:creationId xmlns:a16="http://schemas.microsoft.com/office/drawing/2014/main" id="{B761DBEA-EA7B-4968-9050-C79E99801DF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11" name="">
            <a:extLst xmlns:a="http://schemas.openxmlformats.org/drawingml/2006/main">
              <a:ext uri="{FF2B5EF4-FFF2-40B4-BE49-F238E27FC236}">
                <a16:creationId xmlns:a16="http://schemas.microsoft.com/office/drawing/2014/main" id="{DE399287-FAC1-4413-A77E-700E4DFDAC00}"/>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Source: Darmstaedter Entwicklung; Klevers Projekte</a:t>
            </a:r>
          </a:p>
        </p:txBody>
      </p:sp>
      <p:sp>
        <p:nvSpPr>
          <p:cNvPr id="12" name="">
            <a:extLst xmlns:a="http://schemas.openxmlformats.org/drawingml/2006/main">
              <a:ext uri="{FF2B5EF4-FFF2-40B4-BE49-F238E27FC236}">
                <a16:creationId xmlns:a16="http://schemas.microsoft.com/office/drawing/2014/main" id="{E39CF050-E11C-4B07-A1D4-2A696AFE6A7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09</a:t>
            </a:r>
          </a:p>
        </p:txBody>
      </p:sp>
    </p:spTree>
    <p:extLst>
      <p:ext uri="{BB962C8B-B14F-4D97-AF65-F5344CB8AC3E}">
        <p14:creationId xmlns:p14="http://schemas.microsoft.com/office/powerpoint/2010/main" val="37653975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17ED52-AA5B-4206-B90D-D3EF7F75B1C8}"/>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PRODUCTION</a:t>
            </a:r>
          </a:p>
        </p:txBody>
      </p:sp>
      <p:sp>
        <p:nvSpPr>
          <p:cNvPr id="2" name="">
            <a:extLst xmlns:a="http://schemas.openxmlformats.org/drawingml/2006/main">
              <a:ext uri="{FF2B5EF4-FFF2-40B4-BE49-F238E27FC236}">
                <a16:creationId xmlns:a16="http://schemas.microsoft.com/office/drawing/2014/main" id="{21497CE5-7540-41D7-BB9A-44BF112410AD}"/>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Production AI should earn trust in stages</a:t>
            </a:r>
          </a:p>
        </p:txBody>
      </p:sp>
      <p:sp>
        <p:nvSpPr>
          <p:cNvPr id="3" name="">
            <a:extLst xmlns:a="http://schemas.openxmlformats.org/drawingml/2006/main">
              <a:ext uri="{FF2B5EF4-FFF2-40B4-BE49-F238E27FC236}">
                <a16:creationId xmlns:a16="http://schemas.microsoft.com/office/drawing/2014/main" id="{2CCAF9CF-4D4F-4828-8C36-49A5DE201570}"/>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This sequencing protects operations while building trust.</a:t>
            </a:r>
          </a:p>
        </p:txBody>
      </p:sp>
      <p:sp>
        <p:nvSpPr>
          <p:cNvPr id="4" name="">
            <a:extLst xmlns:a="http://schemas.openxmlformats.org/drawingml/2006/main">
              <a:ext uri="{FF2B5EF4-FFF2-40B4-BE49-F238E27FC236}">
                <a16:creationId xmlns:a16="http://schemas.microsoft.com/office/drawing/2014/main" id="{B1E11EF5-718B-4386-B3F2-6D0DDED657E8}"/>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BF10EF43-2F28-4E4E-AA0B-ED8D73C78A6A}"/>
              </a:ext>
            </a:extLst>
          </p:cNvPr>
          <p:cNvSpPr>
            <a:spLocks xmlns:a="http://schemas.openxmlformats.org/drawingml/2006/main" noGrp="1"/>
          </p:cNvSpPr>
          <p:nvPr/>
        </p:nvSpPr>
        <p:spPr>
          <a:xfrm xmlns:a="http://schemas.openxmlformats.org/drawingml/2006/main">
            <a:off x="857250" y="2095500"/>
            <a:ext cx="1476375"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4D99868A-BFD4-4ED8-950E-35EF75F978F4}"/>
              </a:ext>
            </a:extLst>
          </p:cNvPr>
          <p:cNvSpPr>
            <a:spLocks xmlns:a="http://schemas.openxmlformats.org/drawingml/2006/main" noGrp="1"/>
          </p:cNvSpPr>
          <p:nvPr/>
        </p:nvSpPr>
        <p:spPr>
          <a:xfrm xmlns:a="http://schemas.openxmlformats.org/drawingml/2006/main">
            <a:off x="952500" y="21717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Stage</a:t>
            </a:r>
          </a:p>
        </p:txBody>
      </p:sp>
      <p:sp>
        <p:nvSpPr>
          <p:cNvPr id="7" name="">
            <a:extLst xmlns:a="http://schemas.openxmlformats.org/drawingml/2006/main">
              <a:ext uri="{FF2B5EF4-FFF2-40B4-BE49-F238E27FC236}">
                <a16:creationId xmlns:a16="http://schemas.microsoft.com/office/drawing/2014/main" id="{D505CF8D-8211-4EA8-850D-B46B0504FFA6}"/>
              </a:ext>
            </a:extLst>
          </p:cNvPr>
          <p:cNvSpPr>
            <a:spLocks xmlns:a="http://schemas.openxmlformats.org/drawingml/2006/main" noGrp="1"/>
          </p:cNvSpPr>
          <p:nvPr/>
        </p:nvSpPr>
        <p:spPr>
          <a:xfrm xmlns:a="http://schemas.openxmlformats.org/drawingml/2006/main">
            <a:off x="2333625" y="2095500"/>
            <a:ext cx="5334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CC0FBE3B-72AF-4EB8-9253-1608D2665B63}"/>
              </a:ext>
            </a:extLst>
          </p:cNvPr>
          <p:cNvSpPr>
            <a:spLocks xmlns:a="http://schemas.openxmlformats.org/drawingml/2006/main" noGrp="1"/>
          </p:cNvSpPr>
          <p:nvPr/>
        </p:nvSpPr>
        <p:spPr>
          <a:xfrm xmlns:a="http://schemas.openxmlformats.org/drawingml/2006/main">
            <a:off x="2428875" y="21717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What AI does</a:t>
            </a:r>
          </a:p>
        </p:txBody>
      </p:sp>
      <p:sp>
        <p:nvSpPr>
          <p:cNvPr id="9" name="">
            <a:extLst xmlns:a="http://schemas.openxmlformats.org/drawingml/2006/main">
              <a:ext uri="{FF2B5EF4-FFF2-40B4-BE49-F238E27FC236}">
                <a16:creationId xmlns:a16="http://schemas.microsoft.com/office/drawing/2014/main" id="{D66E6641-2A22-47B9-BBD7-0F1DAAC42F73}"/>
              </a:ext>
            </a:extLst>
          </p:cNvPr>
          <p:cNvSpPr>
            <a:spLocks xmlns:a="http://schemas.openxmlformats.org/drawingml/2006/main" noGrp="1"/>
          </p:cNvSpPr>
          <p:nvPr/>
        </p:nvSpPr>
        <p:spPr>
          <a:xfrm xmlns:a="http://schemas.openxmlformats.org/drawingml/2006/main">
            <a:off x="7667625" y="2095500"/>
            <a:ext cx="123825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409728F1-8ABD-41A9-A0E4-568F26291BB5}"/>
              </a:ext>
            </a:extLst>
          </p:cNvPr>
          <p:cNvSpPr>
            <a:spLocks xmlns:a="http://schemas.openxmlformats.org/drawingml/2006/main" noGrp="1"/>
          </p:cNvSpPr>
          <p:nvPr/>
        </p:nvSpPr>
        <p:spPr>
          <a:xfrm xmlns:a="http://schemas.openxmlformats.org/drawingml/2006/main">
            <a:off x="7762875" y="21717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Risk</a:t>
            </a:r>
          </a:p>
        </p:txBody>
      </p:sp>
      <p:sp>
        <p:nvSpPr>
          <p:cNvPr id="11" name="">
            <a:extLst xmlns:a="http://schemas.openxmlformats.org/drawingml/2006/main">
              <a:ext uri="{FF2B5EF4-FFF2-40B4-BE49-F238E27FC236}">
                <a16:creationId xmlns:a16="http://schemas.microsoft.com/office/drawing/2014/main" id="{C9231B5C-90E8-4082-8B8D-27E99DAEE3C2}"/>
              </a:ext>
            </a:extLst>
          </p:cNvPr>
          <p:cNvSpPr>
            <a:spLocks xmlns:a="http://schemas.openxmlformats.org/drawingml/2006/main" noGrp="1"/>
          </p:cNvSpPr>
          <p:nvPr/>
        </p:nvSpPr>
        <p:spPr>
          <a:xfrm xmlns:a="http://schemas.openxmlformats.org/drawingml/2006/main">
            <a:off x="8905875" y="2095500"/>
            <a:ext cx="1524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F843B1A2-3882-4700-81DD-B024C954376B}"/>
              </a:ext>
            </a:extLst>
          </p:cNvPr>
          <p:cNvSpPr>
            <a:spLocks xmlns:a="http://schemas.openxmlformats.org/drawingml/2006/main" noGrp="1"/>
          </p:cNvSpPr>
          <p:nvPr/>
        </p:nvSpPr>
        <p:spPr>
          <a:xfrm xmlns:a="http://schemas.openxmlformats.org/drawingml/2006/main">
            <a:off x="9001125" y="21717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When</a:t>
            </a:r>
          </a:p>
        </p:txBody>
      </p:sp>
      <p:sp>
        <p:nvSpPr>
          <p:cNvPr id="13" name="">
            <a:extLst xmlns:a="http://schemas.openxmlformats.org/drawingml/2006/main">
              <a:ext uri="{FF2B5EF4-FFF2-40B4-BE49-F238E27FC236}">
                <a16:creationId xmlns:a16="http://schemas.microsoft.com/office/drawing/2014/main" id="{794992BE-2BF8-4789-9AB2-69E115B8A443}"/>
              </a:ext>
            </a:extLst>
          </p:cNvPr>
          <p:cNvSpPr>
            <a:spLocks xmlns:a="http://schemas.openxmlformats.org/drawingml/2006/main" noGrp="1"/>
          </p:cNvSpPr>
          <p:nvPr/>
        </p:nvSpPr>
        <p:spPr>
          <a:xfrm xmlns:a="http://schemas.openxmlformats.org/drawingml/2006/main">
            <a:off x="857250" y="26289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0ABB2457-AD45-49A4-8792-9E094F12C245}"/>
              </a:ext>
            </a:extLst>
          </p:cNvPr>
          <p:cNvSpPr>
            <a:spLocks xmlns:a="http://schemas.openxmlformats.org/drawingml/2006/main" noGrp="1"/>
          </p:cNvSpPr>
          <p:nvPr/>
        </p:nvSpPr>
        <p:spPr>
          <a:xfrm xmlns:a="http://schemas.openxmlformats.org/drawingml/2006/main">
            <a:off x="952500" y="27051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Observe</a:t>
            </a:r>
          </a:p>
        </p:txBody>
      </p:sp>
      <p:sp>
        <p:nvSpPr>
          <p:cNvPr id="15" name="">
            <a:extLst xmlns:a="http://schemas.openxmlformats.org/drawingml/2006/main">
              <a:ext uri="{FF2B5EF4-FFF2-40B4-BE49-F238E27FC236}">
                <a16:creationId xmlns:a16="http://schemas.microsoft.com/office/drawing/2014/main" id="{BD1F00C1-40A8-4118-B296-A2904953A062}"/>
              </a:ext>
            </a:extLst>
          </p:cNvPr>
          <p:cNvSpPr>
            <a:spLocks xmlns:a="http://schemas.openxmlformats.org/drawingml/2006/main" noGrp="1"/>
          </p:cNvSpPr>
          <p:nvPr/>
        </p:nvSpPr>
        <p:spPr>
          <a:xfrm xmlns:a="http://schemas.openxmlformats.org/drawingml/2006/main">
            <a:off x="2333625" y="26289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562979CD-319F-4C79-B72A-D421DFC5AF00}"/>
              </a:ext>
            </a:extLst>
          </p:cNvPr>
          <p:cNvSpPr>
            <a:spLocks xmlns:a="http://schemas.openxmlformats.org/drawingml/2006/main" noGrp="1"/>
          </p:cNvSpPr>
          <p:nvPr/>
        </p:nvSpPr>
        <p:spPr>
          <a:xfrm xmlns:a="http://schemas.openxmlformats.org/drawingml/2006/main">
            <a:off x="2428875" y="27051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Collects order, process, inspection, QC, energy, operator evidence</a:t>
            </a:r>
          </a:p>
        </p:txBody>
      </p:sp>
      <p:sp>
        <p:nvSpPr>
          <p:cNvPr id="17" name="">
            <a:extLst xmlns:a="http://schemas.openxmlformats.org/drawingml/2006/main">
              <a:ext uri="{FF2B5EF4-FFF2-40B4-BE49-F238E27FC236}">
                <a16:creationId xmlns:a16="http://schemas.microsoft.com/office/drawing/2014/main" id="{C971B932-91A0-4C12-8EF4-83393F91C0C0}"/>
              </a:ext>
            </a:extLst>
          </p:cNvPr>
          <p:cNvSpPr>
            <a:spLocks xmlns:a="http://schemas.openxmlformats.org/drawingml/2006/main" noGrp="1"/>
          </p:cNvSpPr>
          <p:nvPr/>
        </p:nvSpPr>
        <p:spPr>
          <a:xfrm xmlns:a="http://schemas.openxmlformats.org/drawingml/2006/main">
            <a:off x="7667625" y="26289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74873462-519B-45B9-82A9-D4DF88A00944}"/>
              </a:ext>
            </a:extLst>
          </p:cNvPr>
          <p:cNvSpPr>
            <a:spLocks xmlns:a="http://schemas.openxmlformats.org/drawingml/2006/main" noGrp="1"/>
          </p:cNvSpPr>
          <p:nvPr/>
        </p:nvSpPr>
        <p:spPr>
          <a:xfrm xmlns:a="http://schemas.openxmlformats.org/drawingml/2006/main">
            <a:off x="7762875" y="2705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Low</a:t>
            </a:r>
          </a:p>
        </p:txBody>
      </p:sp>
      <p:sp>
        <p:nvSpPr>
          <p:cNvPr id="19" name="">
            <a:extLst xmlns:a="http://schemas.openxmlformats.org/drawingml/2006/main">
              <a:ext uri="{FF2B5EF4-FFF2-40B4-BE49-F238E27FC236}">
                <a16:creationId xmlns:a16="http://schemas.microsoft.com/office/drawing/2014/main" id="{EE8D5015-B41B-4A4C-8E05-AC1DF8D001E9}"/>
              </a:ext>
            </a:extLst>
          </p:cNvPr>
          <p:cNvSpPr>
            <a:spLocks xmlns:a="http://schemas.openxmlformats.org/drawingml/2006/main" noGrp="1"/>
          </p:cNvSpPr>
          <p:nvPr/>
        </p:nvSpPr>
        <p:spPr>
          <a:xfrm xmlns:a="http://schemas.openxmlformats.org/drawingml/2006/main">
            <a:off x="8905875" y="26289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57714684-71F7-4761-82CF-0FFF8ACCA048}"/>
              </a:ext>
            </a:extLst>
          </p:cNvPr>
          <p:cNvSpPr>
            <a:spLocks xmlns:a="http://schemas.openxmlformats.org/drawingml/2006/main" noGrp="1"/>
          </p:cNvSpPr>
          <p:nvPr/>
        </p:nvSpPr>
        <p:spPr>
          <a:xfrm xmlns:a="http://schemas.openxmlformats.org/drawingml/2006/main">
            <a:off x="9001125" y="27051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Now</a:t>
            </a:r>
          </a:p>
        </p:txBody>
      </p:sp>
      <p:sp>
        <p:nvSpPr>
          <p:cNvPr id="21" name="">
            <a:extLst xmlns:a="http://schemas.openxmlformats.org/drawingml/2006/main">
              <a:ext uri="{FF2B5EF4-FFF2-40B4-BE49-F238E27FC236}">
                <a16:creationId xmlns:a16="http://schemas.microsoft.com/office/drawing/2014/main" id="{B9AD6664-1154-4896-AA9C-47CF57FB5F87}"/>
              </a:ext>
            </a:extLst>
          </p:cNvPr>
          <p:cNvSpPr>
            <a:spLocks xmlns:a="http://schemas.openxmlformats.org/drawingml/2006/main" noGrp="1"/>
          </p:cNvSpPr>
          <p:nvPr/>
        </p:nvSpPr>
        <p:spPr>
          <a:xfrm xmlns:a="http://schemas.openxmlformats.org/drawingml/2006/main">
            <a:off x="857250" y="3162300"/>
            <a:ext cx="1476375"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A3EA6ED5-86D1-4CB7-92B3-B24B5D341A12}"/>
              </a:ext>
            </a:extLst>
          </p:cNvPr>
          <p:cNvSpPr>
            <a:spLocks xmlns:a="http://schemas.openxmlformats.org/drawingml/2006/main" noGrp="1"/>
          </p:cNvSpPr>
          <p:nvPr/>
        </p:nvSpPr>
        <p:spPr>
          <a:xfrm xmlns:a="http://schemas.openxmlformats.org/drawingml/2006/main">
            <a:off x="952500" y="32385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Explain</a:t>
            </a:r>
          </a:p>
        </p:txBody>
      </p:sp>
      <p:sp>
        <p:nvSpPr>
          <p:cNvPr id="23" name="">
            <a:extLst xmlns:a="http://schemas.openxmlformats.org/drawingml/2006/main">
              <a:ext uri="{FF2B5EF4-FFF2-40B4-BE49-F238E27FC236}">
                <a16:creationId xmlns:a16="http://schemas.microsoft.com/office/drawing/2014/main" id="{19938B14-711D-4A0C-9E28-4C3A4B3A3C7B}"/>
              </a:ext>
            </a:extLst>
          </p:cNvPr>
          <p:cNvSpPr>
            <a:spLocks xmlns:a="http://schemas.openxmlformats.org/drawingml/2006/main" noGrp="1"/>
          </p:cNvSpPr>
          <p:nvPr/>
        </p:nvSpPr>
        <p:spPr>
          <a:xfrm xmlns:a="http://schemas.openxmlformats.org/drawingml/2006/main">
            <a:off x="2333625" y="3162300"/>
            <a:ext cx="533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0C1FA347-6B96-44AB-80D2-7D49D61A758C}"/>
              </a:ext>
            </a:extLst>
          </p:cNvPr>
          <p:cNvSpPr>
            <a:spLocks xmlns:a="http://schemas.openxmlformats.org/drawingml/2006/main" noGrp="1"/>
          </p:cNvSpPr>
          <p:nvPr/>
        </p:nvSpPr>
        <p:spPr>
          <a:xfrm xmlns:a="http://schemas.openxmlformats.org/drawingml/2006/main">
            <a:off x="2428875" y="32385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Shows defect drivers, drift, repeated root causes, bottlenecks</a:t>
            </a:r>
          </a:p>
        </p:txBody>
      </p:sp>
      <p:sp>
        <p:nvSpPr>
          <p:cNvPr id="25" name="">
            <a:extLst xmlns:a="http://schemas.openxmlformats.org/drawingml/2006/main">
              <a:ext uri="{FF2B5EF4-FFF2-40B4-BE49-F238E27FC236}">
                <a16:creationId xmlns:a16="http://schemas.microsoft.com/office/drawing/2014/main" id="{D6DFD7C0-485D-4061-85AC-5CA4E41BDAD4}"/>
              </a:ext>
            </a:extLst>
          </p:cNvPr>
          <p:cNvSpPr>
            <a:spLocks xmlns:a="http://schemas.openxmlformats.org/drawingml/2006/main" noGrp="1"/>
          </p:cNvSpPr>
          <p:nvPr/>
        </p:nvSpPr>
        <p:spPr>
          <a:xfrm xmlns:a="http://schemas.openxmlformats.org/drawingml/2006/main">
            <a:off x="7667625" y="3162300"/>
            <a:ext cx="123825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818650C9-8157-47FF-BCE0-23FD8A1D6D22}"/>
              </a:ext>
            </a:extLst>
          </p:cNvPr>
          <p:cNvSpPr>
            <a:spLocks xmlns:a="http://schemas.openxmlformats.org/drawingml/2006/main" noGrp="1"/>
          </p:cNvSpPr>
          <p:nvPr/>
        </p:nvSpPr>
        <p:spPr>
          <a:xfrm xmlns:a="http://schemas.openxmlformats.org/drawingml/2006/main">
            <a:off x="7762875" y="32385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Low</a:t>
            </a:r>
          </a:p>
        </p:txBody>
      </p:sp>
      <p:sp>
        <p:nvSpPr>
          <p:cNvPr id="27" name="">
            <a:extLst xmlns:a="http://schemas.openxmlformats.org/drawingml/2006/main">
              <a:ext uri="{FF2B5EF4-FFF2-40B4-BE49-F238E27FC236}">
                <a16:creationId xmlns:a16="http://schemas.microsoft.com/office/drawing/2014/main" id="{E2A9B351-2835-4967-9B7B-3E06533142C7}"/>
              </a:ext>
            </a:extLst>
          </p:cNvPr>
          <p:cNvSpPr>
            <a:spLocks xmlns:a="http://schemas.openxmlformats.org/drawingml/2006/main" noGrp="1"/>
          </p:cNvSpPr>
          <p:nvPr/>
        </p:nvSpPr>
        <p:spPr>
          <a:xfrm xmlns:a="http://schemas.openxmlformats.org/drawingml/2006/main">
            <a:off x="8905875" y="3162300"/>
            <a:ext cx="152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1EFA13E9-31E0-4827-9D2A-0A7D6A3C9808}"/>
              </a:ext>
            </a:extLst>
          </p:cNvPr>
          <p:cNvSpPr>
            <a:spLocks xmlns:a="http://schemas.openxmlformats.org/drawingml/2006/main" noGrp="1"/>
          </p:cNvSpPr>
          <p:nvPr/>
        </p:nvSpPr>
        <p:spPr>
          <a:xfrm xmlns:a="http://schemas.openxmlformats.org/drawingml/2006/main">
            <a:off x="9001125" y="32385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Pilot</a:t>
            </a:r>
          </a:p>
        </p:txBody>
      </p:sp>
      <p:sp>
        <p:nvSpPr>
          <p:cNvPr id="29" name="">
            <a:extLst xmlns:a="http://schemas.openxmlformats.org/drawingml/2006/main">
              <a:ext uri="{FF2B5EF4-FFF2-40B4-BE49-F238E27FC236}">
                <a16:creationId xmlns:a16="http://schemas.microsoft.com/office/drawing/2014/main" id="{B9481F62-2E61-4AC8-8BEB-D6BAE9C89230}"/>
              </a:ext>
            </a:extLst>
          </p:cNvPr>
          <p:cNvSpPr>
            <a:spLocks xmlns:a="http://schemas.openxmlformats.org/drawingml/2006/main" noGrp="1"/>
          </p:cNvSpPr>
          <p:nvPr/>
        </p:nvSpPr>
        <p:spPr>
          <a:xfrm xmlns:a="http://schemas.openxmlformats.org/drawingml/2006/main">
            <a:off x="857250" y="36957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5410160D-8A81-471F-9E9C-71CB4CE87625}"/>
              </a:ext>
            </a:extLst>
          </p:cNvPr>
          <p:cNvSpPr>
            <a:spLocks xmlns:a="http://schemas.openxmlformats.org/drawingml/2006/main" noGrp="1"/>
          </p:cNvSpPr>
          <p:nvPr/>
        </p:nvSpPr>
        <p:spPr>
          <a:xfrm xmlns:a="http://schemas.openxmlformats.org/drawingml/2006/main">
            <a:off x="952500" y="37719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Predict</a:t>
            </a:r>
          </a:p>
        </p:txBody>
      </p:sp>
      <p:sp>
        <p:nvSpPr>
          <p:cNvPr id="31" name="">
            <a:extLst xmlns:a="http://schemas.openxmlformats.org/drawingml/2006/main">
              <a:ext uri="{FF2B5EF4-FFF2-40B4-BE49-F238E27FC236}">
                <a16:creationId xmlns:a16="http://schemas.microsoft.com/office/drawing/2014/main" id="{8E3B6D3F-9D16-48F1-BD30-5476A266F06C}"/>
              </a:ext>
            </a:extLst>
          </p:cNvPr>
          <p:cNvSpPr>
            <a:spLocks xmlns:a="http://schemas.openxmlformats.org/drawingml/2006/main" noGrp="1"/>
          </p:cNvSpPr>
          <p:nvPr/>
        </p:nvSpPr>
        <p:spPr>
          <a:xfrm xmlns:a="http://schemas.openxmlformats.org/drawingml/2006/main">
            <a:off x="2333625" y="36957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6EAB456E-3A61-4EC7-8300-013F3B305DC4}"/>
              </a:ext>
            </a:extLst>
          </p:cNvPr>
          <p:cNvSpPr>
            <a:spLocks xmlns:a="http://schemas.openxmlformats.org/drawingml/2006/main" noGrp="1"/>
          </p:cNvSpPr>
          <p:nvPr/>
        </p:nvSpPr>
        <p:spPr>
          <a:xfrm xmlns:a="http://schemas.openxmlformats.org/drawingml/2006/main">
            <a:off x="2428875" y="37719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Flags quality risk before release or before next run</a:t>
            </a:r>
          </a:p>
        </p:txBody>
      </p:sp>
      <p:sp>
        <p:nvSpPr>
          <p:cNvPr id="33" name="">
            <a:extLst xmlns:a="http://schemas.openxmlformats.org/drawingml/2006/main">
              <a:ext uri="{FF2B5EF4-FFF2-40B4-BE49-F238E27FC236}">
                <a16:creationId xmlns:a16="http://schemas.microsoft.com/office/drawing/2014/main" id="{9BF3D2AB-EE60-4499-82F6-E3E4DE2748A9}"/>
              </a:ext>
            </a:extLst>
          </p:cNvPr>
          <p:cNvSpPr>
            <a:spLocks xmlns:a="http://schemas.openxmlformats.org/drawingml/2006/main" noGrp="1"/>
          </p:cNvSpPr>
          <p:nvPr/>
        </p:nvSpPr>
        <p:spPr>
          <a:xfrm xmlns:a="http://schemas.openxmlformats.org/drawingml/2006/main">
            <a:off x="7667625" y="36957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FA3A7081-9C6C-4367-91F8-AE306391BA90}"/>
              </a:ext>
            </a:extLst>
          </p:cNvPr>
          <p:cNvSpPr>
            <a:spLocks xmlns:a="http://schemas.openxmlformats.org/drawingml/2006/main" noGrp="1"/>
          </p:cNvSpPr>
          <p:nvPr/>
        </p:nvSpPr>
        <p:spPr>
          <a:xfrm xmlns:a="http://schemas.openxmlformats.org/drawingml/2006/main">
            <a:off x="7762875" y="37719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Medium</a:t>
            </a:r>
          </a:p>
        </p:txBody>
      </p:sp>
      <p:sp>
        <p:nvSpPr>
          <p:cNvPr id="35" name="">
            <a:extLst xmlns:a="http://schemas.openxmlformats.org/drawingml/2006/main">
              <a:ext uri="{FF2B5EF4-FFF2-40B4-BE49-F238E27FC236}">
                <a16:creationId xmlns:a16="http://schemas.microsoft.com/office/drawing/2014/main" id="{1C84118A-77B9-4BD5-BCA6-B9CEB48C2E70}"/>
              </a:ext>
            </a:extLst>
          </p:cNvPr>
          <p:cNvSpPr>
            <a:spLocks xmlns:a="http://schemas.openxmlformats.org/drawingml/2006/main" noGrp="1"/>
          </p:cNvSpPr>
          <p:nvPr/>
        </p:nvSpPr>
        <p:spPr>
          <a:xfrm xmlns:a="http://schemas.openxmlformats.org/drawingml/2006/main">
            <a:off x="8905875" y="36957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B52C882A-3FF0-4DDD-BA2B-5F5A41AF74C0}"/>
              </a:ext>
            </a:extLst>
          </p:cNvPr>
          <p:cNvSpPr>
            <a:spLocks xmlns:a="http://schemas.openxmlformats.org/drawingml/2006/main" noGrp="1"/>
          </p:cNvSpPr>
          <p:nvPr/>
        </p:nvSpPr>
        <p:spPr>
          <a:xfrm xmlns:a="http://schemas.openxmlformats.org/drawingml/2006/main">
            <a:off x="9001125" y="37719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6-12 months</a:t>
            </a:r>
          </a:p>
        </p:txBody>
      </p:sp>
      <p:sp>
        <p:nvSpPr>
          <p:cNvPr id="37" name="">
            <a:extLst xmlns:a="http://schemas.openxmlformats.org/drawingml/2006/main">
              <a:ext uri="{FF2B5EF4-FFF2-40B4-BE49-F238E27FC236}">
                <a16:creationId xmlns:a16="http://schemas.microsoft.com/office/drawing/2014/main" id="{73E572DF-9970-4B8C-91BA-6964F7EC8C45}"/>
              </a:ext>
            </a:extLst>
          </p:cNvPr>
          <p:cNvSpPr>
            <a:spLocks xmlns:a="http://schemas.openxmlformats.org/drawingml/2006/main" noGrp="1"/>
          </p:cNvSpPr>
          <p:nvPr/>
        </p:nvSpPr>
        <p:spPr>
          <a:xfrm xmlns:a="http://schemas.openxmlformats.org/drawingml/2006/main">
            <a:off x="857250" y="4229100"/>
            <a:ext cx="1476375"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7656C955-081B-4EF4-9BB2-F7F92C0AF08F}"/>
              </a:ext>
            </a:extLst>
          </p:cNvPr>
          <p:cNvSpPr>
            <a:spLocks xmlns:a="http://schemas.openxmlformats.org/drawingml/2006/main" noGrp="1"/>
          </p:cNvSpPr>
          <p:nvPr/>
        </p:nvSpPr>
        <p:spPr>
          <a:xfrm xmlns:a="http://schemas.openxmlformats.org/drawingml/2006/main">
            <a:off x="952500" y="43053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Recommend</a:t>
            </a:r>
          </a:p>
        </p:txBody>
      </p:sp>
      <p:sp>
        <p:nvSpPr>
          <p:cNvPr id="39" name="">
            <a:extLst xmlns:a="http://schemas.openxmlformats.org/drawingml/2006/main">
              <a:ext uri="{FF2B5EF4-FFF2-40B4-BE49-F238E27FC236}">
                <a16:creationId xmlns:a16="http://schemas.microsoft.com/office/drawing/2014/main" id="{8343E0C3-DBEC-4C66-AA67-7446FA36ECA8}"/>
              </a:ext>
            </a:extLst>
          </p:cNvPr>
          <p:cNvSpPr>
            <a:spLocks xmlns:a="http://schemas.openxmlformats.org/drawingml/2006/main" noGrp="1"/>
          </p:cNvSpPr>
          <p:nvPr/>
        </p:nvSpPr>
        <p:spPr>
          <a:xfrm xmlns:a="http://schemas.openxmlformats.org/drawingml/2006/main">
            <a:off x="2333625" y="4229100"/>
            <a:ext cx="533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D83E5E3E-44DA-4BD6-AFCA-B16AED5BBC5E}"/>
              </a:ext>
            </a:extLst>
          </p:cNvPr>
          <p:cNvSpPr>
            <a:spLocks xmlns:a="http://schemas.openxmlformats.org/drawingml/2006/main" noGrp="1"/>
          </p:cNvSpPr>
          <p:nvPr/>
        </p:nvSpPr>
        <p:spPr>
          <a:xfrm xmlns:a="http://schemas.openxmlformats.org/drawingml/2006/main">
            <a:off x="2428875" y="43053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Suggests process window or schedule changes for human approval</a:t>
            </a:r>
          </a:p>
        </p:txBody>
      </p:sp>
      <p:sp>
        <p:nvSpPr>
          <p:cNvPr id="41" name="">
            <a:extLst xmlns:a="http://schemas.openxmlformats.org/drawingml/2006/main">
              <a:ext uri="{FF2B5EF4-FFF2-40B4-BE49-F238E27FC236}">
                <a16:creationId xmlns:a16="http://schemas.microsoft.com/office/drawing/2014/main" id="{19F70C9E-58BC-45FE-BDED-9A6E3F789052}"/>
              </a:ext>
            </a:extLst>
          </p:cNvPr>
          <p:cNvSpPr>
            <a:spLocks xmlns:a="http://schemas.openxmlformats.org/drawingml/2006/main" noGrp="1"/>
          </p:cNvSpPr>
          <p:nvPr/>
        </p:nvSpPr>
        <p:spPr>
          <a:xfrm xmlns:a="http://schemas.openxmlformats.org/drawingml/2006/main">
            <a:off x="7667625" y="4229100"/>
            <a:ext cx="123825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ADDA1A90-4EAF-4D0C-95C2-16877766C3CF}"/>
              </a:ext>
            </a:extLst>
          </p:cNvPr>
          <p:cNvSpPr>
            <a:spLocks xmlns:a="http://schemas.openxmlformats.org/drawingml/2006/main" noGrp="1"/>
          </p:cNvSpPr>
          <p:nvPr/>
        </p:nvSpPr>
        <p:spPr>
          <a:xfrm xmlns:a="http://schemas.openxmlformats.org/drawingml/2006/main">
            <a:off x="7762875" y="43053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Medium</a:t>
            </a:r>
          </a:p>
        </p:txBody>
      </p:sp>
      <p:sp>
        <p:nvSpPr>
          <p:cNvPr id="43" name="">
            <a:extLst xmlns:a="http://schemas.openxmlformats.org/drawingml/2006/main">
              <a:ext uri="{FF2B5EF4-FFF2-40B4-BE49-F238E27FC236}">
                <a16:creationId xmlns:a16="http://schemas.microsoft.com/office/drawing/2014/main" id="{56219A01-97B0-4B47-83E0-AC8A344BC995}"/>
              </a:ext>
            </a:extLst>
          </p:cNvPr>
          <p:cNvSpPr>
            <a:spLocks xmlns:a="http://schemas.openxmlformats.org/drawingml/2006/main" noGrp="1"/>
          </p:cNvSpPr>
          <p:nvPr/>
        </p:nvSpPr>
        <p:spPr>
          <a:xfrm xmlns:a="http://schemas.openxmlformats.org/drawingml/2006/main">
            <a:off x="8905875" y="4229100"/>
            <a:ext cx="152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8B4FB38A-6CEE-4368-8D17-8CAC24A83F77}"/>
              </a:ext>
            </a:extLst>
          </p:cNvPr>
          <p:cNvSpPr>
            <a:spLocks xmlns:a="http://schemas.openxmlformats.org/drawingml/2006/main" noGrp="1"/>
          </p:cNvSpPr>
          <p:nvPr/>
        </p:nvSpPr>
        <p:spPr>
          <a:xfrm xmlns:a="http://schemas.openxmlformats.org/drawingml/2006/main">
            <a:off x="9001125" y="43053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1-2 years</a:t>
            </a:r>
          </a:p>
        </p:txBody>
      </p:sp>
      <p:sp>
        <p:nvSpPr>
          <p:cNvPr id="45" name="">
            <a:extLst xmlns:a="http://schemas.openxmlformats.org/drawingml/2006/main">
              <a:ext uri="{FF2B5EF4-FFF2-40B4-BE49-F238E27FC236}">
                <a16:creationId xmlns:a16="http://schemas.microsoft.com/office/drawing/2014/main" id="{6D3CF84E-066A-4579-9705-A9A23C6D4834}"/>
              </a:ext>
            </a:extLst>
          </p:cNvPr>
          <p:cNvSpPr>
            <a:spLocks xmlns:a="http://schemas.openxmlformats.org/drawingml/2006/main" noGrp="1"/>
          </p:cNvSpPr>
          <p:nvPr/>
        </p:nvSpPr>
        <p:spPr>
          <a:xfrm xmlns:a="http://schemas.openxmlformats.org/drawingml/2006/main">
            <a:off x="857250" y="47625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22390D32-CAC3-4158-8B71-1287AF5C5D81}"/>
              </a:ext>
            </a:extLst>
          </p:cNvPr>
          <p:cNvSpPr>
            <a:spLocks xmlns:a="http://schemas.openxmlformats.org/drawingml/2006/main" noGrp="1"/>
          </p:cNvSpPr>
          <p:nvPr/>
        </p:nvSpPr>
        <p:spPr>
          <a:xfrm xmlns:a="http://schemas.openxmlformats.org/drawingml/2006/main">
            <a:off x="952500" y="48387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Control</a:t>
            </a:r>
          </a:p>
        </p:txBody>
      </p:sp>
      <p:sp>
        <p:nvSpPr>
          <p:cNvPr id="47" name="">
            <a:extLst xmlns:a="http://schemas.openxmlformats.org/drawingml/2006/main">
              <a:ext uri="{FF2B5EF4-FFF2-40B4-BE49-F238E27FC236}">
                <a16:creationId xmlns:a16="http://schemas.microsoft.com/office/drawing/2014/main" id="{BBDBF2E1-BE5E-4F35-88BF-3CC26E0C9AE5}"/>
              </a:ext>
            </a:extLst>
          </p:cNvPr>
          <p:cNvSpPr>
            <a:spLocks xmlns:a="http://schemas.openxmlformats.org/drawingml/2006/main" noGrp="1"/>
          </p:cNvSpPr>
          <p:nvPr/>
        </p:nvSpPr>
        <p:spPr>
          <a:xfrm xmlns:a="http://schemas.openxmlformats.org/drawingml/2006/main">
            <a:off x="2333625" y="47625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A94E5566-80CB-4157-8802-FA2616A1349C}"/>
              </a:ext>
            </a:extLst>
          </p:cNvPr>
          <p:cNvSpPr>
            <a:spLocks xmlns:a="http://schemas.openxmlformats.org/drawingml/2006/main" noGrp="1"/>
          </p:cNvSpPr>
          <p:nvPr/>
        </p:nvSpPr>
        <p:spPr>
          <a:xfrm xmlns:a="http://schemas.openxmlformats.org/drawingml/2006/main">
            <a:off x="2428875" y="48387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Closed-loop machine adjustment</a:t>
            </a:r>
          </a:p>
        </p:txBody>
      </p:sp>
      <p:sp>
        <p:nvSpPr>
          <p:cNvPr id="49" name="">
            <a:extLst xmlns:a="http://schemas.openxmlformats.org/drawingml/2006/main">
              <a:ext uri="{FF2B5EF4-FFF2-40B4-BE49-F238E27FC236}">
                <a16:creationId xmlns:a16="http://schemas.microsoft.com/office/drawing/2014/main" id="{D8B0A022-CB82-40F6-8FC8-6057A3C59BFB}"/>
              </a:ext>
            </a:extLst>
          </p:cNvPr>
          <p:cNvSpPr>
            <a:spLocks xmlns:a="http://schemas.openxmlformats.org/drawingml/2006/main" noGrp="1"/>
          </p:cNvSpPr>
          <p:nvPr/>
        </p:nvSpPr>
        <p:spPr>
          <a:xfrm xmlns:a="http://schemas.openxmlformats.org/drawingml/2006/main">
            <a:off x="7667625" y="47625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2EDD8BF8-DDB5-48ED-9ABF-F9DADD4EB09A}"/>
              </a:ext>
            </a:extLst>
          </p:cNvPr>
          <p:cNvSpPr>
            <a:spLocks xmlns:a="http://schemas.openxmlformats.org/drawingml/2006/main" noGrp="1"/>
          </p:cNvSpPr>
          <p:nvPr/>
        </p:nvSpPr>
        <p:spPr>
          <a:xfrm xmlns:a="http://schemas.openxmlformats.org/drawingml/2006/main">
            <a:off x="7762875" y="48387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High</a:t>
            </a:r>
          </a:p>
        </p:txBody>
      </p:sp>
      <p:sp>
        <p:nvSpPr>
          <p:cNvPr id="51" name="">
            <a:extLst xmlns:a="http://schemas.openxmlformats.org/drawingml/2006/main">
              <a:ext uri="{FF2B5EF4-FFF2-40B4-BE49-F238E27FC236}">
                <a16:creationId xmlns:a16="http://schemas.microsoft.com/office/drawing/2014/main" id="{A4D0DC08-9A9F-4BE4-9B87-EBF560A7C14B}"/>
              </a:ext>
            </a:extLst>
          </p:cNvPr>
          <p:cNvSpPr>
            <a:spLocks xmlns:a="http://schemas.openxmlformats.org/drawingml/2006/main" noGrp="1"/>
          </p:cNvSpPr>
          <p:nvPr/>
        </p:nvSpPr>
        <p:spPr>
          <a:xfrm xmlns:a="http://schemas.openxmlformats.org/drawingml/2006/main">
            <a:off x="8905875" y="47625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4B0FD244-2085-433F-BA6F-22C814F032EE}"/>
              </a:ext>
            </a:extLst>
          </p:cNvPr>
          <p:cNvSpPr>
            <a:spLocks xmlns:a="http://schemas.openxmlformats.org/drawingml/2006/main" noGrp="1"/>
          </p:cNvSpPr>
          <p:nvPr/>
        </p:nvSpPr>
        <p:spPr>
          <a:xfrm xmlns:a="http://schemas.openxmlformats.org/drawingml/2006/main">
            <a:off x="9001125" y="48387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Only after proof</a:t>
            </a:r>
          </a:p>
        </p:txBody>
      </p:sp>
      <p:sp>
        <p:nvSpPr>
          <p:cNvPr id="53" name="">
            <a:extLst xmlns:a="http://schemas.openxmlformats.org/drawingml/2006/main">
              <a:ext uri="{FF2B5EF4-FFF2-40B4-BE49-F238E27FC236}">
                <a16:creationId xmlns:a16="http://schemas.microsoft.com/office/drawing/2014/main" id="{665EB4F9-A3BF-49D9-BED8-30B8550DDF61}"/>
              </a:ext>
            </a:extLst>
          </p:cNvPr>
          <p:cNvSpPr>
            <a:spLocks xmlns:a="http://schemas.openxmlformats.org/drawingml/2006/main" noGrp="1"/>
          </p:cNvSpPr>
          <p:nvPr/>
        </p:nvSpPr>
        <p:spPr>
          <a:xfrm xmlns:a="http://schemas.openxmlformats.org/drawingml/2006/main">
            <a:off x="857250" y="2095500"/>
            <a:ext cx="9572625" cy="32004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4F2CB425-7566-4AEF-B751-4B66887DC46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55" name="">
            <a:extLst xmlns:a="http://schemas.openxmlformats.org/drawingml/2006/main">
              <a:ext uri="{FF2B5EF4-FFF2-40B4-BE49-F238E27FC236}">
                <a16:creationId xmlns:a16="http://schemas.microsoft.com/office/drawing/2014/main" id="{60FF7109-0386-416A-B03B-6E1C1FA2B95A}"/>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10</a:t>
            </a:r>
          </a:p>
        </p:txBody>
      </p:sp>
    </p:spTree>
    <p:extLst>
      <p:ext uri="{BB962C8B-B14F-4D97-AF65-F5344CB8AC3E}">
        <p14:creationId xmlns:p14="http://schemas.microsoft.com/office/powerpoint/2010/main" val="198153488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8A6D7C-D953-4606-9561-642EF8412BF9}"/>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QUALITY</a:t>
            </a:r>
          </a:p>
        </p:txBody>
      </p:sp>
      <p:sp>
        <p:nvSpPr>
          <p:cNvPr id="2" name="">
            <a:extLst xmlns:a="http://schemas.openxmlformats.org/drawingml/2006/main">
              <a:ext uri="{FF2B5EF4-FFF2-40B4-BE49-F238E27FC236}">
                <a16:creationId xmlns:a16="http://schemas.microsoft.com/office/drawing/2014/main" id="{B7C06F7B-8E5F-4493-A872-8E39CE76A8BC}"/>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Quality evolves from inspection to prevention</a:t>
            </a:r>
          </a:p>
        </p:txBody>
      </p:sp>
      <p:sp>
        <p:nvSpPr>
          <p:cNvPr id="3" name="">
            <a:extLst xmlns:a="http://schemas.openxmlformats.org/drawingml/2006/main">
              <a:ext uri="{FF2B5EF4-FFF2-40B4-BE49-F238E27FC236}">
                <a16:creationId xmlns:a16="http://schemas.microsoft.com/office/drawing/2014/main" id="{8CC64EBA-A2E0-4FD6-9C0D-351247453213}"/>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company already produces proof. AI should connect that proof to causes and actions.</a:t>
            </a:r>
          </a:p>
        </p:txBody>
      </p:sp>
      <p:sp>
        <p:nvSpPr>
          <p:cNvPr id="4" name="">
            <a:extLst xmlns:a="http://schemas.openxmlformats.org/drawingml/2006/main">
              <a:ext uri="{FF2B5EF4-FFF2-40B4-BE49-F238E27FC236}">
                <a16:creationId xmlns:a16="http://schemas.microsoft.com/office/drawing/2014/main" id="{C75DE4E4-659F-49E6-9CA7-291630E85241}"/>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A030D58B-1099-4624-9336-05D9845F1FD1}"/>
              </a:ext>
            </a:extLst>
          </p:cNvPr>
          <p:cNvSpPr>
            <a:spLocks xmlns:a="http://schemas.openxmlformats.org/drawingml/2006/main" noGrp="1"/>
          </p:cNvSpPr>
          <p:nvPr/>
        </p:nvSpPr>
        <p:spPr>
          <a:xfrm xmlns:a="http://schemas.openxmlformats.org/drawingml/2006/main">
            <a:off x="100012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32B5132D-5468-4CE2-A230-CA9E2E32B8CE}"/>
              </a:ext>
            </a:extLst>
          </p:cNvPr>
          <p:cNvSpPr>
            <a:spLocks xmlns:a="http://schemas.openxmlformats.org/drawingml/2006/main" noGrp="1"/>
          </p:cNvSpPr>
          <p:nvPr/>
        </p:nvSpPr>
        <p:spPr>
          <a:xfrm xmlns:a="http://schemas.openxmlformats.org/drawingml/2006/main">
            <a:off x="120967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defRPr>
            </a:pPr>
            <a:r>
              <a:rPr sz="1800" b="1">
                <a:solidFill>
                  <a:srgbClr val="111111"/>
                </a:solidFill>
              </a:rPr>
              <a:t>Inspection</a:t>
            </a:r>
          </a:p>
        </p:txBody>
      </p:sp>
      <p:sp>
        <p:nvSpPr>
          <p:cNvPr id="7" name="">
            <a:extLst xmlns:a="http://schemas.openxmlformats.org/drawingml/2006/main">
              <a:ext uri="{FF2B5EF4-FFF2-40B4-BE49-F238E27FC236}">
                <a16:creationId xmlns:a16="http://schemas.microsoft.com/office/drawing/2014/main" id="{5DB0FA06-64A6-4F3D-B39C-8B564F05A5BC}"/>
              </a:ext>
            </a:extLst>
          </p:cNvPr>
          <p:cNvSpPr>
            <a:spLocks xmlns:a="http://schemas.openxmlformats.org/drawingml/2006/main" noGrp="1"/>
          </p:cNvSpPr>
          <p:nvPr/>
        </p:nvSpPr>
        <p:spPr>
          <a:xfrm xmlns:a="http://schemas.openxmlformats.org/drawingml/2006/main">
            <a:off x="120967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What defect happened?</a:t>
            </a:r>
          </a:p>
        </p:txBody>
      </p:sp>
      <p:sp>
        <p:nvSpPr>
          <p:cNvPr id="8" name="">
            <a:extLst xmlns:a="http://schemas.openxmlformats.org/drawingml/2006/main">
              <a:ext uri="{FF2B5EF4-FFF2-40B4-BE49-F238E27FC236}">
                <a16:creationId xmlns:a16="http://schemas.microsoft.com/office/drawing/2014/main" id="{62698A21-FB5D-4D60-9CD1-4A7A419FE7A9}"/>
              </a:ext>
            </a:extLst>
          </p:cNvPr>
          <p:cNvSpPr>
            <a:spLocks xmlns:a="http://schemas.openxmlformats.org/drawingml/2006/main" noGrp="1"/>
          </p:cNvSpPr>
          <p:nvPr/>
        </p:nvSpPr>
        <p:spPr>
          <a:xfrm xmlns:a="http://schemas.openxmlformats.org/drawingml/2006/main">
            <a:off x="333375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defRPr>
            </a:pPr>
            <a:r>
              <a:rPr sz="2550" b="1">
                <a:solidFill>
                  <a:srgbClr val="CFCFCF"/>
                </a:solidFill>
              </a:rPr>
              <a:t>&gt;</a:t>
            </a:r>
          </a:p>
        </p:txBody>
      </p:sp>
      <p:sp>
        <p:nvSpPr>
          <p:cNvPr id="9" name="">
            <a:extLst xmlns:a="http://schemas.openxmlformats.org/drawingml/2006/main">
              <a:ext uri="{FF2B5EF4-FFF2-40B4-BE49-F238E27FC236}">
                <a16:creationId xmlns:a16="http://schemas.microsoft.com/office/drawing/2014/main" id="{652285FC-7B47-4777-B249-2396A8B9E40C}"/>
              </a:ext>
            </a:extLst>
          </p:cNvPr>
          <p:cNvSpPr>
            <a:spLocks xmlns:a="http://schemas.openxmlformats.org/drawingml/2006/main" noGrp="1"/>
          </p:cNvSpPr>
          <p:nvPr/>
        </p:nvSpPr>
        <p:spPr>
          <a:xfrm xmlns:a="http://schemas.openxmlformats.org/drawingml/2006/main">
            <a:off x="357187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880D8B6A-B935-4CCF-8379-2B7B6F846B10}"/>
              </a:ext>
            </a:extLst>
          </p:cNvPr>
          <p:cNvSpPr>
            <a:spLocks xmlns:a="http://schemas.openxmlformats.org/drawingml/2006/main" noGrp="1"/>
          </p:cNvSpPr>
          <p:nvPr/>
        </p:nvSpPr>
        <p:spPr>
          <a:xfrm xmlns:a="http://schemas.openxmlformats.org/drawingml/2006/main">
            <a:off x="378142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defRPr>
            </a:pPr>
            <a:r>
              <a:rPr sz="1800" b="1">
                <a:solidFill>
                  <a:srgbClr val="111111"/>
                </a:solidFill>
              </a:rPr>
              <a:t>Traceability</a:t>
            </a:r>
          </a:p>
        </p:txBody>
      </p:sp>
      <p:sp>
        <p:nvSpPr>
          <p:cNvPr id="11" name="">
            <a:extLst xmlns:a="http://schemas.openxmlformats.org/drawingml/2006/main">
              <a:ext uri="{FF2B5EF4-FFF2-40B4-BE49-F238E27FC236}">
                <a16:creationId xmlns:a16="http://schemas.microsoft.com/office/drawing/2014/main" id="{63193061-E9AF-4396-A707-183D7BA722EE}"/>
              </a:ext>
            </a:extLst>
          </p:cNvPr>
          <p:cNvSpPr>
            <a:spLocks xmlns:a="http://schemas.openxmlformats.org/drawingml/2006/main" noGrp="1"/>
          </p:cNvSpPr>
          <p:nvPr/>
        </p:nvSpPr>
        <p:spPr>
          <a:xfrm xmlns:a="http://schemas.openxmlformats.org/drawingml/2006/main">
            <a:off x="378142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Which roll, order, recipe, line, and supplier batch?</a:t>
            </a:r>
          </a:p>
        </p:txBody>
      </p:sp>
      <p:sp>
        <p:nvSpPr>
          <p:cNvPr id="12" name="">
            <a:extLst xmlns:a="http://schemas.openxmlformats.org/drawingml/2006/main">
              <a:ext uri="{FF2B5EF4-FFF2-40B4-BE49-F238E27FC236}">
                <a16:creationId xmlns:a16="http://schemas.microsoft.com/office/drawing/2014/main" id="{54E4DD31-4005-4F98-A02B-DEC2E94D1921}"/>
              </a:ext>
            </a:extLst>
          </p:cNvPr>
          <p:cNvSpPr>
            <a:spLocks xmlns:a="http://schemas.openxmlformats.org/drawingml/2006/main" noGrp="1"/>
          </p:cNvSpPr>
          <p:nvPr/>
        </p:nvSpPr>
        <p:spPr>
          <a:xfrm xmlns:a="http://schemas.openxmlformats.org/drawingml/2006/main">
            <a:off x="590550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defRPr>
            </a:pPr>
            <a:r>
              <a:rPr sz="2550" b="1">
                <a:solidFill>
                  <a:srgbClr val="CFCFCF"/>
                </a:solidFill>
              </a:rPr>
              <a:t>&gt;</a:t>
            </a:r>
          </a:p>
        </p:txBody>
      </p:sp>
      <p:sp>
        <p:nvSpPr>
          <p:cNvPr id="13" name="">
            <a:extLst xmlns:a="http://schemas.openxmlformats.org/drawingml/2006/main">
              <a:ext uri="{FF2B5EF4-FFF2-40B4-BE49-F238E27FC236}">
                <a16:creationId xmlns:a16="http://schemas.microsoft.com/office/drawing/2014/main" id="{9D137220-091A-4BFE-9348-730F778F0CDD}"/>
              </a:ext>
            </a:extLst>
          </p:cNvPr>
          <p:cNvSpPr>
            <a:spLocks xmlns:a="http://schemas.openxmlformats.org/drawingml/2006/main" noGrp="1"/>
          </p:cNvSpPr>
          <p:nvPr/>
        </p:nvSpPr>
        <p:spPr>
          <a:xfrm xmlns:a="http://schemas.openxmlformats.org/drawingml/2006/main">
            <a:off x="614362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4D18D51E-D685-478B-8DA4-8351A0B46E4A}"/>
              </a:ext>
            </a:extLst>
          </p:cNvPr>
          <p:cNvSpPr>
            <a:spLocks xmlns:a="http://schemas.openxmlformats.org/drawingml/2006/main" noGrp="1"/>
          </p:cNvSpPr>
          <p:nvPr/>
        </p:nvSpPr>
        <p:spPr>
          <a:xfrm xmlns:a="http://schemas.openxmlformats.org/drawingml/2006/main">
            <a:off x="635317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defRPr>
            </a:pPr>
            <a:r>
              <a:rPr sz="1800" b="1">
                <a:solidFill>
                  <a:srgbClr val="111111"/>
                </a:solidFill>
              </a:rPr>
              <a:t>Prediction</a:t>
            </a:r>
          </a:p>
        </p:txBody>
      </p:sp>
      <p:sp>
        <p:nvSpPr>
          <p:cNvPr id="15" name="">
            <a:extLst xmlns:a="http://schemas.openxmlformats.org/drawingml/2006/main">
              <a:ext uri="{FF2B5EF4-FFF2-40B4-BE49-F238E27FC236}">
                <a16:creationId xmlns:a16="http://schemas.microsoft.com/office/drawing/2014/main" id="{721CAAC0-841E-423F-8C36-43D747A247AD}"/>
              </a:ext>
            </a:extLst>
          </p:cNvPr>
          <p:cNvSpPr>
            <a:spLocks xmlns:a="http://schemas.openxmlformats.org/drawingml/2006/main" noGrp="1"/>
          </p:cNvSpPr>
          <p:nvPr/>
        </p:nvSpPr>
        <p:spPr>
          <a:xfrm xmlns:a="http://schemas.openxmlformats.org/drawingml/2006/main">
            <a:off x="635317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Which future orders are at risk?</a:t>
            </a:r>
          </a:p>
        </p:txBody>
      </p:sp>
      <p:sp>
        <p:nvSpPr>
          <p:cNvPr id="16" name="">
            <a:extLst xmlns:a="http://schemas.openxmlformats.org/drawingml/2006/main">
              <a:ext uri="{FF2B5EF4-FFF2-40B4-BE49-F238E27FC236}">
                <a16:creationId xmlns:a16="http://schemas.microsoft.com/office/drawing/2014/main" id="{FDB401E3-CB5A-4154-840D-2C5F10D02070}"/>
              </a:ext>
            </a:extLst>
          </p:cNvPr>
          <p:cNvSpPr>
            <a:spLocks xmlns:a="http://schemas.openxmlformats.org/drawingml/2006/main" noGrp="1"/>
          </p:cNvSpPr>
          <p:nvPr/>
        </p:nvSpPr>
        <p:spPr>
          <a:xfrm xmlns:a="http://schemas.openxmlformats.org/drawingml/2006/main">
            <a:off x="847725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defRPr>
            </a:pPr>
            <a:r>
              <a:rPr sz="2550" b="1">
                <a:solidFill>
                  <a:srgbClr val="CFCFCF"/>
                </a:solidFill>
              </a:rPr>
              <a:t>&gt;</a:t>
            </a:r>
          </a:p>
        </p:txBody>
      </p:sp>
      <p:sp>
        <p:nvSpPr>
          <p:cNvPr id="17" name="">
            <a:extLst xmlns:a="http://schemas.openxmlformats.org/drawingml/2006/main">
              <a:ext uri="{FF2B5EF4-FFF2-40B4-BE49-F238E27FC236}">
                <a16:creationId xmlns:a16="http://schemas.microsoft.com/office/drawing/2014/main" id="{27F6EA53-EBF9-47AB-A0EB-42DF11CF3377}"/>
              </a:ext>
            </a:extLst>
          </p:cNvPr>
          <p:cNvSpPr>
            <a:spLocks xmlns:a="http://schemas.openxmlformats.org/drawingml/2006/main" noGrp="1"/>
          </p:cNvSpPr>
          <p:nvPr/>
        </p:nvSpPr>
        <p:spPr>
          <a:xfrm xmlns:a="http://schemas.openxmlformats.org/drawingml/2006/main">
            <a:off x="8715375" y="2190750"/>
            <a:ext cx="2238375" cy="21907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8" name="">
            <a:extLst xmlns:a="http://schemas.openxmlformats.org/drawingml/2006/main">
              <a:ext uri="{FF2B5EF4-FFF2-40B4-BE49-F238E27FC236}">
                <a16:creationId xmlns:a16="http://schemas.microsoft.com/office/drawing/2014/main" id="{0A539B6F-1B3F-4BE2-860C-BB4CF9DF4C4D}"/>
              </a:ext>
            </a:extLst>
          </p:cNvPr>
          <p:cNvSpPr>
            <a:spLocks xmlns:a="http://schemas.openxmlformats.org/drawingml/2006/main" noGrp="1"/>
          </p:cNvSpPr>
          <p:nvPr/>
        </p:nvSpPr>
        <p:spPr>
          <a:xfrm xmlns:a="http://schemas.openxmlformats.org/drawingml/2006/main">
            <a:off x="892492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defRPr>
            </a:pPr>
            <a:r>
              <a:rPr sz="1800" b="1">
                <a:solidFill>
                  <a:srgbClr val="111111"/>
                </a:solidFill>
              </a:rPr>
              <a:t>Prevention</a:t>
            </a:r>
          </a:p>
        </p:txBody>
      </p:sp>
      <p:sp>
        <p:nvSpPr>
          <p:cNvPr id="19" name="">
            <a:extLst xmlns:a="http://schemas.openxmlformats.org/drawingml/2006/main">
              <a:ext uri="{FF2B5EF4-FFF2-40B4-BE49-F238E27FC236}">
                <a16:creationId xmlns:a16="http://schemas.microsoft.com/office/drawing/2014/main" id="{C13262D1-BFFA-4F56-A172-B65EB40975C4}"/>
              </a:ext>
            </a:extLst>
          </p:cNvPr>
          <p:cNvSpPr>
            <a:spLocks xmlns:a="http://schemas.openxmlformats.org/drawingml/2006/main" noGrp="1"/>
          </p:cNvSpPr>
          <p:nvPr/>
        </p:nvSpPr>
        <p:spPr>
          <a:xfrm xmlns:a="http://schemas.openxmlformats.org/drawingml/2006/main">
            <a:off x="892492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Which process or material change reduces recurrence?</a:t>
            </a:r>
          </a:p>
        </p:txBody>
      </p:sp>
      <p:sp>
        <p:nvSpPr>
          <p:cNvPr id="20" name="">
            <a:extLst xmlns:a="http://schemas.openxmlformats.org/drawingml/2006/main">
              <a:ext uri="{FF2B5EF4-FFF2-40B4-BE49-F238E27FC236}">
                <a16:creationId xmlns:a16="http://schemas.microsoft.com/office/drawing/2014/main" id="{AB4691E7-045C-4BE3-90C2-E926B278C06F}"/>
              </a:ext>
            </a:extLst>
          </p:cNvPr>
          <p:cNvSpPr>
            <a:spLocks xmlns:a="http://schemas.openxmlformats.org/drawingml/2006/main" noGrp="1"/>
          </p:cNvSpPr>
          <p:nvPr/>
        </p:nvSpPr>
        <p:spPr>
          <a:xfrm xmlns:a="http://schemas.openxmlformats.org/drawingml/2006/main">
            <a:off x="1524000" y="5000625"/>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11111"/>
                </a:solidFill>
              </a:defRPr>
            </a:pPr>
            <a:r>
              <a:rPr sz="1950" b="1">
                <a:solidFill>
                  <a:srgbClr val="111111"/>
                </a:solidFill>
              </a:rPr>
              <a:t>The strategic shift is from finding defects late to preventing repeat defects early.</a:t>
            </a:r>
          </a:p>
        </p:txBody>
      </p:sp>
      <p:sp>
        <p:nvSpPr>
          <p:cNvPr id="21" name="">
            <a:extLst xmlns:a="http://schemas.openxmlformats.org/drawingml/2006/main">
              <a:ext uri="{FF2B5EF4-FFF2-40B4-BE49-F238E27FC236}">
                <a16:creationId xmlns:a16="http://schemas.microsoft.com/office/drawing/2014/main" id="{ABAF57C5-2B1F-4AA6-80EF-9410B995C40D}"/>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2" name="">
            <a:extLst xmlns:a="http://schemas.openxmlformats.org/drawingml/2006/main">
              <a:ext uri="{FF2B5EF4-FFF2-40B4-BE49-F238E27FC236}">
                <a16:creationId xmlns:a16="http://schemas.microsoft.com/office/drawing/2014/main" id="{34765880-5282-4910-8F5D-FB1275D4E922}"/>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Source: Darmstaedter Qualitaet; Klevers Qualitaet</a:t>
            </a:r>
          </a:p>
        </p:txBody>
      </p:sp>
      <p:sp>
        <p:nvSpPr>
          <p:cNvPr id="23" name="">
            <a:extLst xmlns:a="http://schemas.openxmlformats.org/drawingml/2006/main">
              <a:ext uri="{FF2B5EF4-FFF2-40B4-BE49-F238E27FC236}">
                <a16:creationId xmlns:a16="http://schemas.microsoft.com/office/drawing/2014/main" id="{B86ECDD5-A48B-4043-8649-12886524EADB}"/>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11</a:t>
            </a:r>
          </a:p>
        </p:txBody>
      </p:sp>
    </p:spTree>
    <p:extLst>
      <p:ext uri="{BB962C8B-B14F-4D97-AF65-F5344CB8AC3E}">
        <p14:creationId xmlns:p14="http://schemas.microsoft.com/office/powerpoint/2010/main" val="142686346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A99E30-46AE-47D5-BE53-23AC6D383D1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PACKAGING</a:t>
            </a:r>
          </a:p>
        </p:txBody>
      </p:sp>
      <p:sp>
        <p:nvSpPr>
          <p:cNvPr id="2" name="">
            <a:extLst xmlns:a="http://schemas.openxmlformats.org/drawingml/2006/main">
              <a:ext uri="{FF2B5EF4-FFF2-40B4-BE49-F238E27FC236}">
                <a16:creationId xmlns:a16="http://schemas.microsoft.com/office/drawing/2014/main" id="{D6ED9672-7125-43D7-B797-E6B6A2AA44D8}"/>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Packaging inspection can become a learning system</a:t>
            </a:r>
          </a:p>
        </p:txBody>
      </p:sp>
      <p:sp>
        <p:nvSpPr>
          <p:cNvPr id="3" name="">
            <a:extLst xmlns:a="http://schemas.openxmlformats.org/drawingml/2006/main">
              <a:ext uri="{FF2B5EF4-FFF2-40B4-BE49-F238E27FC236}">
                <a16:creationId xmlns:a16="http://schemas.microsoft.com/office/drawing/2014/main" id="{1F0CAEE0-4DA6-48A0-8533-E6A50672E23F}"/>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first question is not whether we can train computer vision. It is whether inspection data is connected.</a:t>
            </a:r>
          </a:p>
        </p:txBody>
      </p:sp>
      <p:sp>
        <p:nvSpPr>
          <p:cNvPr id="4" name="">
            <a:extLst xmlns:a="http://schemas.openxmlformats.org/drawingml/2006/main">
              <a:ext uri="{FF2B5EF4-FFF2-40B4-BE49-F238E27FC236}">
                <a16:creationId xmlns:a16="http://schemas.microsoft.com/office/drawing/2014/main" id="{BCBE3645-5C77-4337-97D7-B4BE8B836CF7}"/>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bf245ebed50423a"/>
          <a:srcRect xmlns:a="http://schemas.openxmlformats.org/drawingml/2006/main" l="7556" t="0" r="7556" b="0"/>
          <a:stretch xmlns:a="http://schemas.openxmlformats.org/drawingml/2006/main">
            <a:fillRect l="0" t="0" r="0" b="0"/>
          </a:stretch>
        </p:blipFill>
        <p:spPr>
          <a:xfrm xmlns:a="http://schemas.openxmlformats.org/drawingml/2006/main">
            <a:off x="666750" y="2095500"/>
            <a:ext cx="36195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60711E-9D1D-451D-8535-9A4F080D8E52}"/>
              </a:ext>
            </a:extLst>
          </p:cNvPr>
          <p:cNvSpPr>
            <a:spLocks xmlns:a="http://schemas.openxmlformats.org/drawingml/2006/main" noGrp="1"/>
          </p:cNvSpPr>
          <p:nvPr/>
        </p:nvSpPr>
        <p:spPr>
          <a:xfrm xmlns:a="http://schemas.openxmlformats.org/drawingml/2006/main">
            <a:off x="4810125" y="2095500"/>
            <a:ext cx="5905500" cy="2857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D6BB69B2-F3B1-49DB-8667-FD8E6C059906}"/>
              </a:ext>
            </a:extLst>
          </p:cNvPr>
          <p:cNvSpPr>
            <a:spLocks xmlns:a="http://schemas.openxmlformats.org/drawingml/2006/main" noGrp="1"/>
          </p:cNvSpPr>
          <p:nvPr/>
        </p:nvSpPr>
        <p:spPr>
          <a:xfrm xmlns:a="http://schemas.openxmlformats.org/drawingml/2006/main">
            <a:off x="5095875" y="2343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defRPr>
            </a:pPr>
            <a:r>
              <a:rPr sz="1875" b="1">
                <a:solidFill>
                  <a:srgbClr val="111111"/>
                </a:solidFill>
              </a:rPr>
              <a:t>Packaging AI project ladder</a:t>
            </a:r>
          </a:p>
        </p:txBody>
      </p:sp>
      <p:sp>
        <p:nvSpPr>
          <p:cNvPr id="8" name="">
            <a:extLst xmlns:a="http://schemas.openxmlformats.org/drawingml/2006/main">
              <a:ext uri="{FF2B5EF4-FFF2-40B4-BE49-F238E27FC236}">
                <a16:creationId xmlns:a16="http://schemas.microsoft.com/office/drawing/2014/main" id="{C73280B5-46C2-4467-9D57-823B820EDBB1}"/>
              </a:ext>
            </a:extLst>
          </p:cNvPr>
          <p:cNvSpPr>
            <a:spLocks xmlns:a="http://schemas.openxmlformats.org/drawingml/2006/main" noGrp="1"/>
          </p:cNvSpPr>
          <p:nvPr/>
        </p:nvSpPr>
        <p:spPr>
          <a:xfrm xmlns:a="http://schemas.openxmlformats.org/drawingml/2006/main">
            <a:off x="5095875" y="2905125"/>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 Audit inspection data: images, labels, timestamps, roll IDs, operator decisions</a:t>
            </a:r>
          </a:p>
          <a:p xmlns:a="http://schemas.openxmlformats.org/drawingml/2006/main">
            <a:pPr algn="l">
              <a:defRPr sz="1350" b="0">
                <a:solidFill>
                  <a:srgbClr val="111111"/>
                </a:solidFill>
              </a:defRPr>
            </a:pPr>
            <a:r>
              <a:rPr sz="1350" b="0">
                <a:solidFill>
                  <a:srgbClr val="111111"/>
                </a:solidFill>
              </a:rPr>
              <a:t>- Standardize defect taxonomy and severity</a:t>
            </a:r>
          </a:p>
          <a:p xmlns:a="http://schemas.openxmlformats.org/drawingml/2006/main">
            <a:pPr algn="l">
              <a:defRPr sz="1350" b="0">
                <a:solidFill>
                  <a:srgbClr val="111111"/>
                </a:solidFill>
              </a:defRPr>
            </a:pPr>
            <a:r>
              <a:rPr sz="1350" b="0">
                <a:solidFill>
                  <a:srgbClr val="111111"/>
                </a:solidFill>
              </a:rPr>
              <a:t>- Build defect Pareto and roll quality passport</a:t>
            </a:r>
          </a:p>
          <a:p xmlns:a="http://schemas.openxmlformats.org/drawingml/2006/main">
            <a:pPr algn="l">
              <a:defRPr sz="1350" b="0">
                <a:solidFill>
                  <a:srgbClr val="111111"/>
                </a:solidFill>
              </a:defRPr>
            </a:pPr>
            <a:r>
              <a:rPr sz="1350" b="0">
                <a:solidFill>
                  <a:srgbClr val="111111"/>
                </a:solidFill>
              </a:rPr>
              <a:t>- Connect defect patterns to upstream process conditions</a:t>
            </a:r>
          </a:p>
          <a:p xmlns:a="http://schemas.openxmlformats.org/drawingml/2006/main">
            <a:pPr algn="l">
              <a:defRPr sz="1350" b="0">
                <a:solidFill>
                  <a:srgbClr val="111111"/>
                </a:solidFill>
              </a:defRPr>
            </a:pPr>
            <a:r>
              <a:rPr sz="1350" b="0">
                <a:solidFill>
                  <a:srgbClr val="111111"/>
                </a:solidFill>
              </a:rPr>
              <a:t>- Only then decide whether new computer vision models are worth deploying</a:t>
            </a:r>
          </a:p>
        </p:txBody>
      </p:sp>
      <p:sp>
        <p:nvSpPr>
          <p:cNvPr id="9" name="">
            <a:extLst xmlns:a="http://schemas.openxmlformats.org/drawingml/2006/main">
              <a:ext uri="{FF2B5EF4-FFF2-40B4-BE49-F238E27FC236}">
                <a16:creationId xmlns:a16="http://schemas.microsoft.com/office/drawing/2014/main" id="{09BB9423-2033-434F-816E-89072D958291}"/>
              </a:ext>
            </a:extLst>
          </p:cNvPr>
          <p:cNvSpPr>
            <a:spLocks xmlns:a="http://schemas.openxmlformats.org/drawingml/2006/main" noGrp="1"/>
          </p:cNvSpPr>
          <p:nvPr/>
        </p:nvSpPr>
        <p:spPr>
          <a:xfrm xmlns:a="http://schemas.openxmlformats.org/drawingml/2006/main">
            <a:off x="5095875" y="45720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39200"/>
                </a:solidFill>
              </a:defRPr>
            </a:pPr>
            <a:r>
              <a:rPr sz="1425" b="1">
                <a:solidFill>
                  <a:srgbClr val="F39200"/>
                </a:solidFill>
              </a:rPr>
              <a:t>Computer vision is phase 2. Data linkage is phase 1.</a:t>
            </a:r>
          </a:p>
        </p:txBody>
      </p:sp>
      <p:sp>
        <p:nvSpPr>
          <p:cNvPr id="10" name="">
            <a:extLst xmlns:a="http://schemas.openxmlformats.org/drawingml/2006/main">
              <a:ext uri="{FF2B5EF4-FFF2-40B4-BE49-F238E27FC236}">
                <a16:creationId xmlns:a16="http://schemas.microsoft.com/office/drawing/2014/main" id="{87218F9E-17C0-4F79-A524-5DB13E27CBE8}"/>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11" name="">
            <a:extLst xmlns:a="http://schemas.openxmlformats.org/drawingml/2006/main">
              <a:ext uri="{FF2B5EF4-FFF2-40B4-BE49-F238E27FC236}">
                <a16:creationId xmlns:a16="http://schemas.microsoft.com/office/drawing/2014/main" id="{3C9ABEB8-E0E5-4E5C-896C-4737D7381ED3}"/>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12</a:t>
            </a:r>
          </a:p>
        </p:txBody>
      </p:sp>
    </p:spTree>
    <p:extLst>
      <p:ext uri="{BB962C8B-B14F-4D97-AF65-F5344CB8AC3E}">
        <p14:creationId xmlns:p14="http://schemas.microsoft.com/office/powerpoint/2010/main" val="7407419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B1A634-F7FF-4E26-82EA-EB657039BB3F}"/>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KNOWLEDGE PLATFORM</a:t>
            </a:r>
          </a:p>
        </p:txBody>
      </p:sp>
      <p:sp>
        <p:nvSpPr>
          <p:cNvPr id="2" name="">
            <a:extLst xmlns:a="http://schemas.openxmlformats.org/drawingml/2006/main">
              <a:ext uri="{FF2B5EF4-FFF2-40B4-BE49-F238E27FC236}">
                <a16:creationId xmlns:a16="http://schemas.microsoft.com/office/drawing/2014/main" id="{47FA7FCF-0FA3-4BB2-B87A-E5B8655461F2}"/>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A knowledge platform makes know-how reusable</a:t>
            </a:r>
          </a:p>
        </p:txBody>
      </p:sp>
      <p:sp>
        <p:nvSpPr>
          <p:cNvPr id="3" name="">
            <a:extLst xmlns:a="http://schemas.openxmlformats.org/drawingml/2006/main">
              <a:ext uri="{FF2B5EF4-FFF2-40B4-BE49-F238E27FC236}">
                <a16:creationId xmlns:a16="http://schemas.microsoft.com/office/drawing/2014/main" id="{96E7C15B-519D-4092-B8C6-1BD7BA9189D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platform should answer with sources, not guesses.</a:t>
            </a:r>
          </a:p>
        </p:txBody>
      </p:sp>
      <p:sp>
        <p:nvSpPr>
          <p:cNvPr id="4" name="">
            <a:extLst xmlns:a="http://schemas.openxmlformats.org/drawingml/2006/main">
              <a:ext uri="{FF2B5EF4-FFF2-40B4-BE49-F238E27FC236}">
                <a16:creationId xmlns:a16="http://schemas.microsoft.com/office/drawing/2014/main" id="{56B3797F-4C15-4CC1-ACFD-9FE3A4F6B11E}"/>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16F64316-0923-46DD-B0CF-B5DA5305C02A}"/>
              </a:ext>
            </a:extLst>
          </p:cNvPr>
          <p:cNvSpPr>
            <a:spLocks xmlns:a="http://schemas.openxmlformats.org/drawingml/2006/main" noGrp="1"/>
          </p:cNvSpPr>
          <p:nvPr/>
        </p:nvSpPr>
        <p:spPr>
          <a:xfrm xmlns:a="http://schemas.openxmlformats.org/drawingml/2006/main">
            <a:off x="952500" y="2095500"/>
            <a:ext cx="2286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33D1EC21-11D8-4F9E-A564-BC392756B45B}"/>
              </a:ext>
            </a:extLst>
          </p:cNvPr>
          <p:cNvSpPr>
            <a:spLocks xmlns:a="http://schemas.openxmlformats.org/drawingml/2006/main" noGrp="1"/>
          </p:cNvSpPr>
          <p:nvPr/>
        </p:nvSpPr>
        <p:spPr>
          <a:xfrm xmlns:a="http://schemas.openxmlformats.org/drawingml/2006/main">
            <a:off x="1047750" y="21717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Layer</a:t>
            </a:r>
          </a:p>
        </p:txBody>
      </p:sp>
      <p:sp>
        <p:nvSpPr>
          <p:cNvPr id="7" name="">
            <a:extLst xmlns:a="http://schemas.openxmlformats.org/drawingml/2006/main">
              <a:ext uri="{FF2B5EF4-FFF2-40B4-BE49-F238E27FC236}">
                <a16:creationId xmlns:a16="http://schemas.microsoft.com/office/drawing/2014/main" id="{DD0AF737-5485-4546-9868-34D32F27B378}"/>
              </a:ext>
            </a:extLst>
          </p:cNvPr>
          <p:cNvSpPr>
            <a:spLocks xmlns:a="http://schemas.openxmlformats.org/drawingml/2006/main" noGrp="1"/>
          </p:cNvSpPr>
          <p:nvPr/>
        </p:nvSpPr>
        <p:spPr>
          <a:xfrm xmlns:a="http://schemas.openxmlformats.org/drawingml/2006/main">
            <a:off x="3238500" y="2095500"/>
            <a:ext cx="7239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1B010E3E-4720-4974-BB84-B1D6408FB8D6}"/>
              </a:ext>
            </a:extLst>
          </p:cNvPr>
          <p:cNvSpPr>
            <a:spLocks xmlns:a="http://schemas.openxmlformats.org/drawingml/2006/main" noGrp="1"/>
          </p:cNvSpPr>
          <p:nvPr/>
        </p:nvSpPr>
        <p:spPr>
          <a:xfrm xmlns:a="http://schemas.openxmlformats.org/drawingml/2006/main">
            <a:off x="3333750" y="21717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Purpose</a:t>
            </a:r>
          </a:p>
        </p:txBody>
      </p:sp>
      <p:sp>
        <p:nvSpPr>
          <p:cNvPr id="9" name="">
            <a:extLst xmlns:a="http://schemas.openxmlformats.org/drawingml/2006/main">
              <a:ext uri="{FF2B5EF4-FFF2-40B4-BE49-F238E27FC236}">
                <a16:creationId xmlns:a16="http://schemas.microsoft.com/office/drawing/2014/main" id="{75FD63EA-F244-47AD-AD4B-A4526A0452AC}"/>
              </a:ext>
            </a:extLst>
          </p:cNvPr>
          <p:cNvSpPr>
            <a:spLocks xmlns:a="http://schemas.openxmlformats.org/drawingml/2006/main" noGrp="1"/>
          </p:cNvSpPr>
          <p:nvPr/>
        </p:nvSpPr>
        <p:spPr>
          <a:xfrm xmlns:a="http://schemas.openxmlformats.org/drawingml/2006/main">
            <a:off x="952500" y="26289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BFFD3EB2-80CC-48DC-913C-AC46FBAAA983}"/>
              </a:ext>
            </a:extLst>
          </p:cNvPr>
          <p:cNvSpPr>
            <a:spLocks xmlns:a="http://schemas.openxmlformats.org/drawingml/2006/main" noGrp="1"/>
          </p:cNvSpPr>
          <p:nvPr/>
        </p:nvSpPr>
        <p:spPr>
          <a:xfrm xmlns:a="http://schemas.openxmlformats.org/drawingml/2006/main">
            <a:off x="1047750" y="27051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Source connectors</a:t>
            </a:r>
          </a:p>
        </p:txBody>
      </p:sp>
      <p:sp>
        <p:nvSpPr>
          <p:cNvPr id="11" name="">
            <a:extLst xmlns:a="http://schemas.openxmlformats.org/drawingml/2006/main">
              <a:ext uri="{FF2B5EF4-FFF2-40B4-BE49-F238E27FC236}">
                <a16:creationId xmlns:a16="http://schemas.microsoft.com/office/drawing/2014/main" id="{7C1FB0D9-5BDC-47C8-9DE8-57F6F03896BF}"/>
              </a:ext>
            </a:extLst>
          </p:cNvPr>
          <p:cNvSpPr>
            <a:spLocks xmlns:a="http://schemas.openxmlformats.org/drawingml/2006/main" noGrp="1"/>
          </p:cNvSpPr>
          <p:nvPr/>
        </p:nvSpPr>
        <p:spPr>
          <a:xfrm xmlns:a="http://schemas.openxmlformats.org/drawingml/2006/main">
            <a:off x="3238500" y="26289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E6BFEDB5-1C09-43BD-9C3D-9EE9A7A760EE}"/>
              </a:ext>
            </a:extLst>
          </p:cNvPr>
          <p:cNvSpPr>
            <a:spLocks xmlns:a="http://schemas.openxmlformats.org/drawingml/2006/main" noGrp="1"/>
          </p:cNvSpPr>
          <p:nvPr/>
        </p:nvSpPr>
        <p:spPr>
          <a:xfrm xmlns:a="http://schemas.openxmlformats.org/drawingml/2006/main">
            <a:off x="3333750" y="27051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ERP, QC, lab, inspection, production, file shares, email exports</a:t>
            </a:r>
          </a:p>
        </p:txBody>
      </p:sp>
      <p:sp>
        <p:nvSpPr>
          <p:cNvPr id="13" name="">
            <a:extLst xmlns:a="http://schemas.openxmlformats.org/drawingml/2006/main">
              <a:ext uri="{FF2B5EF4-FFF2-40B4-BE49-F238E27FC236}">
                <a16:creationId xmlns:a16="http://schemas.microsoft.com/office/drawing/2014/main" id="{FC042AF0-C604-4297-B736-F2ED015DA961}"/>
              </a:ext>
            </a:extLst>
          </p:cNvPr>
          <p:cNvSpPr>
            <a:spLocks xmlns:a="http://schemas.openxmlformats.org/drawingml/2006/main" noGrp="1"/>
          </p:cNvSpPr>
          <p:nvPr/>
        </p:nvSpPr>
        <p:spPr>
          <a:xfrm xmlns:a="http://schemas.openxmlformats.org/drawingml/2006/main">
            <a:off x="952500" y="3162300"/>
            <a:ext cx="2286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716D90F3-5A1A-4184-81F9-A7BF423A6310}"/>
              </a:ext>
            </a:extLst>
          </p:cNvPr>
          <p:cNvSpPr>
            <a:spLocks xmlns:a="http://schemas.openxmlformats.org/drawingml/2006/main" noGrp="1"/>
          </p:cNvSpPr>
          <p:nvPr/>
        </p:nvSpPr>
        <p:spPr>
          <a:xfrm xmlns:a="http://schemas.openxmlformats.org/drawingml/2006/main">
            <a:off x="1047750" y="32385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Document intelligence</a:t>
            </a:r>
          </a:p>
        </p:txBody>
      </p:sp>
      <p:sp>
        <p:nvSpPr>
          <p:cNvPr id="15" name="">
            <a:extLst xmlns:a="http://schemas.openxmlformats.org/drawingml/2006/main">
              <a:ext uri="{FF2B5EF4-FFF2-40B4-BE49-F238E27FC236}">
                <a16:creationId xmlns:a16="http://schemas.microsoft.com/office/drawing/2014/main" id="{5743E6D3-24AB-4170-8AD9-ED76B8A9696E}"/>
              </a:ext>
            </a:extLst>
          </p:cNvPr>
          <p:cNvSpPr>
            <a:spLocks xmlns:a="http://schemas.openxmlformats.org/drawingml/2006/main" noGrp="1"/>
          </p:cNvSpPr>
          <p:nvPr/>
        </p:nvSpPr>
        <p:spPr>
          <a:xfrm xmlns:a="http://schemas.openxmlformats.org/drawingml/2006/main">
            <a:off x="3238500" y="3162300"/>
            <a:ext cx="7239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4A2D68B4-6E65-4D41-B5EF-C90F16686C0B}"/>
              </a:ext>
            </a:extLst>
          </p:cNvPr>
          <p:cNvSpPr>
            <a:spLocks xmlns:a="http://schemas.openxmlformats.org/drawingml/2006/main" noGrp="1"/>
          </p:cNvSpPr>
          <p:nvPr/>
        </p:nvSpPr>
        <p:spPr>
          <a:xfrm xmlns:a="http://schemas.openxmlformats.org/drawingml/2006/main">
            <a:off x="3333750" y="32385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OCR, table extraction, metadata, duplicate handling</a:t>
            </a:r>
          </a:p>
        </p:txBody>
      </p:sp>
      <p:sp>
        <p:nvSpPr>
          <p:cNvPr id="17" name="">
            <a:extLst xmlns:a="http://schemas.openxmlformats.org/drawingml/2006/main">
              <a:ext uri="{FF2B5EF4-FFF2-40B4-BE49-F238E27FC236}">
                <a16:creationId xmlns:a16="http://schemas.microsoft.com/office/drawing/2014/main" id="{B12C98D3-1684-4115-A5F5-F6760EE73EF0}"/>
              </a:ext>
            </a:extLst>
          </p:cNvPr>
          <p:cNvSpPr>
            <a:spLocks xmlns:a="http://schemas.openxmlformats.org/drawingml/2006/main" noGrp="1"/>
          </p:cNvSpPr>
          <p:nvPr/>
        </p:nvSpPr>
        <p:spPr>
          <a:xfrm xmlns:a="http://schemas.openxmlformats.org/drawingml/2006/main">
            <a:off x="952500" y="36957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D1FF6541-5198-48CF-8CCF-BB027901DB4B}"/>
              </a:ext>
            </a:extLst>
          </p:cNvPr>
          <p:cNvSpPr>
            <a:spLocks xmlns:a="http://schemas.openxmlformats.org/drawingml/2006/main" noGrp="1"/>
          </p:cNvSpPr>
          <p:nvPr/>
        </p:nvSpPr>
        <p:spPr>
          <a:xfrm xmlns:a="http://schemas.openxmlformats.org/drawingml/2006/main">
            <a:off x="1047750" y="3771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Knowledge graph</a:t>
            </a:r>
          </a:p>
        </p:txBody>
      </p:sp>
      <p:sp>
        <p:nvSpPr>
          <p:cNvPr id="19" name="">
            <a:extLst xmlns:a="http://schemas.openxmlformats.org/drawingml/2006/main">
              <a:ext uri="{FF2B5EF4-FFF2-40B4-BE49-F238E27FC236}">
                <a16:creationId xmlns:a16="http://schemas.microsoft.com/office/drawing/2014/main" id="{DF907CA0-86F6-4146-90E8-F2C541534FD3}"/>
              </a:ext>
            </a:extLst>
          </p:cNvPr>
          <p:cNvSpPr>
            <a:spLocks xmlns:a="http://schemas.openxmlformats.org/drawingml/2006/main" noGrp="1"/>
          </p:cNvSpPr>
          <p:nvPr/>
        </p:nvSpPr>
        <p:spPr>
          <a:xfrm xmlns:a="http://schemas.openxmlformats.org/drawingml/2006/main">
            <a:off x="3238500" y="36957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1D2C286A-214F-4363-905D-42A81DC0113D}"/>
              </a:ext>
            </a:extLst>
          </p:cNvPr>
          <p:cNvSpPr>
            <a:spLocks xmlns:a="http://schemas.openxmlformats.org/drawingml/2006/main" noGrp="1"/>
          </p:cNvSpPr>
          <p:nvPr/>
        </p:nvSpPr>
        <p:spPr>
          <a:xfrm xmlns:a="http://schemas.openxmlformats.org/drawingml/2006/main">
            <a:off x="3333750" y="37719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Products, materials, processes, tests, defects, certificates, customers</a:t>
            </a:r>
          </a:p>
        </p:txBody>
      </p:sp>
      <p:sp>
        <p:nvSpPr>
          <p:cNvPr id="21" name="">
            <a:extLst xmlns:a="http://schemas.openxmlformats.org/drawingml/2006/main">
              <a:ext uri="{FF2B5EF4-FFF2-40B4-BE49-F238E27FC236}">
                <a16:creationId xmlns:a16="http://schemas.microsoft.com/office/drawing/2014/main" id="{47D33A58-7442-40E7-BEBD-356C48D840E6}"/>
              </a:ext>
            </a:extLst>
          </p:cNvPr>
          <p:cNvSpPr>
            <a:spLocks xmlns:a="http://schemas.openxmlformats.org/drawingml/2006/main" noGrp="1"/>
          </p:cNvSpPr>
          <p:nvPr/>
        </p:nvSpPr>
        <p:spPr>
          <a:xfrm xmlns:a="http://schemas.openxmlformats.org/drawingml/2006/main">
            <a:off x="952500" y="4229100"/>
            <a:ext cx="2286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87FE8623-E791-46A9-B104-005F1F2C67C6}"/>
              </a:ext>
            </a:extLst>
          </p:cNvPr>
          <p:cNvSpPr>
            <a:spLocks xmlns:a="http://schemas.openxmlformats.org/drawingml/2006/main" noGrp="1"/>
          </p:cNvSpPr>
          <p:nvPr/>
        </p:nvSpPr>
        <p:spPr>
          <a:xfrm xmlns:a="http://schemas.openxmlformats.org/drawingml/2006/main">
            <a:off x="1047750" y="43053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RAG search</a:t>
            </a:r>
          </a:p>
        </p:txBody>
      </p:sp>
      <p:sp>
        <p:nvSpPr>
          <p:cNvPr id="23" name="">
            <a:extLst xmlns:a="http://schemas.openxmlformats.org/drawingml/2006/main">
              <a:ext uri="{FF2B5EF4-FFF2-40B4-BE49-F238E27FC236}">
                <a16:creationId xmlns:a16="http://schemas.microsoft.com/office/drawing/2014/main" id="{CF69B420-A2F9-453F-97E1-AA01E03425DB}"/>
              </a:ext>
            </a:extLst>
          </p:cNvPr>
          <p:cNvSpPr>
            <a:spLocks xmlns:a="http://schemas.openxmlformats.org/drawingml/2006/main" noGrp="1"/>
          </p:cNvSpPr>
          <p:nvPr/>
        </p:nvSpPr>
        <p:spPr>
          <a:xfrm xmlns:a="http://schemas.openxmlformats.org/drawingml/2006/main">
            <a:off x="3238500" y="4229100"/>
            <a:ext cx="7239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F11B4F75-BEA0-49B3-B0B1-8BD540324E92}"/>
              </a:ext>
            </a:extLst>
          </p:cNvPr>
          <p:cNvSpPr>
            <a:spLocks xmlns:a="http://schemas.openxmlformats.org/drawingml/2006/main" noGrp="1"/>
          </p:cNvSpPr>
          <p:nvPr/>
        </p:nvSpPr>
        <p:spPr>
          <a:xfrm xmlns:a="http://schemas.openxmlformats.org/drawingml/2006/main">
            <a:off x="3333750" y="43053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Source-cited answers across approved documents</a:t>
            </a:r>
          </a:p>
        </p:txBody>
      </p:sp>
      <p:sp>
        <p:nvSpPr>
          <p:cNvPr id="25" name="">
            <a:extLst xmlns:a="http://schemas.openxmlformats.org/drawingml/2006/main">
              <a:ext uri="{FF2B5EF4-FFF2-40B4-BE49-F238E27FC236}">
                <a16:creationId xmlns:a16="http://schemas.microsoft.com/office/drawing/2014/main" id="{0C2DBB30-9BE2-41AC-A8DF-7BA68800CB7D}"/>
              </a:ext>
            </a:extLst>
          </p:cNvPr>
          <p:cNvSpPr>
            <a:spLocks xmlns:a="http://schemas.openxmlformats.org/drawingml/2006/main" noGrp="1"/>
          </p:cNvSpPr>
          <p:nvPr/>
        </p:nvSpPr>
        <p:spPr>
          <a:xfrm xmlns:a="http://schemas.openxmlformats.org/drawingml/2006/main">
            <a:off x="952500" y="47625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B5C15EB7-4148-46EB-829B-A1DAEFC9F698}"/>
              </a:ext>
            </a:extLst>
          </p:cNvPr>
          <p:cNvSpPr>
            <a:spLocks xmlns:a="http://schemas.openxmlformats.org/drawingml/2006/main" noGrp="1"/>
          </p:cNvSpPr>
          <p:nvPr/>
        </p:nvSpPr>
        <p:spPr>
          <a:xfrm xmlns:a="http://schemas.openxmlformats.org/drawingml/2006/main">
            <a:off x="1047750" y="48387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AI applications</a:t>
            </a:r>
          </a:p>
        </p:txBody>
      </p:sp>
      <p:sp>
        <p:nvSpPr>
          <p:cNvPr id="27" name="">
            <a:extLst xmlns:a="http://schemas.openxmlformats.org/drawingml/2006/main">
              <a:ext uri="{FF2B5EF4-FFF2-40B4-BE49-F238E27FC236}">
                <a16:creationId xmlns:a16="http://schemas.microsoft.com/office/drawing/2014/main" id="{F2014191-D07F-4011-AD39-B6951D7E8906}"/>
              </a:ext>
            </a:extLst>
          </p:cNvPr>
          <p:cNvSpPr>
            <a:spLocks xmlns:a="http://schemas.openxmlformats.org/drawingml/2006/main" noGrp="1"/>
          </p:cNvSpPr>
          <p:nvPr/>
        </p:nvSpPr>
        <p:spPr>
          <a:xfrm xmlns:a="http://schemas.openxmlformats.org/drawingml/2006/main">
            <a:off x="3238500" y="47625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926C3D56-44C6-4D7F-AC40-34524255FA3A}"/>
              </a:ext>
            </a:extLst>
          </p:cNvPr>
          <p:cNvSpPr>
            <a:spLocks xmlns:a="http://schemas.openxmlformats.org/drawingml/2006/main" noGrp="1"/>
          </p:cNvSpPr>
          <p:nvPr/>
        </p:nvSpPr>
        <p:spPr>
          <a:xfrm xmlns:a="http://schemas.openxmlformats.org/drawingml/2006/main">
            <a:off x="3333750" y="48387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R&amp;D copilot, quality copilot, sales assistant, operator support</a:t>
            </a:r>
          </a:p>
        </p:txBody>
      </p:sp>
      <p:sp>
        <p:nvSpPr>
          <p:cNvPr id="29" name="">
            <a:extLst xmlns:a="http://schemas.openxmlformats.org/drawingml/2006/main">
              <a:ext uri="{FF2B5EF4-FFF2-40B4-BE49-F238E27FC236}">
                <a16:creationId xmlns:a16="http://schemas.microsoft.com/office/drawing/2014/main" id="{716BB789-9E2E-4CF6-96D0-3D01B749A66A}"/>
              </a:ext>
            </a:extLst>
          </p:cNvPr>
          <p:cNvSpPr>
            <a:spLocks xmlns:a="http://schemas.openxmlformats.org/drawingml/2006/main" noGrp="1"/>
          </p:cNvSpPr>
          <p:nvPr/>
        </p:nvSpPr>
        <p:spPr>
          <a:xfrm xmlns:a="http://schemas.openxmlformats.org/drawingml/2006/main">
            <a:off x="952500" y="2095500"/>
            <a:ext cx="9525000" cy="32004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5638F25B-E182-4FE3-869C-FC25ECB80856}"/>
              </a:ext>
            </a:extLst>
          </p:cNvPr>
          <p:cNvSpPr>
            <a:spLocks xmlns:a="http://schemas.openxmlformats.org/drawingml/2006/main" noGrp="1"/>
          </p:cNvSpPr>
          <p:nvPr/>
        </p:nvSpPr>
        <p:spPr>
          <a:xfrm xmlns:a="http://schemas.openxmlformats.org/drawingml/2006/main">
            <a:off x="952500" y="547687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39200"/>
                </a:solidFill>
              </a:defRPr>
            </a:pPr>
            <a:r>
              <a:rPr sz="1950" b="1">
                <a:solidFill>
                  <a:srgbClr val="F39200"/>
                </a:solidFill>
              </a:rPr>
              <a:t>Governance rule: no source, no answer.</a:t>
            </a:r>
          </a:p>
        </p:txBody>
      </p:sp>
      <p:sp>
        <p:nvSpPr>
          <p:cNvPr id="31" name="">
            <a:extLst xmlns:a="http://schemas.openxmlformats.org/drawingml/2006/main">
              <a:ext uri="{FF2B5EF4-FFF2-40B4-BE49-F238E27FC236}">
                <a16:creationId xmlns:a16="http://schemas.microsoft.com/office/drawing/2014/main" id="{DBCCB1E7-C5A9-4A69-B15E-79ADFC48AC3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2" name="">
            <a:extLst xmlns:a="http://schemas.openxmlformats.org/drawingml/2006/main">
              <a:ext uri="{FF2B5EF4-FFF2-40B4-BE49-F238E27FC236}">
                <a16:creationId xmlns:a16="http://schemas.microsoft.com/office/drawing/2014/main" id="{7E3C4D65-F9A7-47D3-A674-60B892A2FDC7}"/>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13</a:t>
            </a:r>
          </a:p>
        </p:txBody>
      </p:sp>
    </p:spTree>
    <p:extLst>
      <p:ext uri="{BB962C8B-B14F-4D97-AF65-F5344CB8AC3E}">
        <p14:creationId xmlns:p14="http://schemas.microsoft.com/office/powerpoint/2010/main" val="9321752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C71DBE-7448-4B85-BBC9-111D498BF0BB}"/>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ROADMAP</a:t>
            </a:r>
          </a:p>
        </p:txBody>
      </p:sp>
      <p:sp>
        <p:nvSpPr>
          <p:cNvPr id="2" name="">
            <a:extLst xmlns:a="http://schemas.openxmlformats.org/drawingml/2006/main">
              <a:ext uri="{FF2B5EF4-FFF2-40B4-BE49-F238E27FC236}">
                <a16:creationId xmlns:a16="http://schemas.microsoft.com/office/drawing/2014/main" id="{C548CB3D-2BF6-4422-A4F4-475631A2637A}"/>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roadmap compounds value in staged decisions</a:t>
            </a:r>
          </a:p>
        </p:txBody>
      </p:sp>
      <p:sp>
        <p:nvSpPr>
          <p:cNvPr id="3" name="">
            <a:extLst xmlns:a="http://schemas.openxmlformats.org/drawingml/2006/main">
              <a:ext uri="{FF2B5EF4-FFF2-40B4-BE49-F238E27FC236}">
                <a16:creationId xmlns:a16="http://schemas.microsoft.com/office/drawing/2014/main" id="{736FBBC9-5258-47A0-86D5-777A9F3013B6}"/>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Each phase earns the right to expand.</a:t>
            </a:r>
          </a:p>
        </p:txBody>
      </p:sp>
      <p:sp>
        <p:nvSpPr>
          <p:cNvPr id="4" name="">
            <a:extLst xmlns:a="http://schemas.openxmlformats.org/drawingml/2006/main">
              <a:ext uri="{FF2B5EF4-FFF2-40B4-BE49-F238E27FC236}">
                <a16:creationId xmlns:a16="http://schemas.microsoft.com/office/drawing/2014/main" id="{0F6D030C-7994-4D79-9AF5-4D8FB243002B}"/>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669AD009-8DCE-4BEA-8B88-C6B709357FDB}"/>
              </a:ext>
            </a:extLst>
          </p:cNvPr>
          <p:cNvSpPr>
            <a:spLocks xmlns:a="http://schemas.openxmlformats.org/drawingml/2006/main" noGrp="1"/>
          </p:cNvSpPr>
          <p:nvPr/>
        </p:nvSpPr>
        <p:spPr>
          <a:xfrm xmlns:a="http://schemas.openxmlformats.org/drawingml/2006/main">
            <a:off x="876300" y="1952625"/>
            <a:ext cx="1619250" cy="51435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C52301-4863-43C2-AE51-823B18128149}"/>
              </a:ext>
            </a:extLst>
          </p:cNvPr>
          <p:cNvSpPr>
            <a:spLocks xmlns:a="http://schemas.openxmlformats.org/drawingml/2006/main" noGrp="1"/>
          </p:cNvSpPr>
          <p:nvPr/>
        </p:nvSpPr>
        <p:spPr>
          <a:xfrm xmlns:a="http://schemas.openxmlformats.org/drawingml/2006/main">
            <a:off x="1047750" y="20955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0-3 months</a:t>
            </a:r>
          </a:p>
        </p:txBody>
      </p:sp>
      <p:sp>
        <p:nvSpPr>
          <p:cNvPr id="7" name="">
            <a:extLst xmlns:a="http://schemas.openxmlformats.org/drawingml/2006/main">
              <a:ext uri="{FF2B5EF4-FFF2-40B4-BE49-F238E27FC236}">
                <a16:creationId xmlns:a16="http://schemas.microsoft.com/office/drawing/2014/main" id="{172F60EE-3590-466D-AE7A-663485A6E1C5}"/>
              </a:ext>
            </a:extLst>
          </p:cNvPr>
          <p:cNvSpPr>
            <a:spLocks xmlns:a="http://schemas.openxmlformats.org/drawingml/2006/main" noGrp="1"/>
          </p:cNvSpPr>
          <p:nvPr/>
        </p:nvSpPr>
        <p:spPr>
          <a:xfrm xmlns:a="http://schemas.openxmlformats.org/drawingml/2006/main">
            <a:off x="2686050" y="1952625"/>
            <a:ext cx="7810500" cy="5143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8" name="">
            <a:extLst xmlns:a="http://schemas.openxmlformats.org/drawingml/2006/main">
              <a:ext uri="{FF2B5EF4-FFF2-40B4-BE49-F238E27FC236}">
                <a16:creationId xmlns:a16="http://schemas.microsoft.com/office/drawing/2014/main" id="{BEE7EA89-7A69-4A15-BAEA-810D488082C7}"/>
              </a:ext>
            </a:extLst>
          </p:cNvPr>
          <p:cNvSpPr>
            <a:spLocks xmlns:a="http://schemas.openxmlformats.org/drawingml/2006/main" noGrp="1"/>
          </p:cNvSpPr>
          <p:nvPr/>
        </p:nvSpPr>
        <p:spPr>
          <a:xfrm xmlns:a="http://schemas.openxmlformats.org/drawingml/2006/main">
            <a:off x="2876550" y="20764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111"/>
                </a:solidFill>
              </a:defRPr>
            </a:pPr>
            <a:r>
              <a:rPr sz="1275" b="1">
                <a:solidFill>
                  <a:srgbClr val="111111"/>
                </a:solidFill>
              </a:rPr>
              <a:t>Pilot charter, data discovery, quality dashboard, knowledge assistant</a:t>
            </a:r>
          </a:p>
        </p:txBody>
      </p:sp>
      <p:sp>
        <p:nvSpPr>
          <p:cNvPr id="9" name="">
            <a:extLst xmlns:a="http://schemas.openxmlformats.org/drawingml/2006/main">
              <a:ext uri="{FF2B5EF4-FFF2-40B4-BE49-F238E27FC236}">
                <a16:creationId xmlns:a16="http://schemas.microsoft.com/office/drawing/2014/main" id="{5161E619-9E2A-4351-BED8-3367A494CB01}"/>
              </a:ext>
            </a:extLst>
          </p:cNvPr>
          <p:cNvSpPr>
            <a:spLocks xmlns:a="http://schemas.openxmlformats.org/drawingml/2006/main" noGrp="1"/>
          </p:cNvSpPr>
          <p:nvPr/>
        </p:nvSpPr>
        <p:spPr>
          <a:xfrm xmlns:a="http://schemas.openxmlformats.org/drawingml/2006/main">
            <a:off x="876300" y="265747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34AD8A-74D2-4DBD-8B04-AAD60BE42ADF}"/>
              </a:ext>
            </a:extLst>
          </p:cNvPr>
          <p:cNvSpPr>
            <a:spLocks xmlns:a="http://schemas.openxmlformats.org/drawingml/2006/main" noGrp="1"/>
          </p:cNvSpPr>
          <p:nvPr/>
        </p:nvSpPr>
        <p:spPr>
          <a:xfrm xmlns:a="http://schemas.openxmlformats.org/drawingml/2006/main">
            <a:off x="1047750" y="280035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3-6 months</a:t>
            </a:r>
          </a:p>
        </p:txBody>
      </p:sp>
      <p:sp>
        <p:nvSpPr>
          <p:cNvPr id="11" name="">
            <a:extLst xmlns:a="http://schemas.openxmlformats.org/drawingml/2006/main">
              <a:ext uri="{FF2B5EF4-FFF2-40B4-BE49-F238E27FC236}">
                <a16:creationId xmlns:a16="http://schemas.microsoft.com/office/drawing/2014/main" id="{A4C24C38-4C10-400A-97D0-60DEF8406C93}"/>
              </a:ext>
            </a:extLst>
          </p:cNvPr>
          <p:cNvSpPr>
            <a:spLocks xmlns:a="http://schemas.openxmlformats.org/drawingml/2006/main" noGrp="1"/>
          </p:cNvSpPr>
          <p:nvPr/>
        </p:nvSpPr>
        <p:spPr>
          <a:xfrm xmlns:a="http://schemas.openxmlformats.org/drawingml/2006/main">
            <a:off x="2686050" y="265747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BF9EE975-00B1-4908-B462-B42310801F21}"/>
              </a:ext>
            </a:extLst>
          </p:cNvPr>
          <p:cNvSpPr>
            <a:spLocks xmlns:a="http://schemas.openxmlformats.org/drawingml/2006/main" noGrp="1"/>
          </p:cNvSpPr>
          <p:nvPr/>
        </p:nvSpPr>
        <p:spPr>
          <a:xfrm xmlns:a="http://schemas.openxmlformats.org/drawingml/2006/main">
            <a:off x="2876550" y="27813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11111"/>
                </a:solidFill>
              </a:defRPr>
            </a:pPr>
            <a:r>
              <a:rPr sz="1275" b="0">
                <a:solidFill>
                  <a:srgbClr val="111111"/>
                </a:solidFill>
              </a:rPr>
              <a:t>Roll passport, defect mining, root-cause analytics, first prediction baseline</a:t>
            </a:r>
          </a:p>
        </p:txBody>
      </p:sp>
      <p:sp>
        <p:nvSpPr>
          <p:cNvPr id="13" name="">
            <a:extLst xmlns:a="http://schemas.openxmlformats.org/drawingml/2006/main">
              <a:ext uri="{FF2B5EF4-FFF2-40B4-BE49-F238E27FC236}">
                <a16:creationId xmlns:a16="http://schemas.microsoft.com/office/drawing/2014/main" id="{607791AF-47B7-40F2-BC1D-823957A4961A}"/>
              </a:ext>
            </a:extLst>
          </p:cNvPr>
          <p:cNvSpPr>
            <a:spLocks xmlns:a="http://schemas.openxmlformats.org/drawingml/2006/main" noGrp="1"/>
          </p:cNvSpPr>
          <p:nvPr/>
        </p:nvSpPr>
        <p:spPr>
          <a:xfrm xmlns:a="http://schemas.openxmlformats.org/drawingml/2006/main">
            <a:off x="876300" y="336232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739BD0-3902-444A-BC6E-5A72FF0809DE}"/>
              </a:ext>
            </a:extLst>
          </p:cNvPr>
          <p:cNvSpPr>
            <a:spLocks xmlns:a="http://schemas.openxmlformats.org/drawingml/2006/main" noGrp="1"/>
          </p:cNvSpPr>
          <p:nvPr/>
        </p:nvSpPr>
        <p:spPr>
          <a:xfrm xmlns:a="http://schemas.openxmlformats.org/drawingml/2006/main">
            <a:off x="1047750" y="35052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6-12 months</a:t>
            </a:r>
          </a:p>
        </p:txBody>
      </p:sp>
      <p:sp>
        <p:nvSpPr>
          <p:cNvPr id="15" name="">
            <a:extLst xmlns:a="http://schemas.openxmlformats.org/drawingml/2006/main">
              <a:ext uri="{FF2B5EF4-FFF2-40B4-BE49-F238E27FC236}">
                <a16:creationId xmlns:a16="http://schemas.microsoft.com/office/drawing/2014/main" id="{CBC8BF52-E0EE-46DD-8B1A-91D154A22B31}"/>
              </a:ext>
            </a:extLst>
          </p:cNvPr>
          <p:cNvSpPr>
            <a:spLocks xmlns:a="http://schemas.openxmlformats.org/drawingml/2006/main" noGrp="1"/>
          </p:cNvSpPr>
          <p:nvPr/>
        </p:nvSpPr>
        <p:spPr>
          <a:xfrm xmlns:a="http://schemas.openxmlformats.org/drawingml/2006/main">
            <a:off x="2686050" y="336232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168ACF5C-19B1-401E-9377-76FB92905789}"/>
              </a:ext>
            </a:extLst>
          </p:cNvPr>
          <p:cNvSpPr>
            <a:spLocks xmlns:a="http://schemas.openxmlformats.org/drawingml/2006/main" noGrp="1"/>
          </p:cNvSpPr>
          <p:nvPr/>
        </p:nvSpPr>
        <p:spPr>
          <a:xfrm xmlns:a="http://schemas.openxmlformats.org/drawingml/2006/main">
            <a:off x="2876550" y="34861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11111"/>
                </a:solidFill>
              </a:defRPr>
            </a:pPr>
            <a:r>
              <a:rPr sz="1275" b="0">
                <a:solidFill>
                  <a:srgbClr val="111111"/>
                </a:solidFill>
              </a:rPr>
              <a:t>Data spine across lines, lab notebook, supplier docs, complaint assistant</a:t>
            </a:r>
          </a:p>
        </p:txBody>
      </p:sp>
      <p:sp>
        <p:nvSpPr>
          <p:cNvPr id="17" name="">
            <a:extLst xmlns:a="http://schemas.openxmlformats.org/drawingml/2006/main">
              <a:ext uri="{FF2B5EF4-FFF2-40B4-BE49-F238E27FC236}">
                <a16:creationId xmlns:a16="http://schemas.microsoft.com/office/drawing/2014/main" id="{32FAF576-6F5F-4A4E-BCD7-F5F0305F1A6C}"/>
              </a:ext>
            </a:extLst>
          </p:cNvPr>
          <p:cNvSpPr>
            <a:spLocks xmlns:a="http://schemas.openxmlformats.org/drawingml/2006/main" noGrp="1"/>
          </p:cNvSpPr>
          <p:nvPr/>
        </p:nvSpPr>
        <p:spPr>
          <a:xfrm xmlns:a="http://schemas.openxmlformats.org/drawingml/2006/main">
            <a:off x="876300" y="406717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BC8564-6414-47A4-90A3-C63F99BFF8C1}"/>
              </a:ext>
            </a:extLst>
          </p:cNvPr>
          <p:cNvSpPr>
            <a:spLocks xmlns:a="http://schemas.openxmlformats.org/drawingml/2006/main" noGrp="1"/>
          </p:cNvSpPr>
          <p:nvPr/>
        </p:nvSpPr>
        <p:spPr>
          <a:xfrm xmlns:a="http://schemas.openxmlformats.org/drawingml/2006/main">
            <a:off x="1047750" y="421005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1-3 years</a:t>
            </a:r>
          </a:p>
        </p:txBody>
      </p:sp>
      <p:sp>
        <p:nvSpPr>
          <p:cNvPr id="19" name="">
            <a:extLst xmlns:a="http://schemas.openxmlformats.org/drawingml/2006/main">
              <a:ext uri="{FF2B5EF4-FFF2-40B4-BE49-F238E27FC236}">
                <a16:creationId xmlns:a16="http://schemas.microsoft.com/office/drawing/2014/main" id="{5F20BF38-2D2E-4987-8EB2-5350A1F18434}"/>
              </a:ext>
            </a:extLst>
          </p:cNvPr>
          <p:cNvSpPr>
            <a:spLocks xmlns:a="http://schemas.openxmlformats.org/drawingml/2006/main" noGrp="1"/>
          </p:cNvSpPr>
          <p:nvPr/>
        </p:nvSpPr>
        <p:spPr>
          <a:xfrm xmlns:a="http://schemas.openxmlformats.org/drawingml/2006/main">
            <a:off x="2686050" y="406717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049C0999-5657-4E2C-A5EC-E149207BC79F}"/>
              </a:ext>
            </a:extLst>
          </p:cNvPr>
          <p:cNvSpPr>
            <a:spLocks xmlns:a="http://schemas.openxmlformats.org/drawingml/2006/main" noGrp="1"/>
          </p:cNvSpPr>
          <p:nvPr/>
        </p:nvSpPr>
        <p:spPr>
          <a:xfrm xmlns:a="http://schemas.openxmlformats.org/drawingml/2006/main">
            <a:off x="2876550" y="41910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11111"/>
                </a:solidFill>
              </a:defRPr>
            </a:pPr>
            <a:r>
              <a:rPr sz="1275" b="0">
                <a:solidFill>
                  <a:srgbClr val="111111"/>
                </a:solidFill>
              </a:rPr>
              <a:t>Predictive quality, R&amp;D formulation assistant, scheduling and quote intelligence</a:t>
            </a:r>
          </a:p>
        </p:txBody>
      </p:sp>
      <p:sp>
        <p:nvSpPr>
          <p:cNvPr id="21" name="">
            <a:extLst xmlns:a="http://schemas.openxmlformats.org/drawingml/2006/main">
              <a:ext uri="{FF2B5EF4-FFF2-40B4-BE49-F238E27FC236}">
                <a16:creationId xmlns:a16="http://schemas.microsoft.com/office/drawing/2014/main" id="{F79E8A2D-DB9B-409A-AEF6-F20451B4A5FE}"/>
              </a:ext>
            </a:extLst>
          </p:cNvPr>
          <p:cNvSpPr>
            <a:spLocks xmlns:a="http://schemas.openxmlformats.org/drawingml/2006/main" noGrp="1"/>
          </p:cNvSpPr>
          <p:nvPr/>
        </p:nvSpPr>
        <p:spPr>
          <a:xfrm xmlns:a="http://schemas.openxmlformats.org/drawingml/2006/main">
            <a:off x="876300" y="477202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E4E77C-96DC-4CB0-9748-BC44FF16820E}"/>
              </a:ext>
            </a:extLst>
          </p:cNvPr>
          <p:cNvSpPr>
            <a:spLocks xmlns:a="http://schemas.openxmlformats.org/drawingml/2006/main" noGrp="1"/>
          </p:cNvSpPr>
          <p:nvPr/>
        </p:nvSpPr>
        <p:spPr>
          <a:xfrm xmlns:a="http://schemas.openxmlformats.org/drawingml/2006/main">
            <a:off x="1047750" y="49149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3-5 years</a:t>
            </a:r>
          </a:p>
        </p:txBody>
      </p:sp>
      <p:sp>
        <p:nvSpPr>
          <p:cNvPr id="23" name="">
            <a:extLst xmlns:a="http://schemas.openxmlformats.org/drawingml/2006/main">
              <a:ext uri="{FF2B5EF4-FFF2-40B4-BE49-F238E27FC236}">
                <a16:creationId xmlns:a16="http://schemas.microsoft.com/office/drawing/2014/main" id="{7F72D41A-56C9-49F0-9DB3-53F43FEF026D}"/>
              </a:ext>
            </a:extLst>
          </p:cNvPr>
          <p:cNvSpPr>
            <a:spLocks xmlns:a="http://schemas.openxmlformats.org/drawingml/2006/main" noGrp="1"/>
          </p:cNvSpPr>
          <p:nvPr/>
        </p:nvSpPr>
        <p:spPr>
          <a:xfrm xmlns:a="http://schemas.openxmlformats.org/drawingml/2006/main">
            <a:off x="2686050" y="477202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704A2340-8EF9-4DF0-8FDF-BE04F43CEC2F}"/>
              </a:ext>
            </a:extLst>
          </p:cNvPr>
          <p:cNvSpPr>
            <a:spLocks xmlns:a="http://schemas.openxmlformats.org/drawingml/2006/main" noGrp="1"/>
          </p:cNvSpPr>
          <p:nvPr/>
        </p:nvSpPr>
        <p:spPr>
          <a:xfrm xmlns:a="http://schemas.openxmlformats.org/drawingml/2006/main">
            <a:off x="2876550" y="48958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11111"/>
                </a:solidFill>
              </a:defRPr>
            </a:pPr>
            <a:r>
              <a:rPr sz="1275" b="0">
                <a:solidFill>
                  <a:srgbClr val="111111"/>
                </a:solidFill>
              </a:rPr>
              <a:t>Industrial AI platform, digital twins, patentable materials/process intelligence</a:t>
            </a:r>
          </a:p>
        </p:txBody>
      </p:sp>
      <p:sp>
        <p:nvSpPr>
          <p:cNvPr id="25" name="">
            <a:extLst xmlns:a="http://schemas.openxmlformats.org/drawingml/2006/main">
              <a:ext uri="{FF2B5EF4-FFF2-40B4-BE49-F238E27FC236}">
                <a16:creationId xmlns:a16="http://schemas.microsoft.com/office/drawing/2014/main" id="{DD5C251C-B8AE-43FB-91D1-4D38384B42E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6" name="">
            <a:extLst xmlns:a="http://schemas.openxmlformats.org/drawingml/2006/main">
              <a:ext uri="{FF2B5EF4-FFF2-40B4-BE49-F238E27FC236}">
                <a16:creationId xmlns:a16="http://schemas.microsoft.com/office/drawing/2014/main" id="{34D5B990-7995-46CD-94E8-B6EB10731383}"/>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14</a:t>
            </a:r>
          </a:p>
        </p:txBody>
      </p:sp>
    </p:spTree>
    <p:extLst>
      <p:ext uri="{BB962C8B-B14F-4D97-AF65-F5344CB8AC3E}">
        <p14:creationId xmlns:p14="http://schemas.microsoft.com/office/powerpoint/2010/main" val="197476984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B98536-7A6C-46E9-AB02-6ED744ECACD6}"/>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PRIORITIZATION</a:t>
            </a:r>
          </a:p>
        </p:txBody>
      </p:sp>
      <p:sp>
        <p:nvSpPr>
          <p:cNvPr id="2" name="">
            <a:extLst xmlns:a="http://schemas.openxmlformats.org/drawingml/2006/main">
              <a:ext uri="{FF2B5EF4-FFF2-40B4-BE49-F238E27FC236}">
                <a16:creationId xmlns:a16="http://schemas.microsoft.com/office/drawing/2014/main" id="{4C6B4BF4-F1F7-45C1-866E-1EBE50688D4F}"/>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highest-ranked projects create shared data assets</a:t>
            </a:r>
          </a:p>
        </p:txBody>
      </p:sp>
      <p:sp>
        <p:nvSpPr>
          <p:cNvPr id="3" name="">
            <a:extLst xmlns:a="http://schemas.openxmlformats.org/drawingml/2006/main">
              <a:ext uri="{FF2B5EF4-FFF2-40B4-BE49-F238E27FC236}">
                <a16:creationId xmlns:a16="http://schemas.microsoft.com/office/drawing/2014/main" id="{03A6EB47-6813-44C6-9F2B-2375F67F715C}"/>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Prioritization balances ROI, time to value, risk, visibility, and knowledge creation.</a:t>
            </a:r>
          </a:p>
        </p:txBody>
      </p:sp>
      <p:sp>
        <p:nvSpPr>
          <p:cNvPr id="4" name="">
            <a:extLst xmlns:a="http://schemas.openxmlformats.org/drawingml/2006/main">
              <a:ext uri="{FF2B5EF4-FFF2-40B4-BE49-F238E27FC236}">
                <a16:creationId xmlns:a16="http://schemas.microsoft.com/office/drawing/2014/main" id="{C4DF1F3D-1869-4956-AB87-3C3E81A67C0E}"/>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2E91FAC7-2871-455F-BB98-0E6BDF2F3EBA}"/>
              </a:ext>
            </a:extLst>
          </p:cNvPr>
          <p:cNvSpPr>
            <a:spLocks xmlns:a="http://schemas.openxmlformats.org/drawingml/2006/main" noGrp="1"/>
          </p:cNvSpPr>
          <p:nvPr/>
        </p:nvSpPr>
        <p:spPr>
          <a:xfrm xmlns:a="http://schemas.openxmlformats.org/drawingml/2006/main">
            <a:off x="876300" y="2047875"/>
            <a:ext cx="8572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1A4880B3-F54B-4D62-B874-CB162EC774A0}"/>
              </a:ext>
            </a:extLst>
          </p:cNvPr>
          <p:cNvSpPr>
            <a:spLocks xmlns:a="http://schemas.openxmlformats.org/drawingml/2006/main" noGrp="1"/>
          </p:cNvSpPr>
          <p:nvPr/>
        </p:nvSpPr>
        <p:spPr>
          <a:xfrm xmlns:a="http://schemas.openxmlformats.org/drawingml/2006/main">
            <a:off x="971550" y="21240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Rank</a:t>
            </a:r>
          </a:p>
        </p:txBody>
      </p:sp>
      <p:sp>
        <p:nvSpPr>
          <p:cNvPr id="7" name="">
            <a:extLst xmlns:a="http://schemas.openxmlformats.org/drawingml/2006/main">
              <a:ext uri="{FF2B5EF4-FFF2-40B4-BE49-F238E27FC236}">
                <a16:creationId xmlns:a16="http://schemas.microsoft.com/office/drawing/2014/main" id="{208FE51F-EB0C-4100-8BB3-F6C4D46D884F}"/>
              </a:ext>
            </a:extLst>
          </p:cNvPr>
          <p:cNvSpPr>
            <a:spLocks xmlns:a="http://schemas.openxmlformats.org/drawingml/2006/main" noGrp="1"/>
          </p:cNvSpPr>
          <p:nvPr/>
        </p:nvSpPr>
        <p:spPr>
          <a:xfrm xmlns:a="http://schemas.openxmlformats.org/drawingml/2006/main">
            <a:off x="1733550" y="2047875"/>
            <a:ext cx="4953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7AD12C24-0E48-48CC-BA19-06388AA0A57A}"/>
              </a:ext>
            </a:extLst>
          </p:cNvPr>
          <p:cNvSpPr>
            <a:spLocks xmlns:a="http://schemas.openxmlformats.org/drawingml/2006/main" noGrp="1"/>
          </p:cNvSpPr>
          <p:nvPr/>
        </p:nvSpPr>
        <p:spPr>
          <a:xfrm xmlns:a="http://schemas.openxmlformats.org/drawingml/2006/main">
            <a:off x="1828800" y="21240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Project</a:t>
            </a:r>
          </a:p>
        </p:txBody>
      </p:sp>
      <p:sp>
        <p:nvSpPr>
          <p:cNvPr id="9" name="">
            <a:extLst xmlns:a="http://schemas.openxmlformats.org/drawingml/2006/main">
              <a:ext uri="{FF2B5EF4-FFF2-40B4-BE49-F238E27FC236}">
                <a16:creationId xmlns:a16="http://schemas.microsoft.com/office/drawing/2014/main" id="{360EC1D7-F015-4C7C-A186-F5ABAF06F064}"/>
              </a:ext>
            </a:extLst>
          </p:cNvPr>
          <p:cNvSpPr>
            <a:spLocks xmlns:a="http://schemas.openxmlformats.org/drawingml/2006/main" noGrp="1"/>
          </p:cNvSpPr>
          <p:nvPr/>
        </p:nvSpPr>
        <p:spPr>
          <a:xfrm xmlns:a="http://schemas.openxmlformats.org/drawingml/2006/main">
            <a:off x="6686550" y="2047875"/>
            <a:ext cx="1143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97D16385-3B8B-4798-B59F-E40AEB43F844}"/>
              </a:ext>
            </a:extLst>
          </p:cNvPr>
          <p:cNvSpPr>
            <a:spLocks xmlns:a="http://schemas.openxmlformats.org/drawingml/2006/main" noGrp="1"/>
          </p:cNvSpPr>
          <p:nvPr/>
        </p:nvSpPr>
        <p:spPr>
          <a:xfrm xmlns:a="http://schemas.openxmlformats.org/drawingml/2006/main">
            <a:off x="6781800" y="2124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Score</a:t>
            </a:r>
          </a:p>
        </p:txBody>
      </p:sp>
      <p:sp>
        <p:nvSpPr>
          <p:cNvPr id="11" name="">
            <a:extLst xmlns:a="http://schemas.openxmlformats.org/drawingml/2006/main">
              <a:ext uri="{FF2B5EF4-FFF2-40B4-BE49-F238E27FC236}">
                <a16:creationId xmlns:a16="http://schemas.microsoft.com/office/drawing/2014/main" id="{52EBE22F-C614-47AF-BA7A-A18D03D057A4}"/>
              </a:ext>
            </a:extLst>
          </p:cNvPr>
          <p:cNvSpPr>
            <a:spLocks xmlns:a="http://schemas.openxmlformats.org/drawingml/2006/main" noGrp="1"/>
          </p:cNvSpPr>
          <p:nvPr/>
        </p:nvSpPr>
        <p:spPr>
          <a:xfrm xmlns:a="http://schemas.openxmlformats.org/drawingml/2006/main">
            <a:off x="7829550" y="2047875"/>
            <a:ext cx="25717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91F92677-AFDC-461C-B8D8-2FBE5A876997}"/>
              </a:ext>
            </a:extLst>
          </p:cNvPr>
          <p:cNvSpPr>
            <a:spLocks xmlns:a="http://schemas.openxmlformats.org/drawingml/2006/main" noGrp="1"/>
          </p:cNvSpPr>
          <p:nvPr/>
        </p:nvSpPr>
        <p:spPr>
          <a:xfrm xmlns:a="http://schemas.openxmlformats.org/drawingml/2006/main">
            <a:off x="7924800" y="21240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Recommendation</a:t>
            </a:r>
          </a:p>
        </p:txBody>
      </p:sp>
      <p:sp>
        <p:nvSpPr>
          <p:cNvPr id="13" name="">
            <a:extLst xmlns:a="http://schemas.openxmlformats.org/drawingml/2006/main">
              <a:ext uri="{FF2B5EF4-FFF2-40B4-BE49-F238E27FC236}">
                <a16:creationId xmlns:a16="http://schemas.microsoft.com/office/drawing/2014/main" id="{2563627F-A6D1-4E97-9C3F-00DFD31FD373}"/>
              </a:ext>
            </a:extLst>
          </p:cNvPr>
          <p:cNvSpPr>
            <a:spLocks xmlns:a="http://schemas.openxmlformats.org/drawingml/2006/main" noGrp="1"/>
          </p:cNvSpPr>
          <p:nvPr/>
        </p:nvSpPr>
        <p:spPr>
          <a:xfrm xmlns:a="http://schemas.openxmlformats.org/drawingml/2006/main">
            <a:off x="876300" y="25431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F2BFF1FA-1A5B-46F0-8100-1EFBDCB6081D}"/>
              </a:ext>
            </a:extLst>
          </p:cNvPr>
          <p:cNvSpPr>
            <a:spLocks xmlns:a="http://schemas.openxmlformats.org/drawingml/2006/main" noGrp="1"/>
          </p:cNvSpPr>
          <p:nvPr/>
        </p:nvSpPr>
        <p:spPr>
          <a:xfrm xmlns:a="http://schemas.openxmlformats.org/drawingml/2006/main">
            <a:off x="971550" y="2619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1</a:t>
            </a:r>
          </a:p>
        </p:txBody>
      </p:sp>
      <p:sp>
        <p:nvSpPr>
          <p:cNvPr id="15" name="">
            <a:extLst xmlns:a="http://schemas.openxmlformats.org/drawingml/2006/main">
              <a:ext uri="{FF2B5EF4-FFF2-40B4-BE49-F238E27FC236}">
                <a16:creationId xmlns:a16="http://schemas.microsoft.com/office/drawing/2014/main" id="{12EFA143-3F24-44F5-A423-4381E266B45A}"/>
              </a:ext>
            </a:extLst>
          </p:cNvPr>
          <p:cNvSpPr>
            <a:spLocks xmlns:a="http://schemas.openxmlformats.org/drawingml/2006/main" noGrp="1"/>
          </p:cNvSpPr>
          <p:nvPr/>
        </p:nvSpPr>
        <p:spPr>
          <a:xfrm xmlns:a="http://schemas.openxmlformats.org/drawingml/2006/main">
            <a:off x="1733550" y="25431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CC004CAA-E4B6-4E0F-8FAC-CE32EFAB0F16}"/>
              </a:ext>
            </a:extLst>
          </p:cNvPr>
          <p:cNvSpPr>
            <a:spLocks xmlns:a="http://schemas.openxmlformats.org/drawingml/2006/main" noGrp="1"/>
          </p:cNvSpPr>
          <p:nvPr/>
        </p:nvSpPr>
        <p:spPr>
          <a:xfrm xmlns:a="http://schemas.openxmlformats.org/drawingml/2006/main">
            <a:off x="1828800" y="2619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Coating/Packaging Quality Intelligence</a:t>
            </a:r>
          </a:p>
        </p:txBody>
      </p:sp>
      <p:sp>
        <p:nvSpPr>
          <p:cNvPr id="17" name="">
            <a:extLst xmlns:a="http://schemas.openxmlformats.org/drawingml/2006/main">
              <a:ext uri="{FF2B5EF4-FFF2-40B4-BE49-F238E27FC236}">
                <a16:creationId xmlns:a16="http://schemas.microsoft.com/office/drawing/2014/main" id="{2D7E9A49-FC18-467D-BD3C-9F220FDBFA12}"/>
              </a:ext>
            </a:extLst>
          </p:cNvPr>
          <p:cNvSpPr>
            <a:spLocks xmlns:a="http://schemas.openxmlformats.org/drawingml/2006/main" noGrp="1"/>
          </p:cNvSpPr>
          <p:nvPr/>
        </p:nvSpPr>
        <p:spPr>
          <a:xfrm xmlns:a="http://schemas.openxmlformats.org/drawingml/2006/main">
            <a:off x="6686550" y="25431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5D66316F-AAB1-4E6A-A96A-A0D954C5D535}"/>
              </a:ext>
            </a:extLst>
          </p:cNvPr>
          <p:cNvSpPr>
            <a:spLocks xmlns:a="http://schemas.openxmlformats.org/drawingml/2006/main" noGrp="1"/>
          </p:cNvSpPr>
          <p:nvPr/>
        </p:nvSpPr>
        <p:spPr>
          <a:xfrm xmlns:a="http://schemas.openxmlformats.org/drawingml/2006/main">
            <a:off x="6781800" y="26193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4.7</a:t>
            </a:r>
          </a:p>
        </p:txBody>
      </p:sp>
      <p:sp>
        <p:nvSpPr>
          <p:cNvPr id="19" name="">
            <a:extLst xmlns:a="http://schemas.openxmlformats.org/drawingml/2006/main">
              <a:ext uri="{FF2B5EF4-FFF2-40B4-BE49-F238E27FC236}">
                <a16:creationId xmlns:a16="http://schemas.microsoft.com/office/drawing/2014/main" id="{8C3DFA13-743F-4E22-8306-3CCE74D959CE}"/>
              </a:ext>
            </a:extLst>
          </p:cNvPr>
          <p:cNvSpPr>
            <a:spLocks xmlns:a="http://schemas.openxmlformats.org/drawingml/2006/main" noGrp="1"/>
          </p:cNvSpPr>
          <p:nvPr/>
        </p:nvSpPr>
        <p:spPr>
          <a:xfrm xmlns:a="http://schemas.openxmlformats.org/drawingml/2006/main">
            <a:off x="7829550" y="25431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7F4A0DFF-36EB-45A4-B59A-E9FC1A3C4A03}"/>
              </a:ext>
            </a:extLst>
          </p:cNvPr>
          <p:cNvSpPr>
            <a:spLocks xmlns:a="http://schemas.openxmlformats.org/drawingml/2006/main" noGrp="1"/>
          </p:cNvSpPr>
          <p:nvPr/>
        </p:nvSpPr>
        <p:spPr>
          <a:xfrm xmlns:a="http://schemas.openxmlformats.org/drawingml/2006/main">
            <a:off x="7924800" y="26193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Start immediately</a:t>
            </a:r>
          </a:p>
        </p:txBody>
      </p:sp>
      <p:sp>
        <p:nvSpPr>
          <p:cNvPr id="21" name="">
            <a:extLst xmlns:a="http://schemas.openxmlformats.org/drawingml/2006/main">
              <a:ext uri="{FF2B5EF4-FFF2-40B4-BE49-F238E27FC236}">
                <a16:creationId xmlns:a16="http://schemas.microsoft.com/office/drawing/2014/main" id="{99192C7F-5666-4EDB-AA9F-C737ABDC6313}"/>
              </a:ext>
            </a:extLst>
          </p:cNvPr>
          <p:cNvSpPr>
            <a:spLocks xmlns:a="http://schemas.openxmlformats.org/drawingml/2006/main" noGrp="1"/>
          </p:cNvSpPr>
          <p:nvPr/>
        </p:nvSpPr>
        <p:spPr>
          <a:xfrm xmlns:a="http://schemas.openxmlformats.org/drawingml/2006/main">
            <a:off x="876300" y="30384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66886FA4-A09A-4D2D-92F9-0604EAD6A5FF}"/>
              </a:ext>
            </a:extLst>
          </p:cNvPr>
          <p:cNvSpPr>
            <a:spLocks xmlns:a="http://schemas.openxmlformats.org/drawingml/2006/main" noGrp="1"/>
          </p:cNvSpPr>
          <p:nvPr/>
        </p:nvSpPr>
        <p:spPr>
          <a:xfrm xmlns:a="http://schemas.openxmlformats.org/drawingml/2006/main">
            <a:off x="971550" y="31146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2</a:t>
            </a:r>
          </a:p>
        </p:txBody>
      </p:sp>
      <p:sp>
        <p:nvSpPr>
          <p:cNvPr id="23" name="">
            <a:extLst xmlns:a="http://schemas.openxmlformats.org/drawingml/2006/main">
              <a:ext uri="{FF2B5EF4-FFF2-40B4-BE49-F238E27FC236}">
                <a16:creationId xmlns:a16="http://schemas.microsoft.com/office/drawing/2014/main" id="{FF7292EB-5C10-4B62-9952-1714217D328B}"/>
              </a:ext>
            </a:extLst>
          </p:cNvPr>
          <p:cNvSpPr>
            <a:spLocks xmlns:a="http://schemas.openxmlformats.org/drawingml/2006/main" noGrp="1"/>
          </p:cNvSpPr>
          <p:nvPr/>
        </p:nvSpPr>
        <p:spPr>
          <a:xfrm xmlns:a="http://schemas.openxmlformats.org/drawingml/2006/main">
            <a:off x="1733550" y="30384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1178C2BB-0949-4DD2-A646-4EE5DDD9F889}"/>
              </a:ext>
            </a:extLst>
          </p:cNvPr>
          <p:cNvSpPr>
            <a:spLocks xmlns:a="http://schemas.openxmlformats.org/drawingml/2006/main" noGrp="1"/>
          </p:cNvSpPr>
          <p:nvPr/>
        </p:nvSpPr>
        <p:spPr>
          <a:xfrm xmlns:a="http://schemas.openxmlformats.org/drawingml/2006/main">
            <a:off x="1828800" y="31146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Roll-level quality passport</a:t>
            </a:r>
          </a:p>
        </p:txBody>
      </p:sp>
      <p:sp>
        <p:nvSpPr>
          <p:cNvPr id="25" name="">
            <a:extLst xmlns:a="http://schemas.openxmlformats.org/drawingml/2006/main">
              <a:ext uri="{FF2B5EF4-FFF2-40B4-BE49-F238E27FC236}">
                <a16:creationId xmlns:a16="http://schemas.microsoft.com/office/drawing/2014/main" id="{B87B109C-13E3-48BD-B679-F22E6D9C1222}"/>
              </a:ext>
            </a:extLst>
          </p:cNvPr>
          <p:cNvSpPr>
            <a:spLocks xmlns:a="http://schemas.openxmlformats.org/drawingml/2006/main" noGrp="1"/>
          </p:cNvSpPr>
          <p:nvPr/>
        </p:nvSpPr>
        <p:spPr>
          <a:xfrm xmlns:a="http://schemas.openxmlformats.org/drawingml/2006/main">
            <a:off x="6686550" y="30384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14C85DFE-013C-461D-9346-5C3524E15005}"/>
              </a:ext>
            </a:extLst>
          </p:cNvPr>
          <p:cNvSpPr>
            <a:spLocks xmlns:a="http://schemas.openxmlformats.org/drawingml/2006/main" noGrp="1"/>
          </p:cNvSpPr>
          <p:nvPr/>
        </p:nvSpPr>
        <p:spPr>
          <a:xfrm xmlns:a="http://schemas.openxmlformats.org/drawingml/2006/main">
            <a:off x="6781800" y="31146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4.6</a:t>
            </a:r>
          </a:p>
        </p:txBody>
      </p:sp>
      <p:sp>
        <p:nvSpPr>
          <p:cNvPr id="27" name="">
            <a:extLst xmlns:a="http://schemas.openxmlformats.org/drawingml/2006/main">
              <a:ext uri="{FF2B5EF4-FFF2-40B4-BE49-F238E27FC236}">
                <a16:creationId xmlns:a16="http://schemas.microsoft.com/office/drawing/2014/main" id="{16E7DAA4-535D-4F80-B396-E491A74CA9EB}"/>
              </a:ext>
            </a:extLst>
          </p:cNvPr>
          <p:cNvSpPr>
            <a:spLocks xmlns:a="http://schemas.openxmlformats.org/drawingml/2006/main" noGrp="1"/>
          </p:cNvSpPr>
          <p:nvPr/>
        </p:nvSpPr>
        <p:spPr>
          <a:xfrm xmlns:a="http://schemas.openxmlformats.org/drawingml/2006/main">
            <a:off x="7829550" y="30384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0D9970FD-76D3-40F6-BDE6-63758774EEB3}"/>
              </a:ext>
            </a:extLst>
          </p:cNvPr>
          <p:cNvSpPr>
            <a:spLocks xmlns:a="http://schemas.openxmlformats.org/drawingml/2006/main" noGrp="1"/>
          </p:cNvSpPr>
          <p:nvPr/>
        </p:nvSpPr>
        <p:spPr>
          <a:xfrm xmlns:a="http://schemas.openxmlformats.org/drawingml/2006/main">
            <a:off x="7924800" y="31146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Build in pilot</a:t>
            </a:r>
          </a:p>
        </p:txBody>
      </p:sp>
      <p:sp>
        <p:nvSpPr>
          <p:cNvPr id="29" name="">
            <a:extLst xmlns:a="http://schemas.openxmlformats.org/drawingml/2006/main">
              <a:ext uri="{FF2B5EF4-FFF2-40B4-BE49-F238E27FC236}">
                <a16:creationId xmlns:a16="http://schemas.microsoft.com/office/drawing/2014/main" id="{BEEF6898-E030-4F60-ADED-FC1472DEA63D}"/>
              </a:ext>
            </a:extLst>
          </p:cNvPr>
          <p:cNvSpPr>
            <a:spLocks xmlns:a="http://schemas.openxmlformats.org/drawingml/2006/main" noGrp="1"/>
          </p:cNvSpPr>
          <p:nvPr/>
        </p:nvSpPr>
        <p:spPr>
          <a:xfrm xmlns:a="http://schemas.openxmlformats.org/drawingml/2006/main">
            <a:off x="876300" y="35337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18287493-59F5-4E90-A45C-1A616E9D30EE}"/>
              </a:ext>
            </a:extLst>
          </p:cNvPr>
          <p:cNvSpPr>
            <a:spLocks xmlns:a="http://schemas.openxmlformats.org/drawingml/2006/main" noGrp="1"/>
          </p:cNvSpPr>
          <p:nvPr/>
        </p:nvSpPr>
        <p:spPr>
          <a:xfrm xmlns:a="http://schemas.openxmlformats.org/drawingml/2006/main">
            <a:off x="971550" y="36099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3</a:t>
            </a:r>
          </a:p>
        </p:txBody>
      </p:sp>
      <p:sp>
        <p:nvSpPr>
          <p:cNvPr id="31" name="">
            <a:extLst xmlns:a="http://schemas.openxmlformats.org/drawingml/2006/main">
              <a:ext uri="{FF2B5EF4-FFF2-40B4-BE49-F238E27FC236}">
                <a16:creationId xmlns:a16="http://schemas.microsoft.com/office/drawing/2014/main" id="{2BECDE2A-7A9E-4E55-936E-0CC34306472C}"/>
              </a:ext>
            </a:extLst>
          </p:cNvPr>
          <p:cNvSpPr>
            <a:spLocks xmlns:a="http://schemas.openxmlformats.org/drawingml/2006/main" noGrp="1"/>
          </p:cNvSpPr>
          <p:nvPr/>
        </p:nvSpPr>
        <p:spPr>
          <a:xfrm xmlns:a="http://schemas.openxmlformats.org/drawingml/2006/main">
            <a:off x="1733550" y="35337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7FBF8D76-4C9C-477F-A3FD-6A8213F940C3}"/>
              </a:ext>
            </a:extLst>
          </p:cNvPr>
          <p:cNvSpPr>
            <a:spLocks xmlns:a="http://schemas.openxmlformats.org/drawingml/2006/main" noGrp="1"/>
          </p:cNvSpPr>
          <p:nvPr/>
        </p:nvSpPr>
        <p:spPr>
          <a:xfrm xmlns:a="http://schemas.openxmlformats.org/drawingml/2006/main">
            <a:off x="1828800" y="36099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R&amp;D knowledge graph</a:t>
            </a:r>
          </a:p>
        </p:txBody>
      </p:sp>
      <p:sp>
        <p:nvSpPr>
          <p:cNvPr id="33" name="">
            <a:extLst xmlns:a="http://schemas.openxmlformats.org/drawingml/2006/main">
              <a:ext uri="{FF2B5EF4-FFF2-40B4-BE49-F238E27FC236}">
                <a16:creationId xmlns:a16="http://schemas.microsoft.com/office/drawing/2014/main" id="{3CA24C0B-9F9D-407A-B189-EB619B54F3C4}"/>
              </a:ext>
            </a:extLst>
          </p:cNvPr>
          <p:cNvSpPr>
            <a:spLocks xmlns:a="http://schemas.openxmlformats.org/drawingml/2006/main" noGrp="1"/>
          </p:cNvSpPr>
          <p:nvPr/>
        </p:nvSpPr>
        <p:spPr>
          <a:xfrm xmlns:a="http://schemas.openxmlformats.org/drawingml/2006/main">
            <a:off x="6686550" y="35337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10C54958-62FB-4B7A-AD55-42346BF1F8CD}"/>
              </a:ext>
            </a:extLst>
          </p:cNvPr>
          <p:cNvSpPr>
            <a:spLocks xmlns:a="http://schemas.openxmlformats.org/drawingml/2006/main" noGrp="1"/>
          </p:cNvSpPr>
          <p:nvPr/>
        </p:nvSpPr>
        <p:spPr>
          <a:xfrm xmlns:a="http://schemas.openxmlformats.org/drawingml/2006/main">
            <a:off x="6781800" y="36099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4.5</a:t>
            </a:r>
          </a:p>
        </p:txBody>
      </p:sp>
      <p:sp>
        <p:nvSpPr>
          <p:cNvPr id="35" name="">
            <a:extLst xmlns:a="http://schemas.openxmlformats.org/drawingml/2006/main">
              <a:ext uri="{FF2B5EF4-FFF2-40B4-BE49-F238E27FC236}">
                <a16:creationId xmlns:a16="http://schemas.microsoft.com/office/drawing/2014/main" id="{EE6F1C85-E051-446C-A947-88DD026A12A2}"/>
              </a:ext>
            </a:extLst>
          </p:cNvPr>
          <p:cNvSpPr>
            <a:spLocks xmlns:a="http://schemas.openxmlformats.org/drawingml/2006/main" noGrp="1"/>
          </p:cNvSpPr>
          <p:nvPr/>
        </p:nvSpPr>
        <p:spPr>
          <a:xfrm xmlns:a="http://schemas.openxmlformats.org/drawingml/2006/main">
            <a:off x="7829550" y="35337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F7140707-A0FC-4F2D-9BDC-3E536429DB34}"/>
              </a:ext>
            </a:extLst>
          </p:cNvPr>
          <p:cNvSpPr>
            <a:spLocks xmlns:a="http://schemas.openxmlformats.org/drawingml/2006/main" noGrp="1"/>
          </p:cNvSpPr>
          <p:nvPr/>
        </p:nvSpPr>
        <p:spPr>
          <a:xfrm xmlns:a="http://schemas.openxmlformats.org/drawingml/2006/main">
            <a:off x="7924800" y="36099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Start in parallel</a:t>
            </a:r>
          </a:p>
        </p:txBody>
      </p:sp>
      <p:sp>
        <p:nvSpPr>
          <p:cNvPr id="37" name="">
            <a:extLst xmlns:a="http://schemas.openxmlformats.org/drawingml/2006/main">
              <a:ext uri="{FF2B5EF4-FFF2-40B4-BE49-F238E27FC236}">
                <a16:creationId xmlns:a16="http://schemas.microsoft.com/office/drawing/2014/main" id="{9A0FD3F5-A634-4D7C-911B-86CEFD58B4A6}"/>
              </a:ext>
            </a:extLst>
          </p:cNvPr>
          <p:cNvSpPr>
            <a:spLocks xmlns:a="http://schemas.openxmlformats.org/drawingml/2006/main" noGrp="1"/>
          </p:cNvSpPr>
          <p:nvPr/>
        </p:nvSpPr>
        <p:spPr>
          <a:xfrm xmlns:a="http://schemas.openxmlformats.org/drawingml/2006/main">
            <a:off x="876300" y="40290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45AEEF26-01C0-4D32-A5E9-FBA9BF7FFFEC}"/>
              </a:ext>
            </a:extLst>
          </p:cNvPr>
          <p:cNvSpPr>
            <a:spLocks xmlns:a="http://schemas.openxmlformats.org/drawingml/2006/main" noGrp="1"/>
          </p:cNvSpPr>
          <p:nvPr/>
        </p:nvSpPr>
        <p:spPr>
          <a:xfrm xmlns:a="http://schemas.openxmlformats.org/drawingml/2006/main">
            <a:off x="971550" y="41052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a:t>
            </a:r>
          </a:p>
        </p:txBody>
      </p:sp>
      <p:sp>
        <p:nvSpPr>
          <p:cNvPr id="39" name="">
            <a:extLst xmlns:a="http://schemas.openxmlformats.org/drawingml/2006/main">
              <a:ext uri="{FF2B5EF4-FFF2-40B4-BE49-F238E27FC236}">
                <a16:creationId xmlns:a16="http://schemas.microsoft.com/office/drawing/2014/main" id="{E2E155FA-8B99-4AD7-8F67-AF748245A36D}"/>
              </a:ext>
            </a:extLst>
          </p:cNvPr>
          <p:cNvSpPr>
            <a:spLocks xmlns:a="http://schemas.openxmlformats.org/drawingml/2006/main" noGrp="1"/>
          </p:cNvSpPr>
          <p:nvPr/>
        </p:nvSpPr>
        <p:spPr>
          <a:xfrm xmlns:a="http://schemas.openxmlformats.org/drawingml/2006/main">
            <a:off x="1733550" y="40290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7DAF1958-9C56-4156-AEF6-705486B0CB90}"/>
              </a:ext>
            </a:extLst>
          </p:cNvPr>
          <p:cNvSpPr>
            <a:spLocks xmlns:a="http://schemas.openxmlformats.org/drawingml/2006/main" noGrp="1"/>
          </p:cNvSpPr>
          <p:nvPr/>
        </p:nvSpPr>
        <p:spPr>
          <a:xfrm xmlns:a="http://schemas.openxmlformats.org/drawingml/2006/main">
            <a:off x="1828800" y="4105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Complaint/root-cause assistant</a:t>
            </a:r>
          </a:p>
        </p:txBody>
      </p:sp>
      <p:sp>
        <p:nvSpPr>
          <p:cNvPr id="41" name="">
            <a:extLst xmlns:a="http://schemas.openxmlformats.org/drawingml/2006/main">
              <a:ext uri="{FF2B5EF4-FFF2-40B4-BE49-F238E27FC236}">
                <a16:creationId xmlns:a16="http://schemas.microsoft.com/office/drawing/2014/main" id="{C65BF2AD-3238-4044-8813-7DABA25E48F4}"/>
              </a:ext>
            </a:extLst>
          </p:cNvPr>
          <p:cNvSpPr>
            <a:spLocks xmlns:a="http://schemas.openxmlformats.org/drawingml/2006/main" noGrp="1"/>
          </p:cNvSpPr>
          <p:nvPr/>
        </p:nvSpPr>
        <p:spPr>
          <a:xfrm xmlns:a="http://schemas.openxmlformats.org/drawingml/2006/main">
            <a:off x="6686550" y="40290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8EE50AE0-768B-4552-A6AE-0ED108311316}"/>
              </a:ext>
            </a:extLst>
          </p:cNvPr>
          <p:cNvSpPr>
            <a:spLocks xmlns:a="http://schemas.openxmlformats.org/drawingml/2006/main" noGrp="1"/>
          </p:cNvSpPr>
          <p:nvPr/>
        </p:nvSpPr>
        <p:spPr>
          <a:xfrm xmlns:a="http://schemas.openxmlformats.org/drawingml/2006/main">
            <a:off x="6781800" y="41052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4.3</a:t>
            </a:r>
          </a:p>
        </p:txBody>
      </p:sp>
      <p:sp>
        <p:nvSpPr>
          <p:cNvPr id="43" name="">
            <a:extLst xmlns:a="http://schemas.openxmlformats.org/drawingml/2006/main">
              <a:ext uri="{FF2B5EF4-FFF2-40B4-BE49-F238E27FC236}">
                <a16:creationId xmlns:a16="http://schemas.microsoft.com/office/drawing/2014/main" id="{AB548EFB-B2F4-472B-BE8D-914D19A02896}"/>
              </a:ext>
            </a:extLst>
          </p:cNvPr>
          <p:cNvSpPr>
            <a:spLocks xmlns:a="http://schemas.openxmlformats.org/drawingml/2006/main" noGrp="1"/>
          </p:cNvSpPr>
          <p:nvPr/>
        </p:nvSpPr>
        <p:spPr>
          <a:xfrm xmlns:a="http://schemas.openxmlformats.org/drawingml/2006/main">
            <a:off x="7829550" y="40290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27081EAF-165D-446F-BF9A-8BF6D97C144D}"/>
              </a:ext>
            </a:extLst>
          </p:cNvPr>
          <p:cNvSpPr>
            <a:spLocks xmlns:a="http://schemas.openxmlformats.org/drawingml/2006/main" noGrp="1"/>
          </p:cNvSpPr>
          <p:nvPr/>
        </p:nvSpPr>
        <p:spPr>
          <a:xfrm xmlns:a="http://schemas.openxmlformats.org/drawingml/2006/main">
            <a:off x="7924800" y="41052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Quick win</a:t>
            </a:r>
          </a:p>
        </p:txBody>
      </p:sp>
      <p:sp>
        <p:nvSpPr>
          <p:cNvPr id="45" name="">
            <a:extLst xmlns:a="http://schemas.openxmlformats.org/drawingml/2006/main">
              <a:ext uri="{FF2B5EF4-FFF2-40B4-BE49-F238E27FC236}">
                <a16:creationId xmlns:a16="http://schemas.microsoft.com/office/drawing/2014/main" id="{C12A2DDE-C5B3-4CB8-AEB7-09FD0B4D7B52}"/>
              </a:ext>
            </a:extLst>
          </p:cNvPr>
          <p:cNvSpPr>
            <a:spLocks xmlns:a="http://schemas.openxmlformats.org/drawingml/2006/main" noGrp="1"/>
          </p:cNvSpPr>
          <p:nvPr/>
        </p:nvSpPr>
        <p:spPr>
          <a:xfrm xmlns:a="http://schemas.openxmlformats.org/drawingml/2006/main">
            <a:off x="876300" y="45243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77949FF4-86CC-48E9-B4A9-BF9D184F39F0}"/>
              </a:ext>
            </a:extLst>
          </p:cNvPr>
          <p:cNvSpPr>
            <a:spLocks xmlns:a="http://schemas.openxmlformats.org/drawingml/2006/main" noGrp="1"/>
          </p:cNvSpPr>
          <p:nvPr/>
        </p:nvSpPr>
        <p:spPr>
          <a:xfrm xmlns:a="http://schemas.openxmlformats.org/drawingml/2006/main">
            <a:off x="971550" y="46005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5</a:t>
            </a:r>
          </a:p>
        </p:txBody>
      </p:sp>
      <p:sp>
        <p:nvSpPr>
          <p:cNvPr id="47" name="">
            <a:extLst xmlns:a="http://schemas.openxmlformats.org/drawingml/2006/main">
              <a:ext uri="{FF2B5EF4-FFF2-40B4-BE49-F238E27FC236}">
                <a16:creationId xmlns:a16="http://schemas.microsoft.com/office/drawing/2014/main" id="{4542CDC4-802E-410C-BDC3-DE019DB8E9D4}"/>
              </a:ext>
            </a:extLst>
          </p:cNvPr>
          <p:cNvSpPr>
            <a:spLocks xmlns:a="http://schemas.openxmlformats.org/drawingml/2006/main" noGrp="1"/>
          </p:cNvSpPr>
          <p:nvPr/>
        </p:nvSpPr>
        <p:spPr>
          <a:xfrm xmlns:a="http://schemas.openxmlformats.org/drawingml/2006/main">
            <a:off x="1733550" y="45243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362CE70D-CC37-4E6A-9A2C-5F61F8216003}"/>
              </a:ext>
            </a:extLst>
          </p:cNvPr>
          <p:cNvSpPr>
            <a:spLocks xmlns:a="http://schemas.openxmlformats.org/drawingml/2006/main" noGrp="1"/>
          </p:cNvSpPr>
          <p:nvPr/>
        </p:nvSpPr>
        <p:spPr>
          <a:xfrm xmlns:a="http://schemas.openxmlformats.org/drawingml/2006/main">
            <a:off x="1828800" y="46005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Certificate/TDS assistant</a:t>
            </a:r>
          </a:p>
        </p:txBody>
      </p:sp>
      <p:sp>
        <p:nvSpPr>
          <p:cNvPr id="49" name="">
            <a:extLst xmlns:a="http://schemas.openxmlformats.org/drawingml/2006/main">
              <a:ext uri="{FF2B5EF4-FFF2-40B4-BE49-F238E27FC236}">
                <a16:creationId xmlns:a16="http://schemas.microsoft.com/office/drawing/2014/main" id="{797B97F6-DC18-41DA-90D0-BF80278169B9}"/>
              </a:ext>
            </a:extLst>
          </p:cNvPr>
          <p:cNvSpPr>
            <a:spLocks xmlns:a="http://schemas.openxmlformats.org/drawingml/2006/main" noGrp="1"/>
          </p:cNvSpPr>
          <p:nvPr/>
        </p:nvSpPr>
        <p:spPr>
          <a:xfrm xmlns:a="http://schemas.openxmlformats.org/drawingml/2006/main">
            <a:off x="6686550" y="45243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3DACA10C-F577-4745-B6A9-130748162FD8}"/>
              </a:ext>
            </a:extLst>
          </p:cNvPr>
          <p:cNvSpPr>
            <a:spLocks xmlns:a="http://schemas.openxmlformats.org/drawingml/2006/main" noGrp="1"/>
          </p:cNvSpPr>
          <p:nvPr/>
        </p:nvSpPr>
        <p:spPr>
          <a:xfrm xmlns:a="http://schemas.openxmlformats.org/drawingml/2006/main">
            <a:off x="6781800" y="46005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4.1</a:t>
            </a:r>
          </a:p>
        </p:txBody>
      </p:sp>
      <p:sp>
        <p:nvSpPr>
          <p:cNvPr id="51" name="">
            <a:extLst xmlns:a="http://schemas.openxmlformats.org/drawingml/2006/main">
              <a:ext uri="{FF2B5EF4-FFF2-40B4-BE49-F238E27FC236}">
                <a16:creationId xmlns:a16="http://schemas.microsoft.com/office/drawing/2014/main" id="{4EF71273-A344-4E98-8152-DCA465E6D4D5}"/>
              </a:ext>
            </a:extLst>
          </p:cNvPr>
          <p:cNvSpPr>
            <a:spLocks xmlns:a="http://schemas.openxmlformats.org/drawingml/2006/main" noGrp="1"/>
          </p:cNvSpPr>
          <p:nvPr/>
        </p:nvSpPr>
        <p:spPr>
          <a:xfrm xmlns:a="http://schemas.openxmlformats.org/drawingml/2006/main">
            <a:off x="7829550" y="45243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D419FE8A-35B4-49C6-914B-1F26523F0978}"/>
              </a:ext>
            </a:extLst>
          </p:cNvPr>
          <p:cNvSpPr>
            <a:spLocks xmlns:a="http://schemas.openxmlformats.org/drawingml/2006/main" noGrp="1"/>
          </p:cNvSpPr>
          <p:nvPr/>
        </p:nvSpPr>
        <p:spPr>
          <a:xfrm xmlns:a="http://schemas.openxmlformats.org/drawingml/2006/main">
            <a:off x="7924800" y="46005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Guardrailed quick win</a:t>
            </a:r>
          </a:p>
        </p:txBody>
      </p:sp>
      <p:sp>
        <p:nvSpPr>
          <p:cNvPr id="53" name="">
            <a:extLst xmlns:a="http://schemas.openxmlformats.org/drawingml/2006/main">
              <a:ext uri="{FF2B5EF4-FFF2-40B4-BE49-F238E27FC236}">
                <a16:creationId xmlns:a16="http://schemas.microsoft.com/office/drawing/2014/main" id="{4E5C35DE-F594-4E4E-A600-E4D45F6C31E8}"/>
              </a:ext>
            </a:extLst>
          </p:cNvPr>
          <p:cNvSpPr>
            <a:spLocks xmlns:a="http://schemas.openxmlformats.org/drawingml/2006/main" noGrp="1"/>
          </p:cNvSpPr>
          <p:nvPr/>
        </p:nvSpPr>
        <p:spPr>
          <a:xfrm xmlns:a="http://schemas.openxmlformats.org/drawingml/2006/main">
            <a:off x="876300" y="50196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999A3A41-5812-494A-BD2A-FF92B3C99A43}"/>
              </a:ext>
            </a:extLst>
          </p:cNvPr>
          <p:cNvSpPr>
            <a:spLocks xmlns:a="http://schemas.openxmlformats.org/drawingml/2006/main" noGrp="1"/>
          </p:cNvSpPr>
          <p:nvPr/>
        </p:nvSpPr>
        <p:spPr>
          <a:xfrm xmlns:a="http://schemas.openxmlformats.org/drawingml/2006/main">
            <a:off x="971550" y="50958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6</a:t>
            </a:r>
          </a:p>
        </p:txBody>
      </p:sp>
      <p:sp>
        <p:nvSpPr>
          <p:cNvPr id="55" name="">
            <a:extLst xmlns:a="http://schemas.openxmlformats.org/drawingml/2006/main">
              <a:ext uri="{FF2B5EF4-FFF2-40B4-BE49-F238E27FC236}">
                <a16:creationId xmlns:a16="http://schemas.microsoft.com/office/drawing/2014/main" id="{2ECA721F-826B-4D81-AA56-0BF574F39A75}"/>
              </a:ext>
            </a:extLst>
          </p:cNvPr>
          <p:cNvSpPr>
            <a:spLocks xmlns:a="http://schemas.openxmlformats.org/drawingml/2006/main" noGrp="1"/>
          </p:cNvSpPr>
          <p:nvPr/>
        </p:nvSpPr>
        <p:spPr>
          <a:xfrm xmlns:a="http://schemas.openxmlformats.org/drawingml/2006/main">
            <a:off x="1733550" y="50196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6" name="">
            <a:extLst xmlns:a="http://schemas.openxmlformats.org/drawingml/2006/main">
              <a:ext uri="{FF2B5EF4-FFF2-40B4-BE49-F238E27FC236}">
                <a16:creationId xmlns:a16="http://schemas.microsoft.com/office/drawing/2014/main" id="{DE766173-09BC-4B09-9803-E02CD01F13D9}"/>
              </a:ext>
            </a:extLst>
          </p:cNvPr>
          <p:cNvSpPr>
            <a:spLocks xmlns:a="http://schemas.openxmlformats.org/drawingml/2006/main" noGrp="1"/>
          </p:cNvSpPr>
          <p:nvPr/>
        </p:nvSpPr>
        <p:spPr>
          <a:xfrm xmlns:a="http://schemas.openxmlformats.org/drawingml/2006/main">
            <a:off x="1828800" y="50958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Predictive quality model</a:t>
            </a:r>
          </a:p>
        </p:txBody>
      </p:sp>
      <p:sp>
        <p:nvSpPr>
          <p:cNvPr id="57" name="">
            <a:extLst xmlns:a="http://schemas.openxmlformats.org/drawingml/2006/main">
              <a:ext uri="{FF2B5EF4-FFF2-40B4-BE49-F238E27FC236}">
                <a16:creationId xmlns:a16="http://schemas.microsoft.com/office/drawing/2014/main" id="{67B73361-8582-4F75-AB18-A113E61FD988}"/>
              </a:ext>
            </a:extLst>
          </p:cNvPr>
          <p:cNvSpPr>
            <a:spLocks xmlns:a="http://schemas.openxmlformats.org/drawingml/2006/main" noGrp="1"/>
          </p:cNvSpPr>
          <p:nvPr/>
        </p:nvSpPr>
        <p:spPr>
          <a:xfrm xmlns:a="http://schemas.openxmlformats.org/drawingml/2006/main">
            <a:off x="6686550" y="50196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8" name="">
            <a:extLst xmlns:a="http://schemas.openxmlformats.org/drawingml/2006/main">
              <a:ext uri="{FF2B5EF4-FFF2-40B4-BE49-F238E27FC236}">
                <a16:creationId xmlns:a16="http://schemas.microsoft.com/office/drawing/2014/main" id="{D0768525-8C4A-42A4-A2D7-110383E2215D}"/>
              </a:ext>
            </a:extLst>
          </p:cNvPr>
          <p:cNvSpPr>
            <a:spLocks xmlns:a="http://schemas.openxmlformats.org/drawingml/2006/main" noGrp="1"/>
          </p:cNvSpPr>
          <p:nvPr/>
        </p:nvSpPr>
        <p:spPr>
          <a:xfrm xmlns:a="http://schemas.openxmlformats.org/drawingml/2006/main">
            <a:off x="6781800" y="50958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3.9</a:t>
            </a:r>
          </a:p>
        </p:txBody>
      </p:sp>
      <p:sp>
        <p:nvSpPr>
          <p:cNvPr id="59" name="">
            <a:extLst xmlns:a="http://schemas.openxmlformats.org/drawingml/2006/main">
              <a:ext uri="{FF2B5EF4-FFF2-40B4-BE49-F238E27FC236}">
                <a16:creationId xmlns:a16="http://schemas.microsoft.com/office/drawing/2014/main" id="{F58D7777-EA9A-4D62-91C2-A136B7710090}"/>
              </a:ext>
            </a:extLst>
          </p:cNvPr>
          <p:cNvSpPr>
            <a:spLocks xmlns:a="http://schemas.openxmlformats.org/drawingml/2006/main" noGrp="1"/>
          </p:cNvSpPr>
          <p:nvPr/>
        </p:nvSpPr>
        <p:spPr>
          <a:xfrm xmlns:a="http://schemas.openxmlformats.org/drawingml/2006/main">
            <a:off x="7829550" y="50196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0" name="">
            <a:extLst xmlns:a="http://schemas.openxmlformats.org/drawingml/2006/main">
              <a:ext uri="{FF2B5EF4-FFF2-40B4-BE49-F238E27FC236}">
                <a16:creationId xmlns:a16="http://schemas.microsoft.com/office/drawing/2014/main" id="{603294EC-DD19-4457-9D24-7A915889FB2A}"/>
              </a:ext>
            </a:extLst>
          </p:cNvPr>
          <p:cNvSpPr>
            <a:spLocks xmlns:a="http://schemas.openxmlformats.org/drawingml/2006/main" noGrp="1"/>
          </p:cNvSpPr>
          <p:nvPr/>
        </p:nvSpPr>
        <p:spPr>
          <a:xfrm xmlns:a="http://schemas.openxmlformats.org/drawingml/2006/main">
            <a:off x="7924800" y="50958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111"/>
                </a:solidFill>
              </a:defRPr>
            </a:pPr>
            <a:r>
              <a:rPr sz="1200" b="0">
                <a:solidFill>
                  <a:srgbClr val="111111"/>
                </a:solidFill>
              </a:rPr>
              <a:t>After data linkage</a:t>
            </a:r>
          </a:p>
        </p:txBody>
      </p:sp>
      <p:sp>
        <p:nvSpPr>
          <p:cNvPr id="61" name="">
            <a:extLst xmlns:a="http://schemas.openxmlformats.org/drawingml/2006/main">
              <a:ext uri="{FF2B5EF4-FFF2-40B4-BE49-F238E27FC236}">
                <a16:creationId xmlns:a16="http://schemas.microsoft.com/office/drawing/2014/main" id="{7EA0B8DB-5B04-41B9-A138-14F9E37B7297}"/>
              </a:ext>
            </a:extLst>
          </p:cNvPr>
          <p:cNvSpPr>
            <a:spLocks xmlns:a="http://schemas.openxmlformats.org/drawingml/2006/main" noGrp="1"/>
          </p:cNvSpPr>
          <p:nvPr/>
        </p:nvSpPr>
        <p:spPr>
          <a:xfrm xmlns:a="http://schemas.openxmlformats.org/drawingml/2006/main">
            <a:off x="876300" y="2047875"/>
            <a:ext cx="9525000" cy="3467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62" name="">
            <a:extLst xmlns:a="http://schemas.openxmlformats.org/drawingml/2006/main">
              <a:ext uri="{FF2B5EF4-FFF2-40B4-BE49-F238E27FC236}">
                <a16:creationId xmlns:a16="http://schemas.microsoft.com/office/drawing/2014/main" id="{4CB6D045-D8B6-4AC6-8A1B-F09BF5DBB528}"/>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63" name="">
            <a:extLst xmlns:a="http://schemas.openxmlformats.org/drawingml/2006/main">
              <a:ext uri="{FF2B5EF4-FFF2-40B4-BE49-F238E27FC236}">
                <a16:creationId xmlns:a16="http://schemas.microsoft.com/office/drawing/2014/main" id="{E60D09FA-03E8-4EC2-AC52-F5E8C5A2C9D5}"/>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15</a:t>
            </a:r>
          </a:p>
        </p:txBody>
      </p:sp>
    </p:spTree>
    <p:extLst>
      <p:ext uri="{BB962C8B-B14F-4D97-AF65-F5344CB8AC3E}">
        <p14:creationId xmlns:p14="http://schemas.microsoft.com/office/powerpoint/2010/main" val="94731585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C8B8E9-C8BD-49CA-B735-26753CC52FB0}"/>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FINANCIAL LOGIC</a:t>
            </a:r>
          </a:p>
        </p:txBody>
      </p:sp>
      <p:sp>
        <p:nvSpPr>
          <p:cNvPr id="2" name="">
            <a:extLst xmlns:a="http://schemas.openxmlformats.org/drawingml/2006/main">
              <a:ext uri="{FF2B5EF4-FFF2-40B4-BE49-F238E27FC236}">
                <a16:creationId xmlns:a16="http://schemas.microsoft.com/office/drawing/2014/main" id="{ABEC3437-B8FF-4420-96C2-9F5CDA30F1B6}"/>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Build the financial case from company baselines</a:t>
            </a:r>
          </a:p>
        </p:txBody>
      </p:sp>
      <p:sp>
        <p:nvSpPr>
          <p:cNvPr id="3" name="">
            <a:extLst xmlns:a="http://schemas.openxmlformats.org/drawingml/2006/main">
              <a:ext uri="{FF2B5EF4-FFF2-40B4-BE49-F238E27FC236}">
                <a16:creationId xmlns:a16="http://schemas.microsoft.com/office/drawing/2014/main" id="{AB0C910B-CFD0-45D9-8523-5E8B297EE994}"/>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pilot must quantify the value of reducing quality losses and decision time.</a:t>
            </a:r>
          </a:p>
        </p:txBody>
      </p:sp>
      <p:sp>
        <p:nvSpPr>
          <p:cNvPr id="4" name="">
            <a:extLst xmlns:a="http://schemas.openxmlformats.org/drawingml/2006/main">
              <a:ext uri="{FF2B5EF4-FFF2-40B4-BE49-F238E27FC236}">
                <a16:creationId xmlns:a16="http://schemas.microsoft.com/office/drawing/2014/main" id="{B8BD5ED7-350D-4AD9-A03E-E281937A646B}"/>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5479C12F-72C6-4B0C-9502-B92C940696E6}"/>
              </a:ext>
            </a:extLst>
          </p:cNvPr>
          <p:cNvSpPr>
            <a:spLocks xmlns:a="http://schemas.openxmlformats.org/drawingml/2006/main" noGrp="1"/>
          </p:cNvSpPr>
          <p:nvPr/>
        </p:nvSpPr>
        <p:spPr>
          <a:xfrm xmlns:a="http://schemas.openxmlformats.org/drawingml/2006/main">
            <a:off x="857250" y="2190750"/>
            <a:ext cx="4476750" cy="27622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005CE6-37EB-448A-BE83-4ADD282F82C7}"/>
              </a:ext>
            </a:extLst>
          </p:cNvPr>
          <p:cNvSpPr>
            <a:spLocks xmlns:a="http://schemas.openxmlformats.org/drawingml/2006/main" noGrp="1"/>
          </p:cNvSpPr>
          <p:nvPr/>
        </p:nvSpPr>
        <p:spPr>
          <a:xfrm xmlns:a="http://schemas.openxmlformats.org/drawingml/2006/main">
            <a:off x="1162050" y="247650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Baseline inputs to collect</a:t>
            </a:r>
          </a:p>
        </p:txBody>
      </p:sp>
      <p:sp>
        <p:nvSpPr>
          <p:cNvPr id="7" name="">
            <a:extLst xmlns:a="http://schemas.openxmlformats.org/drawingml/2006/main">
              <a:ext uri="{FF2B5EF4-FFF2-40B4-BE49-F238E27FC236}">
                <a16:creationId xmlns:a16="http://schemas.microsoft.com/office/drawing/2014/main" id="{362A34F7-07CF-4ADE-A13B-7E8469C345A1}"/>
              </a:ext>
            </a:extLst>
          </p:cNvPr>
          <p:cNvSpPr>
            <a:spLocks xmlns:a="http://schemas.openxmlformats.org/drawingml/2006/main" noGrp="1"/>
          </p:cNvSpPr>
          <p:nvPr/>
        </p:nvSpPr>
        <p:spPr>
          <a:xfrm xmlns:a="http://schemas.openxmlformats.org/drawingml/2006/main">
            <a:off x="1162050" y="304800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FFFFF"/>
                </a:solidFill>
              </a:defRPr>
            </a:pPr>
            <a:r>
              <a:rPr sz="1275" b="0">
                <a:solidFill>
                  <a:srgbClr val="FFFFFF"/>
                </a:solidFill>
              </a:rPr>
              <a:t>- Annual scrap and rework cost in target family</a:t>
            </a:r>
          </a:p>
          <a:p xmlns:a="http://schemas.openxmlformats.org/drawingml/2006/main">
            <a:pPr algn="l">
              <a:defRPr sz="1275" b="0">
                <a:solidFill>
                  <a:srgbClr val="FFFFFF"/>
                </a:solidFill>
              </a:defRPr>
            </a:pPr>
            <a:r>
              <a:rPr sz="1275" b="0">
                <a:solidFill>
                  <a:srgbClr val="FFFFFF"/>
                </a:solidFill>
              </a:rPr>
              <a:t>- Defects per roll or per 1,000 meters</a:t>
            </a:r>
          </a:p>
          <a:p xmlns:a="http://schemas.openxmlformats.org/drawingml/2006/main">
            <a:pPr algn="l">
              <a:defRPr sz="1275" b="0">
                <a:solidFill>
                  <a:srgbClr val="FFFFFF"/>
                </a:solidFill>
              </a:defRPr>
            </a:pPr>
            <a:r>
              <a:rPr sz="1275" b="0">
                <a:solidFill>
                  <a:srgbClr val="FFFFFF"/>
                </a:solidFill>
              </a:rPr>
              <a:t>- Customer complaint cost and response time</a:t>
            </a:r>
          </a:p>
          <a:p xmlns:a="http://schemas.openxmlformats.org/drawingml/2006/main">
            <a:pPr algn="l">
              <a:defRPr sz="1275" b="0">
                <a:solidFill>
                  <a:srgbClr val="FFFFFF"/>
                </a:solidFill>
              </a:defRPr>
            </a:pPr>
            <a:r>
              <a:rPr sz="1275" b="0">
                <a:solidFill>
                  <a:srgbClr val="FFFFFF"/>
                </a:solidFill>
              </a:rPr>
              <a:t>- Quality release and certificate preparation time</a:t>
            </a:r>
          </a:p>
          <a:p xmlns:a="http://schemas.openxmlformats.org/drawingml/2006/main">
            <a:pPr algn="l">
              <a:defRPr sz="1275" b="0">
                <a:solidFill>
                  <a:srgbClr val="FFFFFF"/>
                </a:solidFill>
              </a:defRPr>
            </a:pPr>
            <a:r>
              <a:rPr sz="1275" b="0">
                <a:solidFill>
                  <a:srgbClr val="FFFFFF"/>
                </a:solidFill>
              </a:rPr>
              <a:t>- Downtime or delay from repeated quality issues</a:t>
            </a:r>
          </a:p>
        </p:txBody>
      </p:sp>
      <p:sp>
        <p:nvSpPr>
          <p:cNvPr id="8" name="">
            <a:extLst xmlns:a="http://schemas.openxmlformats.org/drawingml/2006/main">
              <a:ext uri="{FF2B5EF4-FFF2-40B4-BE49-F238E27FC236}">
                <a16:creationId xmlns:a16="http://schemas.microsoft.com/office/drawing/2014/main" id="{BC4F806B-FFFD-4535-9556-4001F7BCBBD6}"/>
              </a:ext>
            </a:extLst>
          </p:cNvPr>
          <p:cNvSpPr>
            <a:spLocks xmlns:a="http://schemas.openxmlformats.org/drawingml/2006/main" noGrp="1"/>
          </p:cNvSpPr>
          <p:nvPr/>
        </p:nvSpPr>
        <p:spPr>
          <a:xfrm xmlns:a="http://schemas.openxmlformats.org/drawingml/2006/main">
            <a:off x="6000750" y="2190750"/>
            <a:ext cx="4476750" cy="27622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2D54C3F4-CAF3-44C1-BFEB-1D8A86EA9FFC}"/>
              </a:ext>
            </a:extLst>
          </p:cNvPr>
          <p:cNvSpPr>
            <a:spLocks xmlns:a="http://schemas.openxmlformats.org/drawingml/2006/main" noGrp="1"/>
          </p:cNvSpPr>
          <p:nvPr/>
        </p:nvSpPr>
        <p:spPr>
          <a:xfrm xmlns:a="http://schemas.openxmlformats.org/drawingml/2006/main">
            <a:off x="6305550" y="2476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11111"/>
                </a:solidFill>
              </a:defRPr>
            </a:pPr>
            <a:r>
              <a:rPr sz="1950" b="1">
                <a:solidFill>
                  <a:srgbClr val="111111"/>
                </a:solidFill>
              </a:rPr>
              <a:t>Pilot ROI equation</a:t>
            </a:r>
          </a:p>
        </p:txBody>
      </p:sp>
      <p:sp>
        <p:nvSpPr>
          <p:cNvPr id="10" name="">
            <a:extLst xmlns:a="http://schemas.openxmlformats.org/drawingml/2006/main">
              <a:ext uri="{FF2B5EF4-FFF2-40B4-BE49-F238E27FC236}">
                <a16:creationId xmlns:a16="http://schemas.microsoft.com/office/drawing/2014/main" id="{59E5A4FB-CEF3-4219-B83B-31D7B8595639}"/>
              </a:ext>
            </a:extLst>
          </p:cNvPr>
          <p:cNvSpPr>
            <a:spLocks xmlns:a="http://schemas.openxmlformats.org/drawingml/2006/main" noGrp="1"/>
          </p:cNvSpPr>
          <p:nvPr/>
        </p:nvSpPr>
        <p:spPr>
          <a:xfrm xmlns:a="http://schemas.openxmlformats.org/drawingml/2006/main">
            <a:off x="6305550" y="309562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Value = avoided scrap + avoided rework + faster root cause + faster release + fewer repeated complaints</a:t>
            </a:r>
          </a:p>
        </p:txBody>
      </p:sp>
      <p:sp>
        <p:nvSpPr>
          <p:cNvPr id="11" name="">
            <a:extLst xmlns:a="http://schemas.openxmlformats.org/drawingml/2006/main">
              <a:ext uri="{FF2B5EF4-FFF2-40B4-BE49-F238E27FC236}">
                <a16:creationId xmlns:a16="http://schemas.microsoft.com/office/drawing/2014/main" id="{83ACB78E-4CE1-4AE0-A632-01FF1ABD8ED1}"/>
              </a:ext>
            </a:extLst>
          </p:cNvPr>
          <p:cNvSpPr>
            <a:spLocks xmlns:a="http://schemas.openxmlformats.org/drawingml/2006/main" noGrp="1"/>
          </p:cNvSpPr>
          <p:nvPr/>
        </p:nvSpPr>
        <p:spPr>
          <a:xfrm xmlns:a="http://schemas.openxmlformats.org/drawingml/2006/main">
            <a:off x="6305550" y="42291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pilot does not need perfect prediction. It needs enough evidence to identify controllable loss drivers.</a:t>
            </a:r>
          </a:p>
        </p:txBody>
      </p:sp>
      <p:sp>
        <p:nvSpPr>
          <p:cNvPr id="12" name="">
            <a:extLst xmlns:a="http://schemas.openxmlformats.org/drawingml/2006/main">
              <a:ext uri="{FF2B5EF4-FFF2-40B4-BE49-F238E27FC236}">
                <a16:creationId xmlns:a16="http://schemas.microsoft.com/office/drawing/2014/main" id="{97B280FE-AEE9-4F17-90E7-0815A3E52EB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13" name="">
            <a:extLst xmlns:a="http://schemas.openxmlformats.org/drawingml/2006/main">
              <a:ext uri="{FF2B5EF4-FFF2-40B4-BE49-F238E27FC236}">
                <a16:creationId xmlns:a16="http://schemas.microsoft.com/office/drawing/2014/main" id="{B303BA00-75C9-4BB1-8AF1-1740BB8DB7C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16</a:t>
            </a:r>
          </a:p>
        </p:txBody>
      </p:sp>
    </p:spTree>
    <p:extLst>
      <p:ext uri="{BB962C8B-B14F-4D97-AF65-F5344CB8AC3E}">
        <p14:creationId xmlns:p14="http://schemas.microsoft.com/office/powerpoint/2010/main" val="19021007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1529A3-B339-4EAE-A483-1EBDC62BAF2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FUNDING</a:t>
            </a:r>
          </a:p>
        </p:txBody>
      </p:sp>
      <p:sp>
        <p:nvSpPr>
          <p:cNvPr id="2" name="">
            <a:extLst xmlns:a="http://schemas.openxmlformats.org/drawingml/2006/main">
              <a:ext uri="{FF2B5EF4-FFF2-40B4-BE49-F238E27FC236}">
                <a16:creationId xmlns:a16="http://schemas.microsoft.com/office/drawing/2014/main" id="{8B196437-91C3-44DA-9B4B-8D3855ED0011}"/>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Funding should accelerate scale, not delay the pilot</a:t>
            </a:r>
          </a:p>
        </p:txBody>
      </p:sp>
      <p:sp>
        <p:nvSpPr>
          <p:cNvPr id="3" name="">
            <a:extLst xmlns:a="http://schemas.openxmlformats.org/drawingml/2006/main">
              <a:ext uri="{FF2B5EF4-FFF2-40B4-BE49-F238E27FC236}">
                <a16:creationId xmlns:a16="http://schemas.microsoft.com/office/drawing/2014/main" id="{7CA4DE4B-905C-4C6D-B24E-9D076B57FB97}"/>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Use the pilot evidence to improve grant quality.</a:t>
            </a:r>
          </a:p>
        </p:txBody>
      </p:sp>
      <p:sp>
        <p:nvSpPr>
          <p:cNvPr id="4" name="">
            <a:extLst xmlns:a="http://schemas.openxmlformats.org/drawingml/2006/main">
              <a:ext uri="{FF2B5EF4-FFF2-40B4-BE49-F238E27FC236}">
                <a16:creationId xmlns:a16="http://schemas.microsoft.com/office/drawing/2014/main" id="{4592A099-9552-4634-AF0C-4B6BF6AA7066}"/>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33B32464-5E95-4B1D-83F3-E3F3D83B44FE}"/>
              </a:ext>
            </a:extLst>
          </p:cNvPr>
          <p:cNvSpPr>
            <a:spLocks xmlns:a="http://schemas.openxmlformats.org/drawingml/2006/main" noGrp="1"/>
          </p:cNvSpPr>
          <p:nvPr/>
        </p:nvSpPr>
        <p:spPr>
          <a:xfrm xmlns:a="http://schemas.openxmlformats.org/drawingml/2006/main">
            <a:off x="781050" y="2000250"/>
            <a:ext cx="21907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16822338-014B-4548-A10A-E440399EDCD2}"/>
              </a:ext>
            </a:extLst>
          </p:cNvPr>
          <p:cNvSpPr>
            <a:spLocks xmlns:a="http://schemas.openxmlformats.org/drawingml/2006/main" noGrp="1"/>
          </p:cNvSpPr>
          <p:nvPr/>
        </p:nvSpPr>
        <p:spPr>
          <a:xfrm xmlns:a="http://schemas.openxmlformats.org/drawingml/2006/main">
            <a:off x="876300" y="2076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Route</a:t>
            </a:r>
          </a:p>
        </p:txBody>
      </p:sp>
      <p:sp>
        <p:nvSpPr>
          <p:cNvPr id="7" name="">
            <a:extLst xmlns:a="http://schemas.openxmlformats.org/drawingml/2006/main">
              <a:ext uri="{FF2B5EF4-FFF2-40B4-BE49-F238E27FC236}">
                <a16:creationId xmlns:a16="http://schemas.microsoft.com/office/drawing/2014/main" id="{0FBD9417-C9F1-4D41-9E91-32324D70FC6C}"/>
              </a:ext>
            </a:extLst>
          </p:cNvPr>
          <p:cNvSpPr>
            <a:spLocks xmlns:a="http://schemas.openxmlformats.org/drawingml/2006/main" noGrp="1"/>
          </p:cNvSpPr>
          <p:nvPr/>
        </p:nvSpPr>
        <p:spPr>
          <a:xfrm xmlns:a="http://schemas.openxmlformats.org/drawingml/2006/main">
            <a:off x="2971800" y="2000250"/>
            <a:ext cx="58102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CF9AA6D9-E644-451C-A4F8-D7DF268776FD}"/>
              </a:ext>
            </a:extLst>
          </p:cNvPr>
          <p:cNvSpPr>
            <a:spLocks xmlns:a="http://schemas.openxmlformats.org/drawingml/2006/main" noGrp="1"/>
          </p:cNvSpPr>
          <p:nvPr/>
        </p:nvSpPr>
        <p:spPr>
          <a:xfrm xmlns:a="http://schemas.openxmlformats.org/drawingml/2006/main">
            <a:off x="3067050" y="20764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Best use</a:t>
            </a:r>
          </a:p>
        </p:txBody>
      </p:sp>
      <p:sp>
        <p:nvSpPr>
          <p:cNvPr id="9" name="">
            <a:extLst xmlns:a="http://schemas.openxmlformats.org/drawingml/2006/main">
              <a:ext uri="{FF2B5EF4-FFF2-40B4-BE49-F238E27FC236}">
                <a16:creationId xmlns:a16="http://schemas.microsoft.com/office/drawing/2014/main" id="{F1C95EE6-2A07-4F85-8D9D-7513A8C8DFB6}"/>
              </a:ext>
            </a:extLst>
          </p:cNvPr>
          <p:cNvSpPr>
            <a:spLocks xmlns:a="http://schemas.openxmlformats.org/drawingml/2006/main" noGrp="1"/>
          </p:cNvSpPr>
          <p:nvPr/>
        </p:nvSpPr>
        <p:spPr>
          <a:xfrm xmlns:a="http://schemas.openxmlformats.org/drawingml/2006/main">
            <a:off x="8782050" y="2000250"/>
            <a:ext cx="14287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5708E775-E923-4F27-AFBA-2A2F5DDEC722}"/>
              </a:ext>
            </a:extLst>
          </p:cNvPr>
          <p:cNvSpPr>
            <a:spLocks xmlns:a="http://schemas.openxmlformats.org/drawingml/2006/main" noGrp="1"/>
          </p:cNvSpPr>
          <p:nvPr/>
        </p:nvSpPr>
        <p:spPr>
          <a:xfrm xmlns:a="http://schemas.openxmlformats.org/drawingml/2006/main">
            <a:off x="8877300" y="2076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Fit</a:t>
            </a:r>
          </a:p>
        </p:txBody>
      </p:sp>
      <p:sp>
        <p:nvSpPr>
          <p:cNvPr id="11" name="">
            <a:extLst xmlns:a="http://schemas.openxmlformats.org/drawingml/2006/main">
              <a:ext uri="{FF2B5EF4-FFF2-40B4-BE49-F238E27FC236}">
                <a16:creationId xmlns:a16="http://schemas.microsoft.com/office/drawing/2014/main" id="{6C5E4358-4CB7-46C7-AB63-4EF2E2DE93FD}"/>
              </a:ext>
            </a:extLst>
          </p:cNvPr>
          <p:cNvSpPr>
            <a:spLocks xmlns:a="http://schemas.openxmlformats.org/drawingml/2006/main" noGrp="1"/>
          </p:cNvSpPr>
          <p:nvPr/>
        </p:nvSpPr>
        <p:spPr>
          <a:xfrm xmlns:a="http://schemas.openxmlformats.org/drawingml/2006/main">
            <a:off x="781050" y="24765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8786117C-4C5F-470F-949B-94ACC15063EB}"/>
              </a:ext>
            </a:extLst>
          </p:cNvPr>
          <p:cNvSpPr>
            <a:spLocks xmlns:a="http://schemas.openxmlformats.org/drawingml/2006/main" noGrp="1"/>
          </p:cNvSpPr>
          <p:nvPr/>
        </p:nvSpPr>
        <p:spPr>
          <a:xfrm xmlns:a="http://schemas.openxmlformats.org/drawingml/2006/main">
            <a:off x="876300" y="25527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ZIM</a:t>
            </a:r>
          </a:p>
        </p:txBody>
      </p:sp>
      <p:sp>
        <p:nvSpPr>
          <p:cNvPr id="13" name="">
            <a:extLst xmlns:a="http://schemas.openxmlformats.org/drawingml/2006/main">
              <a:ext uri="{FF2B5EF4-FFF2-40B4-BE49-F238E27FC236}">
                <a16:creationId xmlns:a16="http://schemas.microsoft.com/office/drawing/2014/main" id="{0E8BC620-41BD-4494-8D92-D64B157B3BA9}"/>
              </a:ext>
            </a:extLst>
          </p:cNvPr>
          <p:cNvSpPr>
            <a:spLocks xmlns:a="http://schemas.openxmlformats.org/drawingml/2006/main" noGrp="1"/>
          </p:cNvSpPr>
          <p:nvPr/>
        </p:nvSpPr>
        <p:spPr>
          <a:xfrm xmlns:a="http://schemas.openxmlformats.org/drawingml/2006/main">
            <a:off x="2971800" y="24765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FEB1AA67-E0A4-4F3E-B228-B5F04B5AAB5E}"/>
              </a:ext>
            </a:extLst>
          </p:cNvPr>
          <p:cNvSpPr>
            <a:spLocks xmlns:a="http://schemas.openxmlformats.org/drawingml/2006/main" noGrp="1"/>
          </p:cNvSpPr>
          <p:nvPr/>
        </p:nvSpPr>
        <p:spPr>
          <a:xfrm xmlns:a="http://schemas.openxmlformats.org/drawingml/2006/main">
            <a:off x="3067050" y="25527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R&amp;D-heavy AI/materials cooperation projects</a:t>
            </a:r>
          </a:p>
        </p:txBody>
      </p:sp>
      <p:sp>
        <p:nvSpPr>
          <p:cNvPr id="15" name="">
            <a:extLst xmlns:a="http://schemas.openxmlformats.org/drawingml/2006/main">
              <a:ext uri="{FF2B5EF4-FFF2-40B4-BE49-F238E27FC236}">
                <a16:creationId xmlns:a16="http://schemas.microsoft.com/office/drawing/2014/main" id="{56DCBA04-5EF3-43C7-B6C3-ADBF6EA84928}"/>
              </a:ext>
            </a:extLst>
          </p:cNvPr>
          <p:cNvSpPr>
            <a:spLocks xmlns:a="http://schemas.openxmlformats.org/drawingml/2006/main" noGrp="1"/>
          </p:cNvSpPr>
          <p:nvPr/>
        </p:nvSpPr>
        <p:spPr>
          <a:xfrm xmlns:a="http://schemas.openxmlformats.org/drawingml/2006/main">
            <a:off x="8782050" y="24765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EF1C4CF5-A0D8-4C56-856A-B9A0AD41B2DC}"/>
              </a:ext>
            </a:extLst>
          </p:cNvPr>
          <p:cNvSpPr>
            <a:spLocks xmlns:a="http://schemas.openxmlformats.org/drawingml/2006/main" noGrp="1"/>
          </p:cNvSpPr>
          <p:nvPr/>
        </p:nvSpPr>
        <p:spPr>
          <a:xfrm xmlns:a="http://schemas.openxmlformats.org/drawingml/2006/main">
            <a:off x="8877300" y="25527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High</a:t>
            </a:r>
          </a:p>
        </p:txBody>
      </p:sp>
      <p:sp>
        <p:nvSpPr>
          <p:cNvPr id="17" name="">
            <a:extLst xmlns:a="http://schemas.openxmlformats.org/drawingml/2006/main">
              <a:ext uri="{FF2B5EF4-FFF2-40B4-BE49-F238E27FC236}">
                <a16:creationId xmlns:a16="http://schemas.microsoft.com/office/drawing/2014/main" id="{9B313ADD-11FB-484E-85CB-15754512CD9F}"/>
              </a:ext>
            </a:extLst>
          </p:cNvPr>
          <p:cNvSpPr>
            <a:spLocks xmlns:a="http://schemas.openxmlformats.org/drawingml/2006/main" noGrp="1"/>
          </p:cNvSpPr>
          <p:nvPr/>
        </p:nvSpPr>
        <p:spPr>
          <a:xfrm xmlns:a="http://schemas.openxmlformats.org/drawingml/2006/main">
            <a:off x="781050" y="29527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346CC105-53AA-4BCA-A7C4-A3770E7C29F2}"/>
              </a:ext>
            </a:extLst>
          </p:cNvPr>
          <p:cNvSpPr>
            <a:spLocks xmlns:a="http://schemas.openxmlformats.org/drawingml/2006/main" noGrp="1"/>
          </p:cNvSpPr>
          <p:nvPr/>
        </p:nvSpPr>
        <p:spPr>
          <a:xfrm xmlns:a="http://schemas.openxmlformats.org/drawingml/2006/main">
            <a:off x="876300" y="3028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Forschungszulage</a:t>
            </a:r>
          </a:p>
        </p:txBody>
      </p:sp>
      <p:sp>
        <p:nvSpPr>
          <p:cNvPr id="19" name="">
            <a:extLst xmlns:a="http://schemas.openxmlformats.org/drawingml/2006/main">
              <a:ext uri="{FF2B5EF4-FFF2-40B4-BE49-F238E27FC236}">
                <a16:creationId xmlns:a16="http://schemas.microsoft.com/office/drawing/2014/main" id="{45A6A0F1-3DCD-4393-979F-D114FA97BB1D}"/>
              </a:ext>
            </a:extLst>
          </p:cNvPr>
          <p:cNvSpPr>
            <a:spLocks xmlns:a="http://schemas.openxmlformats.org/drawingml/2006/main" noGrp="1"/>
          </p:cNvSpPr>
          <p:nvPr/>
        </p:nvSpPr>
        <p:spPr>
          <a:xfrm xmlns:a="http://schemas.openxmlformats.org/drawingml/2006/main">
            <a:off x="2971800" y="29527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CAF8D658-FF23-41A6-930F-2AB95F338622}"/>
              </a:ext>
            </a:extLst>
          </p:cNvPr>
          <p:cNvSpPr>
            <a:spLocks xmlns:a="http://schemas.openxmlformats.org/drawingml/2006/main" noGrp="1"/>
          </p:cNvSpPr>
          <p:nvPr/>
        </p:nvSpPr>
        <p:spPr>
          <a:xfrm xmlns:a="http://schemas.openxmlformats.org/drawingml/2006/main">
            <a:off x="3067050" y="30289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Technical uncertainty in formulation or predictive quality R&amp;D</a:t>
            </a:r>
          </a:p>
        </p:txBody>
      </p:sp>
      <p:sp>
        <p:nvSpPr>
          <p:cNvPr id="21" name="">
            <a:extLst xmlns:a="http://schemas.openxmlformats.org/drawingml/2006/main">
              <a:ext uri="{FF2B5EF4-FFF2-40B4-BE49-F238E27FC236}">
                <a16:creationId xmlns:a16="http://schemas.microsoft.com/office/drawing/2014/main" id="{13A6CD04-24EB-4727-9F39-F8FD0D118C29}"/>
              </a:ext>
            </a:extLst>
          </p:cNvPr>
          <p:cNvSpPr>
            <a:spLocks xmlns:a="http://schemas.openxmlformats.org/drawingml/2006/main" noGrp="1"/>
          </p:cNvSpPr>
          <p:nvPr/>
        </p:nvSpPr>
        <p:spPr>
          <a:xfrm xmlns:a="http://schemas.openxmlformats.org/drawingml/2006/main">
            <a:off x="8782050" y="29527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DBBFB85F-652F-40A7-AC68-28F9F82E8964}"/>
              </a:ext>
            </a:extLst>
          </p:cNvPr>
          <p:cNvSpPr>
            <a:spLocks xmlns:a="http://schemas.openxmlformats.org/drawingml/2006/main" noGrp="1"/>
          </p:cNvSpPr>
          <p:nvPr/>
        </p:nvSpPr>
        <p:spPr>
          <a:xfrm xmlns:a="http://schemas.openxmlformats.org/drawingml/2006/main">
            <a:off x="8877300" y="30289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High</a:t>
            </a:r>
          </a:p>
        </p:txBody>
      </p:sp>
      <p:sp>
        <p:nvSpPr>
          <p:cNvPr id="23" name="">
            <a:extLst xmlns:a="http://schemas.openxmlformats.org/drawingml/2006/main">
              <a:ext uri="{FF2B5EF4-FFF2-40B4-BE49-F238E27FC236}">
                <a16:creationId xmlns:a16="http://schemas.microsoft.com/office/drawing/2014/main" id="{85202A65-AD03-4575-B06A-D2019169A06F}"/>
              </a:ext>
            </a:extLst>
          </p:cNvPr>
          <p:cNvSpPr>
            <a:spLocks xmlns:a="http://schemas.openxmlformats.org/drawingml/2006/main" noGrp="1"/>
          </p:cNvSpPr>
          <p:nvPr/>
        </p:nvSpPr>
        <p:spPr>
          <a:xfrm xmlns:a="http://schemas.openxmlformats.org/drawingml/2006/main">
            <a:off x="781050" y="34290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C06A1605-60DF-4CE7-AC90-4E546CF0CFF1}"/>
              </a:ext>
            </a:extLst>
          </p:cNvPr>
          <p:cNvSpPr>
            <a:spLocks xmlns:a="http://schemas.openxmlformats.org/drawingml/2006/main" noGrp="1"/>
          </p:cNvSpPr>
          <p:nvPr/>
        </p:nvSpPr>
        <p:spPr>
          <a:xfrm xmlns:a="http://schemas.openxmlformats.org/drawingml/2006/main">
            <a:off x="876300" y="35052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NRW MID-Digitalisierung</a:t>
            </a:r>
          </a:p>
        </p:txBody>
      </p:sp>
      <p:sp>
        <p:nvSpPr>
          <p:cNvPr id="25" name="">
            <a:extLst xmlns:a="http://schemas.openxmlformats.org/drawingml/2006/main">
              <a:ext uri="{FF2B5EF4-FFF2-40B4-BE49-F238E27FC236}">
                <a16:creationId xmlns:a16="http://schemas.microsoft.com/office/drawing/2014/main" id="{C131056F-7FDB-418F-BE53-200C9ED6FECB}"/>
              </a:ext>
            </a:extLst>
          </p:cNvPr>
          <p:cNvSpPr>
            <a:spLocks xmlns:a="http://schemas.openxmlformats.org/drawingml/2006/main" noGrp="1"/>
          </p:cNvSpPr>
          <p:nvPr/>
        </p:nvSpPr>
        <p:spPr>
          <a:xfrm xmlns:a="http://schemas.openxmlformats.org/drawingml/2006/main">
            <a:off x="2971800" y="34290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A71790D6-5B5D-4E05-92E9-CAE7766E983F}"/>
              </a:ext>
            </a:extLst>
          </p:cNvPr>
          <p:cNvSpPr>
            <a:spLocks xmlns:a="http://schemas.openxmlformats.org/drawingml/2006/main" noGrp="1"/>
          </p:cNvSpPr>
          <p:nvPr/>
        </p:nvSpPr>
        <p:spPr>
          <a:xfrm xmlns:a="http://schemas.openxmlformats.org/drawingml/2006/main">
            <a:off x="3067050" y="35052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Marketable digital product using AI/ML, not internal-only process digitization</a:t>
            </a:r>
          </a:p>
        </p:txBody>
      </p:sp>
      <p:sp>
        <p:nvSpPr>
          <p:cNvPr id="27" name="">
            <a:extLst xmlns:a="http://schemas.openxmlformats.org/drawingml/2006/main">
              <a:ext uri="{FF2B5EF4-FFF2-40B4-BE49-F238E27FC236}">
                <a16:creationId xmlns:a16="http://schemas.microsoft.com/office/drawing/2014/main" id="{32AF79E0-C684-4818-863B-24EB4B3F8618}"/>
              </a:ext>
            </a:extLst>
          </p:cNvPr>
          <p:cNvSpPr>
            <a:spLocks xmlns:a="http://schemas.openxmlformats.org/drawingml/2006/main" noGrp="1"/>
          </p:cNvSpPr>
          <p:nvPr/>
        </p:nvSpPr>
        <p:spPr>
          <a:xfrm xmlns:a="http://schemas.openxmlformats.org/drawingml/2006/main">
            <a:off x="8782050" y="34290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8E9279E1-EDED-410E-B875-0F32AECCA33E}"/>
              </a:ext>
            </a:extLst>
          </p:cNvPr>
          <p:cNvSpPr>
            <a:spLocks xmlns:a="http://schemas.openxmlformats.org/drawingml/2006/main" noGrp="1"/>
          </p:cNvSpPr>
          <p:nvPr/>
        </p:nvSpPr>
        <p:spPr>
          <a:xfrm xmlns:a="http://schemas.openxmlformats.org/drawingml/2006/main">
            <a:off x="8877300" y="3505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Selective</a:t>
            </a:r>
          </a:p>
        </p:txBody>
      </p:sp>
      <p:sp>
        <p:nvSpPr>
          <p:cNvPr id="29" name="">
            <a:extLst xmlns:a="http://schemas.openxmlformats.org/drawingml/2006/main">
              <a:ext uri="{FF2B5EF4-FFF2-40B4-BE49-F238E27FC236}">
                <a16:creationId xmlns:a16="http://schemas.microsoft.com/office/drawing/2014/main" id="{6F7D205B-3D4F-4C49-83AE-A6C2D0140CE5}"/>
              </a:ext>
            </a:extLst>
          </p:cNvPr>
          <p:cNvSpPr>
            <a:spLocks xmlns:a="http://schemas.openxmlformats.org/drawingml/2006/main" noGrp="1"/>
          </p:cNvSpPr>
          <p:nvPr/>
        </p:nvSpPr>
        <p:spPr>
          <a:xfrm xmlns:a="http://schemas.openxmlformats.org/drawingml/2006/main">
            <a:off x="781050" y="39052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BEACB168-8C0B-4C69-98D1-D3B124F522DF}"/>
              </a:ext>
            </a:extLst>
          </p:cNvPr>
          <p:cNvSpPr>
            <a:spLocks xmlns:a="http://schemas.openxmlformats.org/drawingml/2006/main" noGrp="1"/>
          </p:cNvSpPr>
          <p:nvPr/>
        </p:nvSpPr>
        <p:spPr>
          <a:xfrm xmlns:a="http://schemas.openxmlformats.org/drawingml/2006/main">
            <a:off x="876300" y="3981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NRW MID-Assistent(in)</a:t>
            </a:r>
          </a:p>
        </p:txBody>
      </p:sp>
      <p:sp>
        <p:nvSpPr>
          <p:cNvPr id="31" name="">
            <a:extLst xmlns:a="http://schemas.openxmlformats.org/drawingml/2006/main">
              <a:ext uri="{FF2B5EF4-FFF2-40B4-BE49-F238E27FC236}">
                <a16:creationId xmlns:a16="http://schemas.microsoft.com/office/drawing/2014/main" id="{31404FF3-FB75-4F3C-9BBD-F742FC35CE7E}"/>
              </a:ext>
            </a:extLst>
          </p:cNvPr>
          <p:cNvSpPr>
            <a:spLocks xmlns:a="http://schemas.openxmlformats.org/drawingml/2006/main" noGrp="1"/>
          </p:cNvSpPr>
          <p:nvPr/>
        </p:nvSpPr>
        <p:spPr>
          <a:xfrm xmlns:a="http://schemas.openxmlformats.org/drawingml/2006/main">
            <a:off x="2971800" y="39052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83D9A241-2587-4506-BD4C-D11A2470611B}"/>
              </a:ext>
            </a:extLst>
          </p:cNvPr>
          <p:cNvSpPr>
            <a:spLocks xmlns:a="http://schemas.openxmlformats.org/drawingml/2006/main" noGrp="1"/>
          </p:cNvSpPr>
          <p:nvPr/>
        </p:nvSpPr>
        <p:spPr>
          <a:xfrm xmlns:a="http://schemas.openxmlformats.org/drawingml/2006/main">
            <a:off x="3067050" y="39814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Hiring a graduate AI/data engineer for innovation work</a:t>
            </a:r>
          </a:p>
        </p:txBody>
      </p:sp>
      <p:sp>
        <p:nvSpPr>
          <p:cNvPr id="33" name="">
            <a:extLst xmlns:a="http://schemas.openxmlformats.org/drawingml/2006/main">
              <a:ext uri="{FF2B5EF4-FFF2-40B4-BE49-F238E27FC236}">
                <a16:creationId xmlns:a16="http://schemas.microsoft.com/office/drawing/2014/main" id="{B74428DD-9791-4428-A4D0-C54AE4911994}"/>
              </a:ext>
            </a:extLst>
          </p:cNvPr>
          <p:cNvSpPr>
            <a:spLocks xmlns:a="http://schemas.openxmlformats.org/drawingml/2006/main" noGrp="1"/>
          </p:cNvSpPr>
          <p:nvPr/>
        </p:nvSpPr>
        <p:spPr>
          <a:xfrm xmlns:a="http://schemas.openxmlformats.org/drawingml/2006/main">
            <a:off x="8782050" y="39052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53FF09C8-1815-4681-BD8D-4619E8660B5B}"/>
              </a:ext>
            </a:extLst>
          </p:cNvPr>
          <p:cNvSpPr>
            <a:spLocks xmlns:a="http://schemas.openxmlformats.org/drawingml/2006/main" noGrp="1"/>
          </p:cNvSpPr>
          <p:nvPr/>
        </p:nvSpPr>
        <p:spPr>
          <a:xfrm xmlns:a="http://schemas.openxmlformats.org/drawingml/2006/main">
            <a:off x="8877300" y="3981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Strong</a:t>
            </a:r>
          </a:p>
        </p:txBody>
      </p:sp>
      <p:sp>
        <p:nvSpPr>
          <p:cNvPr id="35" name="">
            <a:extLst xmlns:a="http://schemas.openxmlformats.org/drawingml/2006/main">
              <a:ext uri="{FF2B5EF4-FFF2-40B4-BE49-F238E27FC236}">
                <a16:creationId xmlns:a16="http://schemas.microsoft.com/office/drawing/2014/main" id="{84EDB40C-9A0F-42CF-8AAD-0A422B99D5CF}"/>
              </a:ext>
            </a:extLst>
          </p:cNvPr>
          <p:cNvSpPr>
            <a:spLocks xmlns:a="http://schemas.openxmlformats.org/drawingml/2006/main" noGrp="1"/>
          </p:cNvSpPr>
          <p:nvPr/>
        </p:nvSpPr>
        <p:spPr>
          <a:xfrm xmlns:a="http://schemas.openxmlformats.org/drawingml/2006/main">
            <a:off x="781050" y="43815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CE833170-95B5-4BF5-9589-87236339E537}"/>
              </a:ext>
            </a:extLst>
          </p:cNvPr>
          <p:cNvSpPr>
            <a:spLocks xmlns:a="http://schemas.openxmlformats.org/drawingml/2006/main" noGrp="1"/>
          </p:cNvSpPr>
          <p:nvPr/>
        </p:nvSpPr>
        <p:spPr>
          <a:xfrm xmlns:a="http://schemas.openxmlformats.org/drawingml/2006/main">
            <a:off x="876300" y="44577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BAFA EEW</a:t>
            </a:r>
          </a:p>
        </p:txBody>
      </p:sp>
      <p:sp>
        <p:nvSpPr>
          <p:cNvPr id="37" name="">
            <a:extLst xmlns:a="http://schemas.openxmlformats.org/drawingml/2006/main">
              <a:ext uri="{FF2B5EF4-FFF2-40B4-BE49-F238E27FC236}">
                <a16:creationId xmlns:a16="http://schemas.microsoft.com/office/drawing/2014/main" id="{6D621C37-0E1D-4322-AAC7-61FA6DEB4EE5}"/>
              </a:ext>
            </a:extLst>
          </p:cNvPr>
          <p:cNvSpPr>
            <a:spLocks xmlns:a="http://schemas.openxmlformats.org/drawingml/2006/main" noGrp="1"/>
          </p:cNvSpPr>
          <p:nvPr/>
        </p:nvSpPr>
        <p:spPr>
          <a:xfrm xmlns:a="http://schemas.openxmlformats.org/drawingml/2006/main">
            <a:off x="2971800" y="43815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5037D2B9-5A91-4756-8D7C-734A1A22BB0D}"/>
              </a:ext>
            </a:extLst>
          </p:cNvPr>
          <p:cNvSpPr>
            <a:spLocks xmlns:a="http://schemas.openxmlformats.org/drawingml/2006/main" noGrp="1"/>
          </p:cNvSpPr>
          <p:nvPr/>
        </p:nvSpPr>
        <p:spPr>
          <a:xfrm xmlns:a="http://schemas.openxmlformats.org/drawingml/2006/main">
            <a:off x="3067050" y="44577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Energy/resource efficiency, sensorics, management software, optimization</a:t>
            </a:r>
          </a:p>
        </p:txBody>
      </p:sp>
      <p:sp>
        <p:nvSpPr>
          <p:cNvPr id="39" name="">
            <a:extLst xmlns:a="http://schemas.openxmlformats.org/drawingml/2006/main">
              <a:ext uri="{FF2B5EF4-FFF2-40B4-BE49-F238E27FC236}">
                <a16:creationId xmlns:a16="http://schemas.microsoft.com/office/drawing/2014/main" id="{F734342B-F138-482A-95E7-358FB7DD90DA}"/>
              </a:ext>
            </a:extLst>
          </p:cNvPr>
          <p:cNvSpPr>
            <a:spLocks xmlns:a="http://schemas.openxmlformats.org/drawingml/2006/main" noGrp="1"/>
          </p:cNvSpPr>
          <p:nvPr/>
        </p:nvSpPr>
        <p:spPr>
          <a:xfrm xmlns:a="http://schemas.openxmlformats.org/drawingml/2006/main">
            <a:off x="8782050" y="43815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A54D571C-5B52-4A03-B6D8-E0050C672D02}"/>
              </a:ext>
            </a:extLst>
          </p:cNvPr>
          <p:cNvSpPr>
            <a:spLocks xmlns:a="http://schemas.openxmlformats.org/drawingml/2006/main" noGrp="1"/>
          </p:cNvSpPr>
          <p:nvPr/>
        </p:nvSpPr>
        <p:spPr>
          <a:xfrm xmlns:a="http://schemas.openxmlformats.org/drawingml/2006/main">
            <a:off x="8877300" y="44577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Conditional</a:t>
            </a:r>
          </a:p>
        </p:txBody>
      </p:sp>
      <p:sp>
        <p:nvSpPr>
          <p:cNvPr id="41" name="">
            <a:extLst xmlns:a="http://schemas.openxmlformats.org/drawingml/2006/main">
              <a:ext uri="{FF2B5EF4-FFF2-40B4-BE49-F238E27FC236}">
                <a16:creationId xmlns:a16="http://schemas.microsoft.com/office/drawing/2014/main" id="{10A6854A-E71F-47D5-AF7A-CBC3FC2C12D6}"/>
              </a:ext>
            </a:extLst>
          </p:cNvPr>
          <p:cNvSpPr>
            <a:spLocks xmlns:a="http://schemas.openxmlformats.org/drawingml/2006/main" noGrp="1"/>
          </p:cNvSpPr>
          <p:nvPr/>
        </p:nvSpPr>
        <p:spPr>
          <a:xfrm xmlns:a="http://schemas.openxmlformats.org/drawingml/2006/main">
            <a:off x="781050" y="48577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5A7F9D4F-05C0-46C5-B109-C816C81D17D0}"/>
              </a:ext>
            </a:extLst>
          </p:cNvPr>
          <p:cNvSpPr>
            <a:spLocks xmlns:a="http://schemas.openxmlformats.org/drawingml/2006/main" noGrp="1"/>
          </p:cNvSpPr>
          <p:nvPr/>
        </p:nvSpPr>
        <p:spPr>
          <a:xfrm xmlns:a="http://schemas.openxmlformats.org/drawingml/2006/main">
            <a:off x="876300" y="4933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Eurostars/Horizon</a:t>
            </a:r>
          </a:p>
        </p:txBody>
      </p:sp>
      <p:sp>
        <p:nvSpPr>
          <p:cNvPr id="43" name="">
            <a:extLst xmlns:a="http://schemas.openxmlformats.org/drawingml/2006/main">
              <a:ext uri="{FF2B5EF4-FFF2-40B4-BE49-F238E27FC236}">
                <a16:creationId xmlns:a16="http://schemas.microsoft.com/office/drawing/2014/main" id="{F04C2FF9-0E36-4FC0-9CE9-1A59D41EF0BA}"/>
              </a:ext>
            </a:extLst>
          </p:cNvPr>
          <p:cNvSpPr>
            <a:spLocks xmlns:a="http://schemas.openxmlformats.org/drawingml/2006/main" noGrp="1"/>
          </p:cNvSpPr>
          <p:nvPr/>
        </p:nvSpPr>
        <p:spPr>
          <a:xfrm xmlns:a="http://schemas.openxmlformats.org/drawingml/2006/main">
            <a:off x="2971800" y="48577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9ECFD70A-0499-4E28-AD22-CC72C33476FA}"/>
              </a:ext>
            </a:extLst>
          </p:cNvPr>
          <p:cNvSpPr>
            <a:spLocks xmlns:a="http://schemas.openxmlformats.org/drawingml/2006/main" noGrp="1"/>
          </p:cNvSpPr>
          <p:nvPr/>
        </p:nvSpPr>
        <p:spPr>
          <a:xfrm xmlns:a="http://schemas.openxmlformats.org/drawingml/2006/main">
            <a:off x="3067050" y="49339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International R&amp;D consortia and advanced materials/manufacturing</a:t>
            </a:r>
          </a:p>
        </p:txBody>
      </p:sp>
      <p:sp>
        <p:nvSpPr>
          <p:cNvPr id="45" name="">
            <a:extLst xmlns:a="http://schemas.openxmlformats.org/drawingml/2006/main">
              <a:ext uri="{FF2B5EF4-FFF2-40B4-BE49-F238E27FC236}">
                <a16:creationId xmlns:a16="http://schemas.microsoft.com/office/drawing/2014/main" id="{FAD09815-4CF2-4AB2-B3E6-68165C30B82D}"/>
              </a:ext>
            </a:extLst>
          </p:cNvPr>
          <p:cNvSpPr>
            <a:spLocks xmlns:a="http://schemas.openxmlformats.org/drawingml/2006/main" noGrp="1"/>
          </p:cNvSpPr>
          <p:nvPr/>
        </p:nvSpPr>
        <p:spPr>
          <a:xfrm xmlns:a="http://schemas.openxmlformats.org/drawingml/2006/main">
            <a:off x="8782050" y="48577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FF7AA96A-2D07-4619-9B36-92E09C878B13}"/>
              </a:ext>
            </a:extLst>
          </p:cNvPr>
          <p:cNvSpPr>
            <a:spLocks xmlns:a="http://schemas.openxmlformats.org/drawingml/2006/main" noGrp="1"/>
          </p:cNvSpPr>
          <p:nvPr/>
        </p:nvSpPr>
        <p:spPr>
          <a:xfrm xmlns:a="http://schemas.openxmlformats.org/drawingml/2006/main">
            <a:off x="8877300" y="49339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Later</a:t>
            </a:r>
          </a:p>
        </p:txBody>
      </p:sp>
      <p:sp>
        <p:nvSpPr>
          <p:cNvPr id="47" name="">
            <a:extLst xmlns:a="http://schemas.openxmlformats.org/drawingml/2006/main">
              <a:ext uri="{FF2B5EF4-FFF2-40B4-BE49-F238E27FC236}">
                <a16:creationId xmlns:a16="http://schemas.microsoft.com/office/drawing/2014/main" id="{D7374523-7EB6-4887-8B4D-EEDF600ABDB8}"/>
              </a:ext>
            </a:extLst>
          </p:cNvPr>
          <p:cNvSpPr>
            <a:spLocks xmlns:a="http://schemas.openxmlformats.org/drawingml/2006/main" noGrp="1"/>
          </p:cNvSpPr>
          <p:nvPr/>
        </p:nvSpPr>
        <p:spPr>
          <a:xfrm xmlns:a="http://schemas.openxmlformats.org/drawingml/2006/main">
            <a:off x="781050" y="2000250"/>
            <a:ext cx="9429750" cy="333375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3B4F43EC-02A2-465A-9216-0812B573C7B2}"/>
              </a:ext>
            </a:extLst>
          </p:cNvPr>
          <p:cNvSpPr>
            <a:spLocks xmlns:a="http://schemas.openxmlformats.org/drawingml/2006/main" noGrp="1"/>
          </p:cNvSpPr>
          <p:nvPr/>
        </p:nvSpPr>
        <p:spPr>
          <a:xfrm xmlns:a="http://schemas.openxmlformats.org/drawingml/2006/main">
            <a:off x="1143000" y="557212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9200"/>
                </a:solidFill>
              </a:defRPr>
            </a:pPr>
            <a:r>
              <a:rPr sz="1800" b="1">
                <a:solidFill>
                  <a:srgbClr val="F39200"/>
                </a:solidFill>
              </a:rPr>
              <a:t>Strategy: start internally, then fund the R&amp;D and scale-up phases.</a:t>
            </a:r>
          </a:p>
        </p:txBody>
      </p:sp>
      <p:sp>
        <p:nvSpPr>
          <p:cNvPr id="49" name="">
            <a:extLst xmlns:a="http://schemas.openxmlformats.org/drawingml/2006/main">
              <a:ext uri="{FF2B5EF4-FFF2-40B4-BE49-F238E27FC236}">
                <a16:creationId xmlns:a16="http://schemas.microsoft.com/office/drawing/2014/main" id="{EED13D04-CB8E-41A9-AEC0-B2394E68085D}"/>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50" name="">
            <a:extLst xmlns:a="http://schemas.openxmlformats.org/drawingml/2006/main">
              <a:ext uri="{FF2B5EF4-FFF2-40B4-BE49-F238E27FC236}">
                <a16:creationId xmlns:a16="http://schemas.microsoft.com/office/drawing/2014/main" id="{84243AA8-71F3-4CC7-9CA4-7FA179B503D4}"/>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Sources: ZIM, BSFZ, NRW.BANK MID, BAFA EEW, Eurostars, Horizon Europe</a:t>
            </a:r>
          </a:p>
        </p:txBody>
      </p:sp>
      <p:sp>
        <p:nvSpPr>
          <p:cNvPr id="51" name="">
            <a:extLst xmlns:a="http://schemas.openxmlformats.org/drawingml/2006/main">
              <a:ext uri="{FF2B5EF4-FFF2-40B4-BE49-F238E27FC236}">
                <a16:creationId xmlns:a16="http://schemas.microsoft.com/office/drawing/2014/main" id="{E39B4598-99AC-417F-8EB3-4FD9E9CE5B5D}"/>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17</a:t>
            </a:r>
          </a:p>
        </p:txBody>
      </p:sp>
    </p:spTree>
    <p:extLst>
      <p:ext uri="{BB962C8B-B14F-4D97-AF65-F5344CB8AC3E}">
        <p14:creationId xmlns:p14="http://schemas.microsoft.com/office/powerpoint/2010/main" val="2025669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B1763B-68DF-4DED-A265-3A1FEAD3FE7F}"/>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RISK CONTROLS</a:t>
            </a:r>
          </a:p>
        </p:txBody>
      </p:sp>
      <p:sp>
        <p:nvSpPr>
          <p:cNvPr id="2" name="">
            <a:extLst xmlns:a="http://schemas.openxmlformats.org/drawingml/2006/main">
              <a:ext uri="{FF2B5EF4-FFF2-40B4-BE49-F238E27FC236}">
                <a16:creationId xmlns:a16="http://schemas.microsoft.com/office/drawing/2014/main" id="{063534B9-3304-4816-B397-DA36DAED16C0}"/>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Risk is manageable if the first phase stays controlled</a:t>
            </a:r>
          </a:p>
        </p:txBody>
      </p:sp>
      <p:sp>
        <p:nvSpPr>
          <p:cNvPr id="3" name="">
            <a:extLst xmlns:a="http://schemas.openxmlformats.org/drawingml/2006/main">
              <a:ext uri="{FF2B5EF4-FFF2-40B4-BE49-F238E27FC236}">
                <a16:creationId xmlns:a16="http://schemas.microsoft.com/office/drawing/2014/main" id="{1694200C-5422-4745-A1BC-B9D192B9FA86}"/>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biggest risks are not model accuracy. They are data linkage, trust, and governance.</a:t>
            </a:r>
          </a:p>
        </p:txBody>
      </p:sp>
      <p:sp>
        <p:nvSpPr>
          <p:cNvPr id="4" name="">
            <a:extLst xmlns:a="http://schemas.openxmlformats.org/drawingml/2006/main">
              <a:ext uri="{FF2B5EF4-FFF2-40B4-BE49-F238E27FC236}">
                <a16:creationId xmlns:a16="http://schemas.microsoft.com/office/drawing/2014/main" id="{A73BDEC2-92AF-41BC-B082-D5FFF0FDFAA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38D8566A-B54F-4A8F-B980-AED77BF807D7}"/>
              </a:ext>
            </a:extLst>
          </p:cNvPr>
          <p:cNvSpPr>
            <a:spLocks xmlns:a="http://schemas.openxmlformats.org/drawingml/2006/main" noGrp="1"/>
          </p:cNvSpPr>
          <p:nvPr/>
        </p:nvSpPr>
        <p:spPr>
          <a:xfrm xmlns:a="http://schemas.openxmlformats.org/drawingml/2006/main">
            <a:off x="762000" y="2095500"/>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E7906A3B-88AE-47BB-9C35-5CA57A196AF4}"/>
              </a:ext>
            </a:extLst>
          </p:cNvPr>
          <p:cNvSpPr>
            <a:spLocks xmlns:a="http://schemas.openxmlformats.org/drawingml/2006/main" noGrp="1"/>
          </p:cNvSpPr>
          <p:nvPr/>
        </p:nvSpPr>
        <p:spPr>
          <a:xfrm xmlns:a="http://schemas.openxmlformats.org/drawingml/2006/main">
            <a:off x="952500"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Data linkage fails</a:t>
            </a:r>
          </a:p>
        </p:txBody>
      </p:sp>
      <p:sp>
        <p:nvSpPr>
          <p:cNvPr id="7" name="">
            <a:extLst xmlns:a="http://schemas.openxmlformats.org/drawingml/2006/main">
              <a:ext uri="{FF2B5EF4-FFF2-40B4-BE49-F238E27FC236}">
                <a16:creationId xmlns:a16="http://schemas.microsoft.com/office/drawing/2014/main" id="{099575E3-6B3C-4584-9548-27171C4E1890}"/>
              </a:ext>
            </a:extLst>
          </p:cNvPr>
          <p:cNvSpPr>
            <a:spLocks xmlns:a="http://schemas.openxmlformats.org/drawingml/2006/main" noGrp="1"/>
          </p:cNvSpPr>
          <p:nvPr/>
        </p:nvSpPr>
        <p:spPr>
          <a:xfrm xmlns:a="http://schemas.openxmlformats.org/drawingml/2006/main">
            <a:off x="952500"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Start with roll passport and data audit</a:t>
            </a:r>
          </a:p>
        </p:txBody>
      </p:sp>
      <p:sp>
        <p:nvSpPr>
          <p:cNvPr id="8" name="">
            <a:extLst xmlns:a="http://schemas.openxmlformats.org/drawingml/2006/main">
              <a:ext uri="{FF2B5EF4-FFF2-40B4-BE49-F238E27FC236}">
                <a16:creationId xmlns:a16="http://schemas.microsoft.com/office/drawing/2014/main" id="{71DE5E27-C345-433B-92F6-59D9414AAAF3}"/>
              </a:ext>
            </a:extLst>
          </p:cNvPr>
          <p:cNvSpPr>
            <a:spLocks xmlns:a="http://schemas.openxmlformats.org/drawingml/2006/main" noGrp="1"/>
          </p:cNvSpPr>
          <p:nvPr/>
        </p:nvSpPr>
        <p:spPr>
          <a:xfrm xmlns:a="http://schemas.openxmlformats.org/drawingml/2006/main">
            <a:off x="4429125" y="2095500"/>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99A94A33-7CDD-41BD-8B29-1360FF2595C4}"/>
              </a:ext>
            </a:extLst>
          </p:cNvPr>
          <p:cNvSpPr>
            <a:spLocks xmlns:a="http://schemas.openxmlformats.org/drawingml/2006/main" noGrp="1"/>
          </p:cNvSpPr>
          <p:nvPr/>
        </p:nvSpPr>
        <p:spPr>
          <a:xfrm xmlns:a="http://schemas.openxmlformats.org/drawingml/2006/main">
            <a:off x="4619625"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Hallucinated technical answer</a:t>
            </a:r>
          </a:p>
        </p:txBody>
      </p:sp>
      <p:sp>
        <p:nvSpPr>
          <p:cNvPr id="10" name="">
            <a:extLst xmlns:a="http://schemas.openxmlformats.org/drawingml/2006/main">
              <a:ext uri="{FF2B5EF4-FFF2-40B4-BE49-F238E27FC236}">
                <a16:creationId xmlns:a16="http://schemas.microsoft.com/office/drawing/2014/main" id="{699B5B12-CA28-49BD-B507-816FC0AF2B8E}"/>
              </a:ext>
            </a:extLst>
          </p:cNvPr>
          <p:cNvSpPr>
            <a:spLocks xmlns:a="http://schemas.openxmlformats.org/drawingml/2006/main" noGrp="1"/>
          </p:cNvSpPr>
          <p:nvPr/>
        </p:nvSpPr>
        <p:spPr>
          <a:xfrm xmlns:a="http://schemas.openxmlformats.org/drawingml/2006/main">
            <a:off x="4619625"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No source, no answer; human approval</a:t>
            </a:r>
          </a:p>
        </p:txBody>
      </p:sp>
      <p:sp>
        <p:nvSpPr>
          <p:cNvPr id="11" name="">
            <a:extLst xmlns:a="http://schemas.openxmlformats.org/drawingml/2006/main">
              <a:ext uri="{FF2B5EF4-FFF2-40B4-BE49-F238E27FC236}">
                <a16:creationId xmlns:a16="http://schemas.microsoft.com/office/drawing/2014/main" id="{904ADF04-57E5-4D03-AEA9-D451D0ED1CCD}"/>
              </a:ext>
            </a:extLst>
          </p:cNvPr>
          <p:cNvSpPr>
            <a:spLocks xmlns:a="http://schemas.openxmlformats.org/drawingml/2006/main" noGrp="1"/>
          </p:cNvSpPr>
          <p:nvPr/>
        </p:nvSpPr>
        <p:spPr>
          <a:xfrm xmlns:a="http://schemas.openxmlformats.org/drawingml/2006/main">
            <a:off x="8096250" y="2095500"/>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174F8498-9C2F-4BA2-996E-CA1687E3B48F}"/>
              </a:ext>
            </a:extLst>
          </p:cNvPr>
          <p:cNvSpPr>
            <a:spLocks xmlns:a="http://schemas.openxmlformats.org/drawingml/2006/main" noGrp="1"/>
          </p:cNvSpPr>
          <p:nvPr/>
        </p:nvSpPr>
        <p:spPr>
          <a:xfrm xmlns:a="http://schemas.openxmlformats.org/drawingml/2006/main">
            <a:off x="8286750"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IP leakage</a:t>
            </a:r>
          </a:p>
        </p:txBody>
      </p:sp>
      <p:sp>
        <p:nvSpPr>
          <p:cNvPr id="13" name="">
            <a:extLst xmlns:a="http://schemas.openxmlformats.org/drawingml/2006/main">
              <a:ext uri="{FF2B5EF4-FFF2-40B4-BE49-F238E27FC236}">
                <a16:creationId xmlns:a16="http://schemas.microsoft.com/office/drawing/2014/main" id="{E5598836-48AD-4E9A-BA64-DAE69068A37A}"/>
              </a:ext>
            </a:extLst>
          </p:cNvPr>
          <p:cNvSpPr>
            <a:spLocks xmlns:a="http://schemas.openxmlformats.org/drawingml/2006/main" noGrp="1"/>
          </p:cNvSpPr>
          <p:nvPr/>
        </p:nvSpPr>
        <p:spPr>
          <a:xfrm xmlns:a="http://schemas.openxmlformats.org/drawingml/2006/main">
            <a:off x="8286750"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Private/approved tools; access control</a:t>
            </a:r>
          </a:p>
        </p:txBody>
      </p:sp>
      <p:sp>
        <p:nvSpPr>
          <p:cNvPr id="14" name="">
            <a:extLst xmlns:a="http://schemas.openxmlformats.org/drawingml/2006/main">
              <a:ext uri="{FF2B5EF4-FFF2-40B4-BE49-F238E27FC236}">
                <a16:creationId xmlns:a16="http://schemas.microsoft.com/office/drawing/2014/main" id="{8751B6BF-0494-400D-B66C-DEC506DD8F5C}"/>
              </a:ext>
            </a:extLst>
          </p:cNvPr>
          <p:cNvSpPr>
            <a:spLocks xmlns:a="http://schemas.openxmlformats.org/drawingml/2006/main" noGrp="1"/>
          </p:cNvSpPr>
          <p:nvPr/>
        </p:nvSpPr>
        <p:spPr>
          <a:xfrm xmlns:a="http://schemas.openxmlformats.org/drawingml/2006/main">
            <a:off x="762000" y="3381375"/>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15" name="">
            <a:extLst xmlns:a="http://schemas.openxmlformats.org/drawingml/2006/main">
              <a:ext uri="{FF2B5EF4-FFF2-40B4-BE49-F238E27FC236}">
                <a16:creationId xmlns:a16="http://schemas.microsoft.com/office/drawing/2014/main" id="{728EB7BC-2B89-4C0C-BB85-2AB298C1216E}"/>
              </a:ext>
            </a:extLst>
          </p:cNvPr>
          <p:cNvSpPr>
            <a:spLocks xmlns:a="http://schemas.openxmlformats.org/drawingml/2006/main" noGrp="1"/>
          </p:cNvSpPr>
          <p:nvPr/>
        </p:nvSpPr>
        <p:spPr>
          <a:xfrm xmlns:a="http://schemas.openxmlformats.org/drawingml/2006/main">
            <a:off x="952500"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Employee resistance</a:t>
            </a:r>
          </a:p>
        </p:txBody>
      </p:sp>
      <p:sp>
        <p:nvSpPr>
          <p:cNvPr id="16" name="">
            <a:extLst xmlns:a="http://schemas.openxmlformats.org/drawingml/2006/main">
              <a:ext uri="{FF2B5EF4-FFF2-40B4-BE49-F238E27FC236}">
                <a16:creationId xmlns:a16="http://schemas.microsoft.com/office/drawing/2014/main" id="{889EC72F-4519-4905-A7EB-917C1B73C8A8}"/>
              </a:ext>
            </a:extLst>
          </p:cNvPr>
          <p:cNvSpPr>
            <a:spLocks xmlns:a="http://schemas.openxmlformats.org/drawingml/2006/main" noGrp="1"/>
          </p:cNvSpPr>
          <p:nvPr/>
        </p:nvSpPr>
        <p:spPr>
          <a:xfrm xmlns:a="http://schemas.openxmlformats.org/drawingml/2006/main">
            <a:off x="952500"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No surveillance framing; involve operators</a:t>
            </a:r>
          </a:p>
        </p:txBody>
      </p:sp>
      <p:sp>
        <p:nvSpPr>
          <p:cNvPr id="17" name="">
            <a:extLst xmlns:a="http://schemas.openxmlformats.org/drawingml/2006/main">
              <a:ext uri="{FF2B5EF4-FFF2-40B4-BE49-F238E27FC236}">
                <a16:creationId xmlns:a16="http://schemas.microsoft.com/office/drawing/2014/main" id="{F98DCF75-6834-4780-8367-B630F737154E}"/>
              </a:ext>
            </a:extLst>
          </p:cNvPr>
          <p:cNvSpPr>
            <a:spLocks xmlns:a="http://schemas.openxmlformats.org/drawingml/2006/main" noGrp="1"/>
          </p:cNvSpPr>
          <p:nvPr/>
        </p:nvSpPr>
        <p:spPr>
          <a:xfrm xmlns:a="http://schemas.openxmlformats.org/drawingml/2006/main">
            <a:off x="4429125" y="3381375"/>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94346D78-2EC1-4794-8B5C-1602541DF4DB}"/>
              </a:ext>
            </a:extLst>
          </p:cNvPr>
          <p:cNvSpPr>
            <a:spLocks xmlns:a="http://schemas.openxmlformats.org/drawingml/2006/main" noGrp="1"/>
          </p:cNvSpPr>
          <p:nvPr/>
        </p:nvSpPr>
        <p:spPr>
          <a:xfrm xmlns:a="http://schemas.openxmlformats.org/drawingml/2006/main">
            <a:off x="4619625"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Cybersecurity</a:t>
            </a:r>
          </a:p>
        </p:txBody>
      </p:sp>
      <p:sp>
        <p:nvSpPr>
          <p:cNvPr id="19" name="">
            <a:extLst xmlns:a="http://schemas.openxmlformats.org/drawingml/2006/main">
              <a:ext uri="{FF2B5EF4-FFF2-40B4-BE49-F238E27FC236}">
                <a16:creationId xmlns:a16="http://schemas.microsoft.com/office/drawing/2014/main" id="{E37AE7BD-16B8-4BD3-9E47-FC1FD3BF9D32}"/>
              </a:ext>
            </a:extLst>
          </p:cNvPr>
          <p:cNvSpPr>
            <a:spLocks xmlns:a="http://schemas.openxmlformats.org/drawingml/2006/main" noGrp="1"/>
          </p:cNvSpPr>
          <p:nvPr/>
        </p:nvSpPr>
        <p:spPr>
          <a:xfrm xmlns:a="http://schemas.openxmlformats.org/drawingml/2006/main">
            <a:off x="4619625"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Read-only connectors; audit logs</a:t>
            </a:r>
          </a:p>
        </p:txBody>
      </p:sp>
      <p:sp>
        <p:nvSpPr>
          <p:cNvPr id="20" name="">
            <a:extLst xmlns:a="http://schemas.openxmlformats.org/drawingml/2006/main">
              <a:ext uri="{FF2B5EF4-FFF2-40B4-BE49-F238E27FC236}">
                <a16:creationId xmlns:a16="http://schemas.microsoft.com/office/drawing/2014/main" id="{B051CD89-1C81-4506-9336-DA07742C48DA}"/>
              </a:ext>
            </a:extLst>
          </p:cNvPr>
          <p:cNvSpPr>
            <a:spLocks xmlns:a="http://schemas.openxmlformats.org/drawingml/2006/main" noGrp="1"/>
          </p:cNvSpPr>
          <p:nvPr/>
        </p:nvSpPr>
        <p:spPr>
          <a:xfrm xmlns:a="http://schemas.openxmlformats.org/drawingml/2006/main">
            <a:off x="8096250" y="3381375"/>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21" name="">
            <a:extLst xmlns:a="http://schemas.openxmlformats.org/drawingml/2006/main">
              <a:ext uri="{FF2B5EF4-FFF2-40B4-BE49-F238E27FC236}">
                <a16:creationId xmlns:a16="http://schemas.microsoft.com/office/drawing/2014/main" id="{1CF7E372-DD18-44E7-B74F-655453ABCEFF}"/>
              </a:ext>
            </a:extLst>
          </p:cNvPr>
          <p:cNvSpPr>
            <a:spLocks xmlns:a="http://schemas.openxmlformats.org/drawingml/2006/main" noGrp="1"/>
          </p:cNvSpPr>
          <p:nvPr/>
        </p:nvSpPr>
        <p:spPr>
          <a:xfrm xmlns:a="http://schemas.openxmlformats.org/drawingml/2006/main">
            <a:off x="8286750"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11111"/>
                </a:solidFill>
              </a:defRPr>
            </a:pPr>
            <a:r>
              <a:rPr sz="1350" b="1">
                <a:solidFill>
                  <a:srgbClr val="111111"/>
                </a:solidFill>
              </a:rPr>
              <a:t>Overpromising</a:t>
            </a:r>
          </a:p>
        </p:txBody>
      </p:sp>
      <p:sp>
        <p:nvSpPr>
          <p:cNvPr id="22" name="">
            <a:extLst xmlns:a="http://schemas.openxmlformats.org/drawingml/2006/main">
              <a:ext uri="{FF2B5EF4-FFF2-40B4-BE49-F238E27FC236}">
                <a16:creationId xmlns:a16="http://schemas.microsoft.com/office/drawing/2014/main" id="{A7437AA8-FD1F-4144-B65C-D82E8BAA0B58}"/>
              </a:ext>
            </a:extLst>
          </p:cNvPr>
          <p:cNvSpPr>
            <a:spLocks xmlns:a="http://schemas.openxmlformats.org/drawingml/2006/main" noGrp="1"/>
          </p:cNvSpPr>
          <p:nvPr/>
        </p:nvSpPr>
        <p:spPr>
          <a:xfrm xmlns:a="http://schemas.openxmlformats.org/drawingml/2006/main">
            <a:off x="8286750"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defRPr>
            </a:pPr>
            <a:r>
              <a:rPr sz="1125" b="0">
                <a:solidFill>
                  <a:srgbClr val="555555"/>
                </a:solidFill>
              </a:rPr>
              <a:t>12-week pilot gates and baseline KPIs</a:t>
            </a:r>
          </a:p>
        </p:txBody>
      </p:sp>
      <p:sp>
        <p:nvSpPr>
          <p:cNvPr id="23" name="">
            <a:extLst xmlns:a="http://schemas.openxmlformats.org/drawingml/2006/main">
              <a:ext uri="{FF2B5EF4-FFF2-40B4-BE49-F238E27FC236}">
                <a16:creationId xmlns:a16="http://schemas.microsoft.com/office/drawing/2014/main" id="{066FB538-F28D-4F15-B209-D7370A96180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4" name="">
            <a:extLst xmlns:a="http://schemas.openxmlformats.org/drawingml/2006/main">
              <a:ext uri="{FF2B5EF4-FFF2-40B4-BE49-F238E27FC236}">
                <a16:creationId xmlns:a16="http://schemas.microsoft.com/office/drawing/2014/main" id="{87A8C7F0-AE3E-4694-AF64-80B0CF9E8DAA}"/>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18</a:t>
            </a:r>
          </a:p>
        </p:txBody>
      </p:sp>
    </p:spTree>
    <p:extLst>
      <p:ext uri="{BB962C8B-B14F-4D97-AF65-F5344CB8AC3E}">
        <p14:creationId xmlns:p14="http://schemas.microsoft.com/office/powerpoint/2010/main" val="193625522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01A56B-65DA-4B32-86B2-DD9E17228625}"/>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OPERATING MODEL</a:t>
            </a:r>
          </a:p>
        </p:txBody>
      </p:sp>
      <p:sp>
        <p:nvSpPr>
          <p:cNvPr id="2" name="">
            <a:extLst xmlns:a="http://schemas.openxmlformats.org/drawingml/2006/main">
              <a:ext uri="{FF2B5EF4-FFF2-40B4-BE49-F238E27FC236}">
                <a16:creationId xmlns:a16="http://schemas.microsoft.com/office/drawing/2014/main" id="{21C86101-D510-4DE4-A0BB-AD3EB5DDD8A9}"/>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operating model needs a champion and owners</a:t>
            </a:r>
          </a:p>
        </p:txBody>
      </p:sp>
      <p:sp>
        <p:nvSpPr>
          <p:cNvPr id="3" name="">
            <a:extLst xmlns:a="http://schemas.openxmlformats.org/drawingml/2006/main">
              <a:ext uri="{FF2B5EF4-FFF2-40B4-BE49-F238E27FC236}">
                <a16:creationId xmlns:a16="http://schemas.microsoft.com/office/drawing/2014/main" id="{F32A74E5-70AE-48FC-919F-59077B4EA861}"/>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AI transformation fails when it sits only in IT or only in one enthusiastic department.</a:t>
            </a:r>
          </a:p>
        </p:txBody>
      </p:sp>
      <p:sp>
        <p:nvSpPr>
          <p:cNvPr id="4" name="">
            <a:extLst xmlns:a="http://schemas.openxmlformats.org/drawingml/2006/main">
              <a:ext uri="{FF2B5EF4-FFF2-40B4-BE49-F238E27FC236}">
                <a16:creationId xmlns:a16="http://schemas.microsoft.com/office/drawing/2014/main" id="{D72EAB5E-8471-4474-ADD2-6EAA82F7DD06}"/>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50324020-58AD-4DA8-82CF-3B8D670E7349}"/>
              </a:ext>
            </a:extLst>
          </p:cNvPr>
          <p:cNvSpPr>
            <a:spLocks xmlns:a="http://schemas.openxmlformats.org/drawingml/2006/main" noGrp="1"/>
          </p:cNvSpPr>
          <p:nvPr/>
        </p:nvSpPr>
        <p:spPr>
          <a:xfrm xmlns:a="http://schemas.openxmlformats.org/drawingml/2006/main">
            <a:off x="952500" y="20002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1CE777A-9145-4084-B80C-71F2AD211B4B}"/>
              </a:ext>
            </a:extLst>
          </p:cNvPr>
          <p:cNvSpPr>
            <a:spLocks xmlns:a="http://schemas.openxmlformats.org/drawingml/2006/main" noGrp="1"/>
          </p:cNvSpPr>
          <p:nvPr/>
        </p:nvSpPr>
        <p:spPr>
          <a:xfrm xmlns:a="http://schemas.openxmlformats.org/drawingml/2006/main">
            <a:off x="1104900" y="20859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Executive sponsor</a:t>
            </a:r>
          </a:p>
        </p:txBody>
      </p:sp>
      <p:sp>
        <p:nvSpPr>
          <p:cNvPr id="7" name="">
            <a:extLst xmlns:a="http://schemas.openxmlformats.org/drawingml/2006/main">
              <a:ext uri="{FF2B5EF4-FFF2-40B4-BE49-F238E27FC236}">
                <a16:creationId xmlns:a16="http://schemas.microsoft.com/office/drawing/2014/main" id="{877631D5-9D15-409D-9BB1-28F2BD566B7F}"/>
              </a:ext>
            </a:extLst>
          </p:cNvPr>
          <p:cNvSpPr>
            <a:spLocks xmlns:a="http://schemas.openxmlformats.org/drawingml/2006/main" noGrp="1"/>
          </p:cNvSpPr>
          <p:nvPr/>
        </p:nvSpPr>
        <p:spPr>
          <a:xfrm xmlns:a="http://schemas.openxmlformats.org/drawingml/2006/main">
            <a:off x="3524250" y="20002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A269A02B-01C6-41F7-83F5-0ADB1E59902A}"/>
              </a:ext>
            </a:extLst>
          </p:cNvPr>
          <p:cNvSpPr>
            <a:spLocks xmlns:a="http://schemas.openxmlformats.org/drawingml/2006/main" noGrp="1"/>
          </p:cNvSpPr>
          <p:nvPr/>
        </p:nvSpPr>
        <p:spPr>
          <a:xfrm xmlns:a="http://schemas.openxmlformats.org/drawingml/2006/main">
            <a:off x="3714750" y="20859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Removes barriers and approves value gates</a:t>
            </a:r>
          </a:p>
        </p:txBody>
      </p:sp>
      <p:sp>
        <p:nvSpPr>
          <p:cNvPr id="9" name="">
            <a:extLst xmlns:a="http://schemas.openxmlformats.org/drawingml/2006/main">
              <a:ext uri="{FF2B5EF4-FFF2-40B4-BE49-F238E27FC236}">
                <a16:creationId xmlns:a16="http://schemas.microsoft.com/office/drawing/2014/main" id="{12D0BFF4-3D01-4EDB-8B6B-9D20485F5D21}"/>
              </a:ext>
            </a:extLst>
          </p:cNvPr>
          <p:cNvSpPr>
            <a:spLocks xmlns:a="http://schemas.openxmlformats.org/drawingml/2006/main" noGrp="1"/>
          </p:cNvSpPr>
          <p:nvPr/>
        </p:nvSpPr>
        <p:spPr>
          <a:xfrm xmlns:a="http://schemas.openxmlformats.org/drawingml/2006/main">
            <a:off x="952500" y="2476500"/>
            <a:ext cx="2381250" cy="36195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DF17E4-A0BF-48E4-A4B8-08E6AA6F6CD7}"/>
              </a:ext>
            </a:extLst>
          </p:cNvPr>
          <p:cNvSpPr>
            <a:spLocks xmlns:a="http://schemas.openxmlformats.org/drawingml/2006/main" noGrp="1"/>
          </p:cNvSpPr>
          <p:nvPr/>
        </p:nvSpPr>
        <p:spPr>
          <a:xfrm xmlns:a="http://schemas.openxmlformats.org/drawingml/2006/main">
            <a:off x="1104900" y="25622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AI champion</a:t>
            </a:r>
          </a:p>
        </p:txBody>
      </p:sp>
      <p:sp>
        <p:nvSpPr>
          <p:cNvPr id="11" name="">
            <a:extLst xmlns:a="http://schemas.openxmlformats.org/drawingml/2006/main">
              <a:ext uri="{FF2B5EF4-FFF2-40B4-BE49-F238E27FC236}">
                <a16:creationId xmlns:a16="http://schemas.microsoft.com/office/drawing/2014/main" id="{6C6610E1-1E0F-403D-8C31-CA8CDFBA1A7C}"/>
              </a:ext>
            </a:extLst>
          </p:cNvPr>
          <p:cNvSpPr>
            <a:spLocks xmlns:a="http://schemas.openxmlformats.org/drawingml/2006/main" noGrp="1"/>
          </p:cNvSpPr>
          <p:nvPr/>
        </p:nvSpPr>
        <p:spPr>
          <a:xfrm xmlns:a="http://schemas.openxmlformats.org/drawingml/2006/main">
            <a:off x="3524250" y="2476500"/>
            <a:ext cx="6953250" cy="3619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2" name="">
            <a:extLst xmlns:a="http://schemas.openxmlformats.org/drawingml/2006/main">
              <a:ext uri="{FF2B5EF4-FFF2-40B4-BE49-F238E27FC236}">
                <a16:creationId xmlns:a16="http://schemas.microsoft.com/office/drawing/2014/main" id="{AA503F13-C10C-4ED3-9AD1-C0A731FF586C}"/>
              </a:ext>
            </a:extLst>
          </p:cNvPr>
          <p:cNvSpPr>
            <a:spLocks xmlns:a="http://schemas.openxmlformats.org/drawingml/2006/main" noGrp="1"/>
          </p:cNvSpPr>
          <p:nvPr/>
        </p:nvSpPr>
        <p:spPr>
          <a:xfrm xmlns:a="http://schemas.openxmlformats.org/drawingml/2006/main">
            <a:off x="3714750" y="25622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Owns pilot narrative, roadmap, and cross-functional momentum</a:t>
            </a:r>
          </a:p>
        </p:txBody>
      </p:sp>
      <p:sp>
        <p:nvSpPr>
          <p:cNvPr id="13" name="">
            <a:extLst xmlns:a="http://schemas.openxmlformats.org/drawingml/2006/main">
              <a:ext uri="{FF2B5EF4-FFF2-40B4-BE49-F238E27FC236}">
                <a16:creationId xmlns:a16="http://schemas.microsoft.com/office/drawing/2014/main" id="{D1EEA2C7-4221-4B90-80FB-39E8A33D2086}"/>
              </a:ext>
            </a:extLst>
          </p:cNvPr>
          <p:cNvSpPr>
            <a:spLocks xmlns:a="http://schemas.openxmlformats.org/drawingml/2006/main" noGrp="1"/>
          </p:cNvSpPr>
          <p:nvPr/>
        </p:nvSpPr>
        <p:spPr>
          <a:xfrm xmlns:a="http://schemas.openxmlformats.org/drawingml/2006/main">
            <a:off x="952500" y="29527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0DCAB4-B94F-4F01-93E0-9A1BCEE7B99B}"/>
              </a:ext>
            </a:extLst>
          </p:cNvPr>
          <p:cNvSpPr>
            <a:spLocks xmlns:a="http://schemas.openxmlformats.org/drawingml/2006/main" noGrp="1"/>
          </p:cNvSpPr>
          <p:nvPr/>
        </p:nvSpPr>
        <p:spPr>
          <a:xfrm xmlns:a="http://schemas.openxmlformats.org/drawingml/2006/main">
            <a:off x="1104900" y="30384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IT owner</a:t>
            </a:r>
          </a:p>
        </p:txBody>
      </p:sp>
      <p:sp>
        <p:nvSpPr>
          <p:cNvPr id="15" name="">
            <a:extLst xmlns:a="http://schemas.openxmlformats.org/drawingml/2006/main">
              <a:ext uri="{FF2B5EF4-FFF2-40B4-BE49-F238E27FC236}">
                <a16:creationId xmlns:a16="http://schemas.microsoft.com/office/drawing/2014/main" id="{167B80C0-8840-42E5-9636-53BC7FAC5F52}"/>
              </a:ext>
            </a:extLst>
          </p:cNvPr>
          <p:cNvSpPr>
            <a:spLocks xmlns:a="http://schemas.openxmlformats.org/drawingml/2006/main" noGrp="1"/>
          </p:cNvSpPr>
          <p:nvPr/>
        </p:nvSpPr>
        <p:spPr>
          <a:xfrm xmlns:a="http://schemas.openxmlformats.org/drawingml/2006/main">
            <a:off x="3524250" y="29527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D9F72441-BC64-43CA-BA5A-F08530194B0B}"/>
              </a:ext>
            </a:extLst>
          </p:cNvPr>
          <p:cNvSpPr>
            <a:spLocks xmlns:a="http://schemas.openxmlformats.org/drawingml/2006/main" noGrp="1"/>
          </p:cNvSpPr>
          <p:nvPr/>
        </p:nvSpPr>
        <p:spPr>
          <a:xfrm xmlns:a="http://schemas.openxmlformats.org/drawingml/2006/main">
            <a:off x="3714750" y="30384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Secures data access and architecture</a:t>
            </a:r>
          </a:p>
        </p:txBody>
      </p:sp>
      <p:sp>
        <p:nvSpPr>
          <p:cNvPr id="17" name="">
            <a:extLst xmlns:a="http://schemas.openxmlformats.org/drawingml/2006/main">
              <a:ext uri="{FF2B5EF4-FFF2-40B4-BE49-F238E27FC236}">
                <a16:creationId xmlns:a16="http://schemas.microsoft.com/office/drawing/2014/main" id="{29833BCF-FE5D-435F-97DD-D716C076D03E}"/>
              </a:ext>
            </a:extLst>
          </p:cNvPr>
          <p:cNvSpPr>
            <a:spLocks xmlns:a="http://schemas.openxmlformats.org/drawingml/2006/main" noGrp="1"/>
          </p:cNvSpPr>
          <p:nvPr/>
        </p:nvSpPr>
        <p:spPr>
          <a:xfrm xmlns:a="http://schemas.openxmlformats.org/drawingml/2006/main">
            <a:off x="952500" y="342900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E85ADA-39BB-4A99-AC9A-DAF2E7DF892B}"/>
              </a:ext>
            </a:extLst>
          </p:cNvPr>
          <p:cNvSpPr>
            <a:spLocks xmlns:a="http://schemas.openxmlformats.org/drawingml/2006/main" noGrp="1"/>
          </p:cNvSpPr>
          <p:nvPr/>
        </p:nvSpPr>
        <p:spPr>
          <a:xfrm xmlns:a="http://schemas.openxmlformats.org/drawingml/2006/main">
            <a:off x="1104900" y="35147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Quality owner</a:t>
            </a:r>
          </a:p>
        </p:txBody>
      </p:sp>
      <p:sp>
        <p:nvSpPr>
          <p:cNvPr id="19" name="">
            <a:extLst xmlns:a="http://schemas.openxmlformats.org/drawingml/2006/main">
              <a:ext uri="{FF2B5EF4-FFF2-40B4-BE49-F238E27FC236}">
                <a16:creationId xmlns:a16="http://schemas.microsoft.com/office/drawing/2014/main" id="{C0FC5322-A6A0-4337-B706-88B33742289F}"/>
              </a:ext>
            </a:extLst>
          </p:cNvPr>
          <p:cNvSpPr>
            <a:spLocks xmlns:a="http://schemas.openxmlformats.org/drawingml/2006/main" noGrp="1"/>
          </p:cNvSpPr>
          <p:nvPr/>
        </p:nvSpPr>
        <p:spPr>
          <a:xfrm xmlns:a="http://schemas.openxmlformats.org/drawingml/2006/main">
            <a:off x="3524250" y="342900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BAB6FA6F-9F2C-440D-B638-B61B3D57BE95}"/>
              </a:ext>
            </a:extLst>
          </p:cNvPr>
          <p:cNvSpPr>
            <a:spLocks xmlns:a="http://schemas.openxmlformats.org/drawingml/2006/main" noGrp="1"/>
          </p:cNvSpPr>
          <p:nvPr/>
        </p:nvSpPr>
        <p:spPr>
          <a:xfrm xmlns:a="http://schemas.openxmlformats.org/drawingml/2006/main">
            <a:off x="3714750" y="35147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Defines defects, release, CAPA, and validation</a:t>
            </a:r>
          </a:p>
        </p:txBody>
      </p:sp>
      <p:sp>
        <p:nvSpPr>
          <p:cNvPr id="21" name="">
            <a:extLst xmlns:a="http://schemas.openxmlformats.org/drawingml/2006/main">
              <a:ext uri="{FF2B5EF4-FFF2-40B4-BE49-F238E27FC236}">
                <a16:creationId xmlns:a16="http://schemas.microsoft.com/office/drawing/2014/main" id="{E204B4D0-174C-449C-ACE5-8492EF2F1621}"/>
              </a:ext>
            </a:extLst>
          </p:cNvPr>
          <p:cNvSpPr>
            <a:spLocks xmlns:a="http://schemas.openxmlformats.org/drawingml/2006/main" noGrp="1"/>
          </p:cNvSpPr>
          <p:nvPr/>
        </p:nvSpPr>
        <p:spPr>
          <a:xfrm xmlns:a="http://schemas.openxmlformats.org/drawingml/2006/main">
            <a:off x="952500" y="39052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BB063E-0704-4BB5-AEE1-570E1075A60E}"/>
              </a:ext>
            </a:extLst>
          </p:cNvPr>
          <p:cNvSpPr>
            <a:spLocks xmlns:a="http://schemas.openxmlformats.org/drawingml/2006/main" noGrp="1"/>
          </p:cNvSpPr>
          <p:nvPr/>
        </p:nvSpPr>
        <p:spPr>
          <a:xfrm xmlns:a="http://schemas.openxmlformats.org/drawingml/2006/main">
            <a:off x="1104900" y="39909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Production owner</a:t>
            </a:r>
          </a:p>
        </p:txBody>
      </p:sp>
      <p:sp>
        <p:nvSpPr>
          <p:cNvPr id="23" name="">
            <a:extLst xmlns:a="http://schemas.openxmlformats.org/drawingml/2006/main">
              <a:ext uri="{FF2B5EF4-FFF2-40B4-BE49-F238E27FC236}">
                <a16:creationId xmlns:a16="http://schemas.microsoft.com/office/drawing/2014/main" id="{E146618C-859B-415C-9D6C-41DF6C68B86B}"/>
              </a:ext>
            </a:extLst>
          </p:cNvPr>
          <p:cNvSpPr>
            <a:spLocks xmlns:a="http://schemas.openxmlformats.org/drawingml/2006/main" noGrp="1"/>
          </p:cNvSpPr>
          <p:nvPr/>
        </p:nvSpPr>
        <p:spPr>
          <a:xfrm xmlns:a="http://schemas.openxmlformats.org/drawingml/2006/main">
            <a:off x="3524250" y="39052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808A2748-5B16-4FE9-B769-E6A4F0077B31}"/>
              </a:ext>
            </a:extLst>
          </p:cNvPr>
          <p:cNvSpPr>
            <a:spLocks xmlns:a="http://schemas.openxmlformats.org/drawingml/2006/main" noGrp="1"/>
          </p:cNvSpPr>
          <p:nvPr/>
        </p:nvSpPr>
        <p:spPr>
          <a:xfrm xmlns:a="http://schemas.openxmlformats.org/drawingml/2006/main">
            <a:off x="3714750" y="39909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Defines process reality and operator adoption</a:t>
            </a:r>
          </a:p>
        </p:txBody>
      </p:sp>
      <p:sp>
        <p:nvSpPr>
          <p:cNvPr id="25" name="">
            <a:extLst xmlns:a="http://schemas.openxmlformats.org/drawingml/2006/main">
              <a:ext uri="{FF2B5EF4-FFF2-40B4-BE49-F238E27FC236}">
                <a16:creationId xmlns:a16="http://schemas.microsoft.com/office/drawing/2014/main" id="{DE10F32D-9C35-49B6-89D0-C60447D2A303}"/>
              </a:ext>
            </a:extLst>
          </p:cNvPr>
          <p:cNvSpPr>
            <a:spLocks xmlns:a="http://schemas.openxmlformats.org/drawingml/2006/main" noGrp="1"/>
          </p:cNvSpPr>
          <p:nvPr/>
        </p:nvSpPr>
        <p:spPr>
          <a:xfrm xmlns:a="http://schemas.openxmlformats.org/drawingml/2006/main">
            <a:off x="952500" y="438150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BE60F04-10EC-470A-9EAB-6F22956DDBB1}"/>
              </a:ext>
            </a:extLst>
          </p:cNvPr>
          <p:cNvSpPr>
            <a:spLocks xmlns:a="http://schemas.openxmlformats.org/drawingml/2006/main" noGrp="1"/>
          </p:cNvSpPr>
          <p:nvPr/>
        </p:nvSpPr>
        <p:spPr>
          <a:xfrm xmlns:a="http://schemas.openxmlformats.org/drawingml/2006/main">
            <a:off x="1104900" y="44672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R&amp;D owner</a:t>
            </a:r>
          </a:p>
        </p:txBody>
      </p:sp>
      <p:sp>
        <p:nvSpPr>
          <p:cNvPr id="27" name="">
            <a:extLst xmlns:a="http://schemas.openxmlformats.org/drawingml/2006/main">
              <a:ext uri="{FF2B5EF4-FFF2-40B4-BE49-F238E27FC236}">
                <a16:creationId xmlns:a16="http://schemas.microsoft.com/office/drawing/2014/main" id="{1C55D37C-B9B3-493B-A51B-0BBA8C87DB81}"/>
              </a:ext>
            </a:extLst>
          </p:cNvPr>
          <p:cNvSpPr>
            <a:spLocks xmlns:a="http://schemas.openxmlformats.org/drawingml/2006/main" noGrp="1"/>
          </p:cNvSpPr>
          <p:nvPr/>
        </p:nvSpPr>
        <p:spPr>
          <a:xfrm xmlns:a="http://schemas.openxmlformats.org/drawingml/2006/main">
            <a:off x="3524250" y="438150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9C85B603-BE08-4A1C-B1FD-D395C7C511EB}"/>
              </a:ext>
            </a:extLst>
          </p:cNvPr>
          <p:cNvSpPr>
            <a:spLocks xmlns:a="http://schemas.openxmlformats.org/drawingml/2006/main" noGrp="1"/>
          </p:cNvSpPr>
          <p:nvPr/>
        </p:nvSpPr>
        <p:spPr>
          <a:xfrm xmlns:a="http://schemas.openxmlformats.org/drawingml/2006/main">
            <a:off x="3714750" y="44672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Connects experiment knowledge and formulation learning</a:t>
            </a:r>
          </a:p>
        </p:txBody>
      </p:sp>
      <p:sp>
        <p:nvSpPr>
          <p:cNvPr id="29" name="">
            <a:extLst xmlns:a="http://schemas.openxmlformats.org/drawingml/2006/main">
              <a:ext uri="{FF2B5EF4-FFF2-40B4-BE49-F238E27FC236}">
                <a16:creationId xmlns:a16="http://schemas.microsoft.com/office/drawing/2014/main" id="{FE9C2E01-41B0-4484-8516-6F2036FBAF82}"/>
              </a:ext>
            </a:extLst>
          </p:cNvPr>
          <p:cNvSpPr>
            <a:spLocks xmlns:a="http://schemas.openxmlformats.org/drawingml/2006/main" noGrp="1"/>
          </p:cNvSpPr>
          <p:nvPr/>
        </p:nvSpPr>
        <p:spPr>
          <a:xfrm xmlns:a="http://schemas.openxmlformats.org/drawingml/2006/main">
            <a:off x="952500" y="48577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754C4B6-76C0-40FC-970B-ECB30E67843C}"/>
              </a:ext>
            </a:extLst>
          </p:cNvPr>
          <p:cNvSpPr>
            <a:spLocks xmlns:a="http://schemas.openxmlformats.org/drawingml/2006/main" noGrp="1"/>
          </p:cNvSpPr>
          <p:nvPr/>
        </p:nvSpPr>
        <p:spPr>
          <a:xfrm xmlns:a="http://schemas.openxmlformats.org/drawingml/2006/main">
            <a:off x="1104900" y="49434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Finance owner</a:t>
            </a:r>
          </a:p>
        </p:txBody>
      </p:sp>
      <p:sp>
        <p:nvSpPr>
          <p:cNvPr id="31" name="">
            <a:extLst xmlns:a="http://schemas.openxmlformats.org/drawingml/2006/main">
              <a:ext uri="{FF2B5EF4-FFF2-40B4-BE49-F238E27FC236}">
                <a16:creationId xmlns:a16="http://schemas.microsoft.com/office/drawing/2014/main" id="{0BBA0C17-B529-49A0-B48E-F0A4C904E458}"/>
              </a:ext>
            </a:extLst>
          </p:cNvPr>
          <p:cNvSpPr>
            <a:spLocks xmlns:a="http://schemas.openxmlformats.org/drawingml/2006/main" noGrp="1"/>
          </p:cNvSpPr>
          <p:nvPr/>
        </p:nvSpPr>
        <p:spPr>
          <a:xfrm xmlns:a="http://schemas.openxmlformats.org/drawingml/2006/main">
            <a:off x="3524250" y="48577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60851C22-15FB-493C-B760-425BFC2FA684}"/>
              </a:ext>
            </a:extLst>
          </p:cNvPr>
          <p:cNvSpPr>
            <a:spLocks xmlns:a="http://schemas.openxmlformats.org/drawingml/2006/main" noGrp="1"/>
          </p:cNvSpPr>
          <p:nvPr/>
        </p:nvSpPr>
        <p:spPr>
          <a:xfrm xmlns:a="http://schemas.openxmlformats.org/drawingml/2006/main">
            <a:off x="3714750" y="49434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defRPr>
            </a:pPr>
            <a:r>
              <a:rPr sz="1050" b="0">
                <a:solidFill>
                  <a:srgbClr val="111111"/>
                </a:solidFill>
              </a:rPr>
              <a:t>Validates baseline and ROI</a:t>
            </a:r>
          </a:p>
        </p:txBody>
      </p:sp>
      <p:sp>
        <p:nvSpPr>
          <p:cNvPr id="33" name="">
            <a:extLst xmlns:a="http://schemas.openxmlformats.org/drawingml/2006/main">
              <a:ext uri="{FF2B5EF4-FFF2-40B4-BE49-F238E27FC236}">
                <a16:creationId xmlns:a16="http://schemas.microsoft.com/office/drawing/2014/main" id="{D02C5696-EB77-4335-9434-2AB5301B1F7D}"/>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4" name="">
            <a:extLst xmlns:a="http://schemas.openxmlformats.org/drawingml/2006/main">
              <a:ext uri="{FF2B5EF4-FFF2-40B4-BE49-F238E27FC236}">
                <a16:creationId xmlns:a16="http://schemas.microsoft.com/office/drawing/2014/main" id="{7309E3EE-DF2F-4FEB-A59B-216834462BAE}"/>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19</a:t>
            </a:r>
          </a:p>
        </p:txBody>
      </p:sp>
    </p:spTree>
    <p:extLst>
      <p:ext uri="{BB962C8B-B14F-4D97-AF65-F5344CB8AC3E}">
        <p14:creationId xmlns:p14="http://schemas.microsoft.com/office/powerpoint/2010/main" val="117177231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1C2F24-E0EB-422A-A1D8-3AB87B3B0CF3}"/>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IMPLEMENTATION</a:t>
            </a:r>
          </a:p>
        </p:txBody>
      </p:sp>
      <p:sp>
        <p:nvSpPr>
          <p:cNvPr id="2" name="">
            <a:extLst xmlns:a="http://schemas.openxmlformats.org/drawingml/2006/main">
              <a:ext uri="{FF2B5EF4-FFF2-40B4-BE49-F238E27FC236}">
                <a16:creationId xmlns:a16="http://schemas.microsoft.com/office/drawing/2014/main" id="{9CA804BC-0EE9-4E0E-A1DE-AE2D31B3D8CB}"/>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The next 30 days create the pilot charter</a:t>
            </a:r>
          </a:p>
        </p:txBody>
      </p:sp>
      <p:sp>
        <p:nvSpPr>
          <p:cNvPr id="3" name="">
            <a:extLst xmlns:a="http://schemas.openxmlformats.org/drawingml/2006/main">
              <a:ext uri="{FF2B5EF4-FFF2-40B4-BE49-F238E27FC236}">
                <a16:creationId xmlns:a16="http://schemas.microsoft.com/office/drawing/2014/main" id="{3F88F07C-FB01-44AE-B9CE-12EB613575AE}"/>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Fast discovery prevents months of abstract debate.</a:t>
            </a:r>
          </a:p>
        </p:txBody>
      </p:sp>
      <p:sp>
        <p:nvSpPr>
          <p:cNvPr id="4" name="">
            <a:extLst xmlns:a="http://schemas.openxmlformats.org/drawingml/2006/main">
              <a:ext uri="{FF2B5EF4-FFF2-40B4-BE49-F238E27FC236}">
                <a16:creationId xmlns:a16="http://schemas.microsoft.com/office/drawing/2014/main" id="{B4E08451-C2B5-4E06-A359-8881DA01531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0E4F0A28-7036-491B-9725-84BE34CB607A}"/>
              </a:ext>
            </a:extLst>
          </p:cNvPr>
          <p:cNvSpPr>
            <a:spLocks xmlns:a="http://schemas.openxmlformats.org/drawingml/2006/main" noGrp="1"/>
          </p:cNvSpPr>
          <p:nvPr/>
        </p:nvSpPr>
        <p:spPr>
          <a:xfrm xmlns:a="http://schemas.openxmlformats.org/drawingml/2006/main">
            <a:off x="742950" y="2266950"/>
            <a:ext cx="1952625" cy="2095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6" name="">
            <a:extLst xmlns:a="http://schemas.openxmlformats.org/drawingml/2006/main">
              <a:ext uri="{FF2B5EF4-FFF2-40B4-BE49-F238E27FC236}">
                <a16:creationId xmlns:a16="http://schemas.microsoft.com/office/drawing/2014/main" id="{29C0E55C-03F6-4113-8F2F-64BE7814BD25}"/>
              </a:ext>
            </a:extLst>
          </p:cNvPr>
          <p:cNvSpPr>
            <a:spLocks xmlns:a="http://schemas.openxmlformats.org/drawingml/2006/main" noGrp="1"/>
          </p:cNvSpPr>
          <p:nvPr/>
        </p:nvSpPr>
        <p:spPr>
          <a:xfrm xmlns:a="http://schemas.openxmlformats.org/drawingml/2006/main">
            <a:off x="91440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9200"/>
                </a:solidFill>
              </a:defRPr>
            </a:pPr>
            <a:r>
              <a:rPr sz="1650" b="1">
                <a:solidFill>
                  <a:srgbClr val="F39200"/>
                </a:solidFill>
              </a:rPr>
              <a:t>Week 1</a:t>
            </a:r>
          </a:p>
        </p:txBody>
      </p:sp>
      <p:sp>
        <p:nvSpPr>
          <p:cNvPr id="7" name="">
            <a:extLst xmlns:a="http://schemas.openxmlformats.org/drawingml/2006/main">
              <a:ext uri="{FF2B5EF4-FFF2-40B4-BE49-F238E27FC236}">
                <a16:creationId xmlns:a16="http://schemas.microsoft.com/office/drawing/2014/main" id="{6A0AAD74-8569-4AE5-A8F1-1F2C9EA61F29}"/>
              </a:ext>
            </a:extLst>
          </p:cNvPr>
          <p:cNvSpPr>
            <a:spLocks xmlns:a="http://schemas.openxmlformats.org/drawingml/2006/main" noGrp="1"/>
          </p:cNvSpPr>
          <p:nvPr/>
        </p:nvSpPr>
        <p:spPr>
          <a:xfrm xmlns:a="http://schemas.openxmlformats.org/drawingml/2006/main">
            <a:off x="91440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Sponsor, owners, pilot family, access rules</a:t>
            </a:r>
          </a:p>
        </p:txBody>
      </p:sp>
      <p:sp>
        <p:nvSpPr>
          <p:cNvPr id="8" name="">
            <a:extLst xmlns:a="http://schemas.openxmlformats.org/drawingml/2006/main">
              <a:ext uri="{FF2B5EF4-FFF2-40B4-BE49-F238E27FC236}">
                <a16:creationId xmlns:a16="http://schemas.microsoft.com/office/drawing/2014/main" id="{E14384FB-BA66-4CA4-9640-06B74A9C3636}"/>
              </a:ext>
            </a:extLst>
          </p:cNvPr>
          <p:cNvSpPr>
            <a:spLocks xmlns:a="http://schemas.openxmlformats.org/drawingml/2006/main" noGrp="1"/>
          </p:cNvSpPr>
          <p:nvPr/>
        </p:nvSpPr>
        <p:spPr>
          <a:xfrm xmlns:a="http://schemas.openxmlformats.org/drawingml/2006/main">
            <a:off x="2886075"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4AC32CE0-0016-45F0-843A-B1693794F380}"/>
              </a:ext>
            </a:extLst>
          </p:cNvPr>
          <p:cNvSpPr>
            <a:spLocks xmlns:a="http://schemas.openxmlformats.org/drawingml/2006/main" noGrp="1"/>
          </p:cNvSpPr>
          <p:nvPr/>
        </p:nvSpPr>
        <p:spPr>
          <a:xfrm xmlns:a="http://schemas.openxmlformats.org/drawingml/2006/main">
            <a:off x="3057525"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Week 2</a:t>
            </a:r>
          </a:p>
        </p:txBody>
      </p:sp>
      <p:sp>
        <p:nvSpPr>
          <p:cNvPr id="10" name="">
            <a:extLst xmlns:a="http://schemas.openxmlformats.org/drawingml/2006/main">
              <a:ext uri="{FF2B5EF4-FFF2-40B4-BE49-F238E27FC236}">
                <a16:creationId xmlns:a16="http://schemas.microsoft.com/office/drawing/2014/main" id="{C8B7AB62-6C8B-4172-852B-4485AE8469ED}"/>
              </a:ext>
            </a:extLst>
          </p:cNvPr>
          <p:cNvSpPr>
            <a:spLocks xmlns:a="http://schemas.openxmlformats.org/drawingml/2006/main" noGrp="1"/>
          </p:cNvSpPr>
          <p:nvPr/>
        </p:nvSpPr>
        <p:spPr>
          <a:xfrm xmlns:a="http://schemas.openxmlformats.org/drawingml/2006/main">
            <a:off x="3057525"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Data inventory, exports, quality baseline design</a:t>
            </a:r>
          </a:p>
        </p:txBody>
      </p:sp>
      <p:sp>
        <p:nvSpPr>
          <p:cNvPr id="11" name="">
            <a:extLst xmlns:a="http://schemas.openxmlformats.org/drawingml/2006/main">
              <a:ext uri="{FF2B5EF4-FFF2-40B4-BE49-F238E27FC236}">
                <a16:creationId xmlns:a16="http://schemas.microsoft.com/office/drawing/2014/main" id="{3B726D8E-226C-4B79-BB18-F88690CA8884}"/>
              </a:ext>
            </a:extLst>
          </p:cNvPr>
          <p:cNvSpPr>
            <a:spLocks xmlns:a="http://schemas.openxmlformats.org/drawingml/2006/main" noGrp="1"/>
          </p:cNvSpPr>
          <p:nvPr/>
        </p:nvSpPr>
        <p:spPr>
          <a:xfrm xmlns:a="http://schemas.openxmlformats.org/drawingml/2006/main">
            <a:off x="5029200"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190A3F4B-7AB8-4575-93C3-0B75DF89FCE1}"/>
              </a:ext>
            </a:extLst>
          </p:cNvPr>
          <p:cNvSpPr>
            <a:spLocks xmlns:a="http://schemas.openxmlformats.org/drawingml/2006/main" noGrp="1"/>
          </p:cNvSpPr>
          <p:nvPr/>
        </p:nvSpPr>
        <p:spPr>
          <a:xfrm xmlns:a="http://schemas.openxmlformats.org/drawingml/2006/main">
            <a:off x="520065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Weeks 3-5</a:t>
            </a:r>
          </a:p>
        </p:txBody>
      </p:sp>
      <p:sp>
        <p:nvSpPr>
          <p:cNvPr id="13" name="">
            <a:extLst xmlns:a="http://schemas.openxmlformats.org/drawingml/2006/main">
              <a:ext uri="{FF2B5EF4-FFF2-40B4-BE49-F238E27FC236}">
                <a16:creationId xmlns:a16="http://schemas.microsoft.com/office/drawing/2014/main" id="{9990948A-6052-4C05-8867-1763DD30E9E3}"/>
              </a:ext>
            </a:extLst>
          </p:cNvPr>
          <p:cNvSpPr>
            <a:spLocks xmlns:a="http://schemas.openxmlformats.org/drawingml/2006/main" noGrp="1"/>
          </p:cNvSpPr>
          <p:nvPr/>
        </p:nvSpPr>
        <p:spPr>
          <a:xfrm xmlns:a="http://schemas.openxmlformats.org/drawingml/2006/main">
            <a:off x="520065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Roll linkage, defect taxonomy, first dashboard</a:t>
            </a:r>
          </a:p>
        </p:txBody>
      </p:sp>
      <p:sp>
        <p:nvSpPr>
          <p:cNvPr id="14" name="">
            <a:extLst xmlns:a="http://schemas.openxmlformats.org/drawingml/2006/main">
              <a:ext uri="{FF2B5EF4-FFF2-40B4-BE49-F238E27FC236}">
                <a16:creationId xmlns:a16="http://schemas.microsoft.com/office/drawing/2014/main" id="{01899AB3-FF9A-4F3D-AF34-B1BFECEAF9F1}"/>
              </a:ext>
            </a:extLst>
          </p:cNvPr>
          <p:cNvSpPr>
            <a:spLocks xmlns:a="http://schemas.openxmlformats.org/drawingml/2006/main" noGrp="1"/>
          </p:cNvSpPr>
          <p:nvPr/>
        </p:nvSpPr>
        <p:spPr>
          <a:xfrm xmlns:a="http://schemas.openxmlformats.org/drawingml/2006/main">
            <a:off x="7172325"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F492E856-EC3D-4CCF-8AFA-82697A190004}"/>
              </a:ext>
            </a:extLst>
          </p:cNvPr>
          <p:cNvSpPr>
            <a:spLocks xmlns:a="http://schemas.openxmlformats.org/drawingml/2006/main" noGrp="1"/>
          </p:cNvSpPr>
          <p:nvPr/>
        </p:nvSpPr>
        <p:spPr>
          <a:xfrm xmlns:a="http://schemas.openxmlformats.org/drawingml/2006/main">
            <a:off x="7343775"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Weeks 6-9</a:t>
            </a:r>
          </a:p>
        </p:txBody>
      </p:sp>
      <p:sp>
        <p:nvSpPr>
          <p:cNvPr id="16" name="">
            <a:extLst xmlns:a="http://schemas.openxmlformats.org/drawingml/2006/main">
              <a:ext uri="{FF2B5EF4-FFF2-40B4-BE49-F238E27FC236}">
                <a16:creationId xmlns:a16="http://schemas.microsoft.com/office/drawing/2014/main" id="{48FAD4FF-2C8C-45D1-B81C-BB2E7673FD5D}"/>
              </a:ext>
            </a:extLst>
          </p:cNvPr>
          <p:cNvSpPr>
            <a:spLocks xmlns:a="http://schemas.openxmlformats.org/drawingml/2006/main" noGrp="1"/>
          </p:cNvSpPr>
          <p:nvPr/>
        </p:nvSpPr>
        <p:spPr>
          <a:xfrm xmlns:a="http://schemas.openxmlformats.org/drawingml/2006/main">
            <a:off x="7343775"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Root-cause analytics, expert review, data gaps</a:t>
            </a:r>
          </a:p>
        </p:txBody>
      </p:sp>
      <p:sp>
        <p:nvSpPr>
          <p:cNvPr id="17" name="">
            <a:extLst xmlns:a="http://schemas.openxmlformats.org/drawingml/2006/main">
              <a:ext uri="{FF2B5EF4-FFF2-40B4-BE49-F238E27FC236}">
                <a16:creationId xmlns:a16="http://schemas.microsoft.com/office/drawing/2014/main" id="{FBE150E4-AD95-4E20-A4DA-C955956EEFF6}"/>
              </a:ext>
            </a:extLst>
          </p:cNvPr>
          <p:cNvSpPr>
            <a:spLocks xmlns:a="http://schemas.openxmlformats.org/drawingml/2006/main" noGrp="1"/>
          </p:cNvSpPr>
          <p:nvPr/>
        </p:nvSpPr>
        <p:spPr>
          <a:xfrm xmlns:a="http://schemas.openxmlformats.org/drawingml/2006/main">
            <a:off x="9315450"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530213ED-0CAC-4C37-87E9-56089D3F9122}"/>
              </a:ext>
            </a:extLst>
          </p:cNvPr>
          <p:cNvSpPr>
            <a:spLocks xmlns:a="http://schemas.openxmlformats.org/drawingml/2006/main" noGrp="1"/>
          </p:cNvSpPr>
          <p:nvPr/>
        </p:nvSpPr>
        <p:spPr>
          <a:xfrm xmlns:a="http://schemas.openxmlformats.org/drawingml/2006/main">
            <a:off x="948690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Weeks 10-12</a:t>
            </a:r>
          </a:p>
        </p:txBody>
      </p:sp>
      <p:sp>
        <p:nvSpPr>
          <p:cNvPr id="19" name="">
            <a:extLst xmlns:a="http://schemas.openxmlformats.org/drawingml/2006/main">
              <a:ext uri="{FF2B5EF4-FFF2-40B4-BE49-F238E27FC236}">
                <a16:creationId xmlns:a16="http://schemas.microsoft.com/office/drawing/2014/main" id="{A85285D9-AE39-4C05-B0DE-E2ABF5B89718}"/>
              </a:ext>
            </a:extLst>
          </p:cNvPr>
          <p:cNvSpPr>
            <a:spLocks xmlns:a="http://schemas.openxmlformats.org/drawingml/2006/main" noGrp="1"/>
          </p:cNvSpPr>
          <p:nvPr/>
        </p:nvSpPr>
        <p:spPr>
          <a:xfrm xmlns:a="http://schemas.openxmlformats.org/drawingml/2006/main">
            <a:off x="948690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Management demo, ROI case, scale decision</a:t>
            </a:r>
          </a:p>
        </p:txBody>
      </p:sp>
      <p:sp>
        <p:nvSpPr>
          <p:cNvPr id="20" name="">
            <a:extLst xmlns:a="http://schemas.openxmlformats.org/drawingml/2006/main">
              <a:ext uri="{FF2B5EF4-FFF2-40B4-BE49-F238E27FC236}">
                <a16:creationId xmlns:a16="http://schemas.microsoft.com/office/drawing/2014/main" id="{553E61A0-13CA-47AB-BB2B-F8DF62555EC1}"/>
              </a:ext>
            </a:extLst>
          </p:cNvPr>
          <p:cNvSpPr>
            <a:spLocks xmlns:a="http://schemas.openxmlformats.org/drawingml/2006/main" noGrp="1"/>
          </p:cNvSpPr>
          <p:nvPr/>
        </p:nvSpPr>
        <p:spPr>
          <a:xfrm xmlns:a="http://schemas.openxmlformats.org/drawingml/2006/main">
            <a:off x="1238250" y="50958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11111"/>
                </a:solidFill>
              </a:defRPr>
            </a:pPr>
            <a:r>
              <a:rPr sz="1800" b="1">
                <a:solidFill>
                  <a:srgbClr val="111111"/>
                </a:solidFill>
              </a:rPr>
              <a:t>First meeting outcome: permission to inspect data, not permission to build a platform.</a:t>
            </a:r>
          </a:p>
        </p:txBody>
      </p:sp>
      <p:sp>
        <p:nvSpPr>
          <p:cNvPr id="21" name="">
            <a:extLst xmlns:a="http://schemas.openxmlformats.org/drawingml/2006/main">
              <a:ext uri="{FF2B5EF4-FFF2-40B4-BE49-F238E27FC236}">
                <a16:creationId xmlns:a16="http://schemas.microsoft.com/office/drawing/2014/main" id="{CA2E2230-7551-4B5E-AFEB-AC13FDB038B3}"/>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22" name="">
            <a:extLst xmlns:a="http://schemas.openxmlformats.org/drawingml/2006/main">
              <a:ext uri="{FF2B5EF4-FFF2-40B4-BE49-F238E27FC236}">
                <a16:creationId xmlns:a16="http://schemas.microsoft.com/office/drawing/2014/main" id="{E30A1F59-2567-46BA-9538-75D3FA5F22CD}"/>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20</a:t>
            </a:r>
          </a:p>
        </p:txBody>
      </p:sp>
    </p:spTree>
    <p:extLst>
      <p:ext uri="{BB962C8B-B14F-4D97-AF65-F5344CB8AC3E}">
        <p14:creationId xmlns:p14="http://schemas.microsoft.com/office/powerpoint/2010/main" val="151470127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62FE4B-C135-444E-9E80-46AF8E80C941}"/>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SUCCESS METRICS</a:t>
            </a:r>
          </a:p>
        </p:txBody>
      </p:sp>
      <p:sp>
        <p:nvSpPr>
          <p:cNvPr id="2" name="">
            <a:extLst xmlns:a="http://schemas.openxmlformats.org/drawingml/2006/main">
              <a:ext uri="{FF2B5EF4-FFF2-40B4-BE49-F238E27FC236}">
                <a16:creationId xmlns:a16="http://schemas.microsoft.com/office/drawing/2014/main" id="{AF75B4A9-3203-4104-85A6-8580E97C2846}"/>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Success metrics prevent AI theater</a:t>
            </a:r>
          </a:p>
        </p:txBody>
      </p:sp>
      <p:sp>
        <p:nvSpPr>
          <p:cNvPr id="3" name="">
            <a:extLst xmlns:a="http://schemas.openxmlformats.org/drawingml/2006/main">
              <a:ext uri="{FF2B5EF4-FFF2-40B4-BE49-F238E27FC236}">
                <a16:creationId xmlns:a16="http://schemas.microsoft.com/office/drawing/2014/main" id="{570AD681-A03B-469C-A9F5-5CABBD788C2E}"/>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Every metric should be observable within the pilot scope.</a:t>
            </a:r>
          </a:p>
        </p:txBody>
      </p:sp>
      <p:sp>
        <p:nvSpPr>
          <p:cNvPr id="4" name="">
            <a:extLst xmlns:a="http://schemas.openxmlformats.org/drawingml/2006/main">
              <a:ext uri="{FF2B5EF4-FFF2-40B4-BE49-F238E27FC236}">
                <a16:creationId xmlns:a16="http://schemas.microsoft.com/office/drawing/2014/main" id="{B852B6AE-7765-4A9A-A452-DCFC37EC64A8}"/>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31B74CB4-565C-4176-89E8-A9869F869321}"/>
              </a:ext>
            </a:extLst>
          </p:cNvPr>
          <p:cNvSpPr>
            <a:spLocks xmlns:a="http://schemas.openxmlformats.org/drawingml/2006/main" noGrp="1"/>
          </p:cNvSpPr>
          <p:nvPr/>
        </p:nvSpPr>
        <p:spPr>
          <a:xfrm xmlns:a="http://schemas.openxmlformats.org/drawingml/2006/main">
            <a:off x="876300" y="2047875"/>
            <a:ext cx="23812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6760D5D9-0A3B-43CE-AFCD-74870A8A6760}"/>
              </a:ext>
            </a:extLst>
          </p:cNvPr>
          <p:cNvSpPr>
            <a:spLocks xmlns:a="http://schemas.openxmlformats.org/drawingml/2006/main" noGrp="1"/>
          </p:cNvSpPr>
          <p:nvPr/>
        </p:nvSpPr>
        <p:spPr>
          <a:xfrm xmlns:a="http://schemas.openxmlformats.org/drawingml/2006/main">
            <a:off x="971550" y="21240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Metric</a:t>
            </a:r>
          </a:p>
        </p:txBody>
      </p:sp>
      <p:sp>
        <p:nvSpPr>
          <p:cNvPr id="7" name="">
            <a:extLst xmlns:a="http://schemas.openxmlformats.org/drawingml/2006/main">
              <a:ext uri="{FF2B5EF4-FFF2-40B4-BE49-F238E27FC236}">
                <a16:creationId xmlns:a16="http://schemas.microsoft.com/office/drawing/2014/main" id="{5DF56AE3-EFC9-41A8-8BEC-0DF316EC75E3}"/>
              </a:ext>
            </a:extLst>
          </p:cNvPr>
          <p:cNvSpPr>
            <a:spLocks xmlns:a="http://schemas.openxmlformats.org/drawingml/2006/main" noGrp="1"/>
          </p:cNvSpPr>
          <p:nvPr/>
        </p:nvSpPr>
        <p:spPr>
          <a:xfrm xmlns:a="http://schemas.openxmlformats.org/drawingml/2006/main">
            <a:off x="3257550" y="2047875"/>
            <a:ext cx="7239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2E369004-BAC0-4496-AAA1-682CCD77A132}"/>
              </a:ext>
            </a:extLst>
          </p:cNvPr>
          <p:cNvSpPr>
            <a:spLocks xmlns:a="http://schemas.openxmlformats.org/drawingml/2006/main" noGrp="1"/>
          </p:cNvSpPr>
          <p:nvPr/>
        </p:nvSpPr>
        <p:spPr>
          <a:xfrm xmlns:a="http://schemas.openxmlformats.org/drawingml/2006/main">
            <a:off x="3352800" y="21240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Pilot target</a:t>
            </a:r>
          </a:p>
        </p:txBody>
      </p:sp>
      <p:sp>
        <p:nvSpPr>
          <p:cNvPr id="9" name="">
            <a:extLst xmlns:a="http://schemas.openxmlformats.org/drawingml/2006/main">
              <a:ext uri="{FF2B5EF4-FFF2-40B4-BE49-F238E27FC236}">
                <a16:creationId xmlns:a16="http://schemas.microsoft.com/office/drawing/2014/main" id="{8E32FB90-4A28-4417-B4B2-8B4E23AC24C2}"/>
              </a:ext>
            </a:extLst>
          </p:cNvPr>
          <p:cNvSpPr>
            <a:spLocks xmlns:a="http://schemas.openxmlformats.org/drawingml/2006/main" noGrp="1"/>
          </p:cNvSpPr>
          <p:nvPr/>
        </p:nvSpPr>
        <p:spPr>
          <a:xfrm xmlns:a="http://schemas.openxmlformats.org/drawingml/2006/main">
            <a:off x="876300" y="25431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2FF5A315-3C93-40A2-868B-0A29CB2367DD}"/>
              </a:ext>
            </a:extLst>
          </p:cNvPr>
          <p:cNvSpPr>
            <a:spLocks xmlns:a="http://schemas.openxmlformats.org/drawingml/2006/main" noGrp="1"/>
          </p:cNvSpPr>
          <p:nvPr/>
        </p:nvSpPr>
        <p:spPr>
          <a:xfrm xmlns:a="http://schemas.openxmlformats.org/drawingml/2006/main">
            <a:off x="971550" y="26193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Data linkage</a:t>
            </a:r>
          </a:p>
        </p:txBody>
      </p:sp>
      <p:sp>
        <p:nvSpPr>
          <p:cNvPr id="11" name="">
            <a:extLst xmlns:a="http://schemas.openxmlformats.org/drawingml/2006/main">
              <a:ext uri="{FF2B5EF4-FFF2-40B4-BE49-F238E27FC236}">
                <a16:creationId xmlns:a16="http://schemas.microsoft.com/office/drawing/2014/main" id="{17E8F0DC-F4A9-4D46-A37B-7CD2738FF930}"/>
              </a:ext>
            </a:extLst>
          </p:cNvPr>
          <p:cNvSpPr>
            <a:spLocks xmlns:a="http://schemas.openxmlformats.org/drawingml/2006/main" noGrp="1"/>
          </p:cNvSpPr>
          <p:nvPr/>
        </p:nvSpPr>
        <p:spPr>
          <a:xfrm xmlns:a="http://schemas.openxmlformats.org/drawingml/2006/main">
            <a:off x="3257550" y="25431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7BEAEE0F-DFD9-4B6E-8439-046DCCAAB0FA}"/>
              </a:ext>
            </a:extLst>
          </p:cNvPr>
          <p:cNvSpPr>
            <a:spLocks xmlns:a="http://schemas.openxmlformats.org/drawingml/2006/main" noGrp="1"/>
          </p:cNvSpPr>
          <p:nvPr/>
        </p:nvSpPr>
        <p:spPr>
          <a:xfrm xmlns:a="http://schemas.openxmlformats.org/drawingml/2006/main">
            <a:off x="3352800" y="26193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Target rolls linked across order, inspection, QC/lab, and process evidence</a:t>
            </a:r>
          </a:p>
        </p:txBody>
      </p:sp>
      <p:sp>
        <p:nvSpPr>
          <p:cNvPr id="13" name="">
            <a:extLst xmlns:a="http://schemas.openxmlformats.org/drawingml/2006/main">
              <a:ext uri="{FF2B5EF4-FFF2-40B4-BE49-F238E27FC236}">
                <a16:creationId xmlns:a16="http://schemas.microsoft.com/office/drawing/2014/main" id="{BD874D28-09EA-4F3D-BC2C-2C6086F4AEE5}"/>
              </a:ext>
            </a:extLst>
          </p:cNvPr>
          <p:cNvSpPr>
            <a:spLocks xmlns:a="http://schemas.openxmlformats.org/drawingml/2006/main" noGrp="1"/>
          </p:cNvSpPr>
          <p:nvPr/>
        </p:nvSpPr>
        <p:spPr>
          <a:xfrm xmlns:a="http://schemas.openxmlformats.org/drawingml/2006/main">
            <a:off x="876300" y="30384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22637AC7-06D0-4069-943A-DB7D7D57A51A}"/>
              </a:ext>
            </a:extLst>
          </p:cNvPr>
          <p:cNvSpPr>
            <a:spLocks xmlns:a="http://schemas.openxmlformats.org/drawingml/2006/main" noGrp="1"/>
          </p:cNvSpPr>
          <p:nvPr/>
        </p:nvSpPr>
        <p:spPr>
          <a:xfrm xmlns:a="http://schemas.openxmlformats.org/drawingml/2006/main">
            <a:off x="971550" y="31146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Defect insight</a:t>
            </a:r>
          </a:p>
        </p:txBody>
      </p:sp>
      <p:sp>
        <p:nvSpPr>
          <p:cNvPr id="15" name="">
            <a:extLst xmlns:a="http://schemas.openxmlformats.org/drawingml/2006/main">
              <a:ext uri="{FF2B5EF4-FFF2-40B4-BE49-F238E27FC236}">
                <a16:creationId xmlns:a16="http://schemas.microsoft.com/office/drawing/2014/main" id="{068310A9-5404-4D7B-A2CA-F47851881606}"/>
              </a:ext>
            </a:extLst>
          </p:cNvPr>
          <p:cNvSpPr>
            <a:spLocks xmlns:a="http://schemas.openxmlformats.org/drawingml/2006/main" noGrp="1"/>
          </p:cNvSpPr>
          <p:nvPr/>
        </p:nvSpPr>
        <p:spPr>
          <a:xfrm xmlns:a="http://schemas.openxmlformats.org/drawingml/2006/main">
            <a:off x="3257550" y="30384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B15F2E5C-0ABA-4FAD-9D3E-2691CA1CD673}"/>
              </a:ext>
            </a:extLst>
          </p:cNvPr>
          <p:cNvSpPr>
            <a:spLocks xmlns:a="http://schemas.openxmlformats.org/drawingml/2006/main" noGrp="1"/>
          </p:cNvSpPr>
          <p:nvPr/>
        </p:nvSpPr>
        <p:spPr>
          <a:xfrm xmlns:a="http://schemas.openxmlformats.org/drawingml/2006/main">
            <a:off x="3352800" y="31146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Top 5 defect drivers ranked by cost or frequency</a:t>
            </a:r>
          </a:p>
        </p:txBody>
      </p:sp>
      <p:sp>
        <p:nvSpPr>
          <p:cNvPr id="17" name="">
            <a:extLst xmlns:a="http://schemas.openxmlformats.org/drawingml/2006/main">
              <a:ext uri="{FF2B5EF4-FFF2-40B4-BE49-F238E27FC236}">
                <a16:creationId xmlns:a16="http://schemas.microsoft.com/office/drawing/2014/main" id="{B314F16E-5829-4624-86CD-D0BBB469549B}"/>
              </a:ext>
            </a:extLst>
          </p:cNvPr>
          <p:cNvSpPr>
            <a:spLocks xmlns:a="http://schemas.openxmlformats.org/drawingml/2006/main" noGrp="1"/>
          </p:cNvSpPr>
          <p:nvPr/>
        </p:nvSpPr>
        <p:spPr>
          <a:xfrm xmlns:a="http://schemas.openxmlformats.org/drawingml/2006/main">
            <a:off x="876300" y="35337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23AB6CD1-78AB-4825-846B-6DB3498F6920}"/>
              </a:ext>
            </a:extLst>
          </p:cNvPr>
          <p:cNvSpPr>
            <a:spLocks xmlns:a="http://schemas.openxmlformats.org/drawingml/2006/main" noGrp="1"/>
          </p:cNvSpPr>
          <p:nvPr/>
        </p:nvSpPr>
        <p:spPr>
          <a:xfrm xmlns:a="http://schemas.openxmlformats.org/drawingml/2006/main">
            <a:off x="971550" y="36099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Root-cause speed</a:t>
            </a:r>
          </a:p>
        </p:txBody>
      </p:sp>
      <p:sp>
        <p:nvSpPr>
          <p:cNvPr id="19" name="">
            <a:extLst xmlns:a="http://schemas.openxmlformats.org/drawingml/2006/main">
              <a:ext uri="{FF2B5EF4-FFF2-40B4-BE49-F238E27FC236}">
                <a16:creationId xmlns:a16="http://schemas.microsoft.com/office/drawing/2014/main" id="{D0324F07-3A70-4C7E-8BC5-43D945DC8BE2}"/>
              </a:ext>
            </a:extLst>
          </p:cNvPr>
          <p:cNvSpPr>
            <a:spLocks xmlns:a="http://schemas.openxmlformats.org/drawingml/2006/main" noGrp="1"/>
          </p:cNvSpPr>
          <p:nvPr/>
        </p:nvSpPr>
        <p:spPr>
          <a:xfrm xmlns:a="http://schemas.openxmlformats.org/drawingml/2006/main">
            <a:off x="3257550" y="35337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36C5CF61-0C78-4E3C-8DF4-18C0731ED904}"/>
              </a:ext>
            </a:extLst>
          </p:cNvPr>
          <p:cNvSpPr>
            <a:spLocks xmlns:a="http://schemas.openxmlformats.org/drawingml/2006/main" noGrp="1"/>
          </p:cNvSpPr>
          <p:nvPr/>
        </p:nvSpPr>
        <p:spPr>
          <a:xfrm xmlns:a="http://schemas.openxmlformats.org/drawingml/2006/main">
            <a:off x="3352800" y="36099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Time to first root-cause hypothesis reduced vs current workflow</a:t>
            </a:r>
          </a:p>
        </p:txBody>
      </p:sp>
      <p:sp>
        <p:nvSpPr>
          <p:cNvPr id="21" name="">
            <a:extLst xmlns:a="http://schemas.openxmlformats.org/drawingml/2006/main">
              <a:ext uri="{FF2B5EF4-FFF2-40B4-BE49-F238E27FC236}">
                <a16:creationId xmlns:a16="http://schemas.microsoft.com/office/drawing/2014/main" id="{67765350-521F-4BA7-89CD-DED1E3C5BE27}"/>
              </a:ext>
            </a:extLst>
          </p:cNvPr>
          <p:cNvSpPr>
            <a:spLocks xmlns:a="http://schemas.openxmlformats.org/drawingml/2006/main" noGrp="1"/>
          </p:cNvSpPr>
          <p:nvPr/>
        </p:nvSpPr>
        <p:spPr>
          <a:xfrm xmlns:a="http://schemas.openxmlformats.org/drawingml/2006/main">
            <a:off x="876300" y="40290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E81745A6-9D2E-474D-BA93-A3B01B008B23}"/>
              </a:ext>
            </a:extLst>
          </p:cNvPr>
          <p:cNvSpPr>
            <a:spLocks xmlns:a="http://schemas.openxmlformats.org/drawingml/2006/main" noGrp="1"/>
          </p:cNvSpPr>
          <p:nvPr/>
        </p:nvSpPr>
        <p:spPr>
          <a:xfrm xmlns:a="http://schemas.openxmlformats.org/drawingml/2006/main">
            <a:off x="971550" y="41052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Quality opportunity</a:t>
            </a:r>
          </a:p>
        </p:txBody>
      </p:sp>
      <p:sp>
        <p:nvSpPr>
          <p:cNvPr id="23" name="">
            <a:extLst xmlns:a="http://schemas.openxmlformats.org/drawingml/2006/main">
              <a:ext uri="{FF2B5EF4-FFF2-40B4-BE49-F238E27FC236}">
                <a16:creationId xmlns:a16="http://schemas.microsoft.com/office/drawing/2014/main" id="{A9737AE2-9E6C-4E40-A6D5-533E210A2F37}"/>
              </a:ext>
            </a:extLst>
          </p:cNvPr>
          <p:cNvSpPr>
            <a:spLocks xmlns:a="http://schemas.openxmlformats.org/drawingml/2006/main" noGrp="1"/>
          </p:cNvSpPr>
          <p:nvPr/>
        </p:nvSpPr>
        <p:spPr>
          <a:xfrm xmlns:a="http://schemas.openxmlformats.org/drawingml/2006/main">
            <a:off x="3257550" y="40290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05A0ADBD-00B2-4FC7-A158-A0A5ABE865FC}"/>
              </a:ext>
            </a:extLst>
          </p:cNvPr>
          <p:cNvSpPr>
            <a:spLocks xmlns:a="http://schemas.openxmlformats.org/drawingml/2006/main" noGrp="1"/>
          </p:cNvSpPr>
          <p:nvPr/>
        </p:nvSpPr>
        <p:spPr>
          <a:xfrm xmlns:a="http://schemas.openxmlformats.org/drawingml/2006/main">
            <a:off x="3352800" y="41052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Scrap/rework/complaint value pool quantified</a:t>
            </a:r>
          </a:p>
        </p:txBody>
      </p:sp>
      <p:sp>
        <p:nvSpPr>
          <p:cNvPr id="25" name="">
            <a:extLst xmlns:a="http://schemas.openxmlformats.org/drawingml/2006/main">
              <a:ext uri="{FF2B5EF4-FFF2-40B4-BE49-F238E27FC236}">
                <a16:creationId xmlns:a16="http://schemas.microsoft.com/office/drawing/2014/main" id="{4DE23BB8-5E43-46D7-9C7C-1114A2649F8D}"/>
              </a:ext>
            </a:extLst>
          </p:cNvPr>
          <p:cNvSpPr>
            <a:spLocks xmlns:a="http://schemas.openxmlformats.org/drawingml/2006/main" noGrp="1"/>
          </p:cNvSpPr>
          <p:nvPr/>
        </p:nvSpPr>
        <p:spPr>
          <a:xfrm xmlns:a="http://schemas.openxmlformats.org/drawingml/2006/main">
            <a:off x="876300" y="45243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177DC009-30FE-41B1-84EE-B327946FD370}"/>
              </a:ext>
            </a:extLst>
          </p:cNvPr>
          <p:cNvSpPr>
            <a:spLocks xmlns:a="http://schemas.openxmlformats.org/drawingml/2006/main" noGrp="1"/>
          </p:cNvSpPr>
          <p:nvPr/>
        </p:nvSpPr>
        <p:spPr>
          <a:xfrm xmlns:a="http://schemas.openxmlformats.org/drawingml/2006/main">
            <a:off x="971550" y="46005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Adoption</a:t>
            </a:r>
          </a:p>
        </p:txBody>
      </p:sp>
      <p:sp>
        <p:nvSpPr>
          <p:cNvPr id="27" name="">
            <a:extLst xmlns:a="http://schemas.openxmlformats.org/drawingml/2006/main">
              <a:ext uri="{FF2B5EF4-FFF2-40B4-BE49-F238E27FC236}">
                <a16:creationId xmlns:a16="http://schemas.microsoft.com/office/drawing/2014/main" id="{CD3B8AA4-14D5-436B-8A6B-E8D3C7134708}"/>
              </a:ext>
            </a:extLst>
          </p:cNvPr>
          <p:cNvSpPr>
            <a:spLocks xmlns:a="http://schemas.openxmlformats.org/drawingml/2006/main" noGrp="1"/>
          </p:cNvSpPr>
          <p:nvPr/>
        </p:nvSpPr>
        <p:spPr>
          <a:xfrm xmlns:a="http://schemas.openxmlformats.org/drawingml/2006/main">
            <a:off x="3257550" y="45243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37882AE9-341E-4102-9484-444171975972}"/>
              </a:ext>
            </a:extLst>
          </p:cNvPr>
          <p:cNvSpPr>
            <a:spLocks xmlns:a="http://schemas.openxmlformats.org/drawingml/2006/main" noGrp="1"/>
          </p:cNvSpPr>
          <p:nvPr/>
        </p:nvSpPr>
        <p:spPr>
          <a:xfrm xmlns:a="http://schemas.openxmlformats.org/drawingml/2006/main">
            <a:off x="3352800" y="46005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Production, quality, R&amp;D, IT, and finance agree on scale/no-scale decision</a:t>
            </a:r>
          </a:p>
        </p:txBody>
      </p:sp>
      <p:sp>
        <p:nvSpPr>
          <p:cNvPr id="29" name="">
            <a:extLst xmlns:a="http://schemas.openxmlformats.org/drawingml/2006/main">
              <a:ext uri="{FF2B5EF4-FFF2-40B4-BE49-F238E27FC236}">
                <a16:creationId xmlns:a16="http://schemas.microsoft.com/office/drawing/2014/main" id="{2125845E-B270-43CD-88BB-2D882E9316FF}"/>
              </a:ext>
            </a:extLst>
          </p:cNvPr>
          <p:cNvSpPr>
            <a:spLocks xmlns:a="http://schemas.openxmlformats.org/drawingml/2006/main" noGrp="1"/>
          </p:cNvSpPr>
          <p:nvPr/>
        </p:nvSpPr>
        <p:spPr>
          <a:xfrm xmlns:a="http://schemas.openxmlformats.org/drawingml/2006/main">
            <a:off x="876300" y="50196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C61E6D06-9D72-4618-8F63-854356DF8149}"/>
              </a:ext>
            </a:extLst>
          </p:cNvPr>
          <p:cNvSpPr>
            <a:spLocks xmlns:a="http://schemas.openxmlformats.org/drawingml/2006/main" noGrp="1"/>
          </p:cNvSpPr>
          <p:nvPr/>
        </p:nvSpPr>
        <p:spPr>
          <a:xfrm xmlns:a="http://schemas.openxmlformats.org/drawingml/2006/main">
            <a:off x="971550" y="50958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Safety</a:t>
            </a:r>
          </a:p>
        </p:txBody>
      </p:sp>
      <p:sp>
        <p:nvSpPr>
          <p:cNvPr id="31" name="">
            <a:extLst xmlns:a="http://schemas.openxmlformats.org/drawingml/2006/main">
              <a:ext uri="{FF2B5EF4-FFF2-40B4-BE49-F238E27FC236}">
                <a16:creationId xmlns:a16="http://schemas.microsoft.com/office/drawing/2014/main" id="{D5D2038E-EF5F-44C3-8C74-18EEF70B8A5E}"/>
              </a:ext>
            </a:extLst>
          </p:cNvPr>
          <p:cNvSpPr>
            <a:spLocks xmlns:a="http://schemas.openxmlformats.org/drawingml/2006/main" noGrp="1"/>
          </p:cNvSpPr>
          <p:nvPr/>
        </p:nvSpPr>
        <p:spPr>
          <a:xfrm xmlns:a="http://schemas.openxmlformats.org/drawingml/2006/main">
            <a:off x="3257550" y="50196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9FF768F8-7422-4C62-8E86-F1A2370A038F}"/>
              </a:ext>
            </a:extLst>
          </p:cNvPr>
          <p:cNvSpPr>
            <a:spLocks xmlns:a="http://schemas.openxmlformats.org/drawingml/2006/main" noGrp="1"/>
          </p:cNvSpPr>
          <p:nvPr/>
        </p:nvSpPr>
        <p:spPr>
          <a:xfrm xmlns:a="http://schemas.openxmlformats.org/drawingml/2006/main">
            <a:off x="3352800" y="50958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111"/>
                </a:solidFill>
              </a:defRPr>
            </a:pPr>
            <a:r>
              <a:rPr sz="1125" b="0">
                <a:solidFill>
                  <a:srgbClr val="111111"/>
                </a:solidFill>
              </a:rPr>
              <a:t>No uncontrolled data movement, no source-free technical recommendations</a:t>
            </a:r>
          </a:p>
        </p:txBody>
      </p:sp>
      <p:sp>
        <p:nvSpPr>
          <p:cNvPr id="33" name="">
            <a:extLst xmlns:a="http://schemas.openxmlformats.org/drawingml/2006/main">
              <a:ext uri="{FF2B5EF4-FFF2-40B4-BE49-F238E27FC236}">
                <a16:creationId xmlns:a16="http://schemas.microsoft.com/office/drawing/2014/main" id="{C89724EE-3A93-4353-888B-49578168F7BE}"/>
              </a:ext>
            </a:extLst>
          </p:cNvPr>
          <p:cNvSpPr>
            <a:spLocks xmlns:a="http://schemas.openxmlformats.org/drawingml/2006/main" noGrp="1"/>
          </p:cNvSpPr>
          <p:nvPr/>
        </p:nvSpPr>
        <p:spPr>
          <a:xfrm xmlns:a="http://schemas.openxmlformats.org/drawingml/2006/main">
            <a:off x="876300" y="2047875"/>
            <a:ext cx="9620250" cy="3467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7BC2B115-369B-4370-BDD9-6377BCB2BFE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35" name="">
            <a:extLst xmlns:a="http://schemas.openxmlformats.org/drawingml/2006/main">
              <a:ext uri="{FF2B5EF4-FFF2-40B4-BE49-F238E27FC236}">
                <a16:creationId xmlns:a16="http://schemas.microsoft.com/office/drawing/2014/main" id="{26E1B82C-79F5-476D-99C6-3EC0E30F808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21</a:t>
            </a:r>
          </a:p>
        </p:txBody>
      </p:sp>
    </p:spTree>
    <p:extLst>
      <p:ext uri="{BB962C8B-B14F-4D97-AF65-F5344CB8AC3E}">
        <p14:creationId xmlns:p14="http://schemas.microsoft.com/office/powerpoint/2010/main" val="91909896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F72000-8CE6-4C4E-99A0-890304CE933B}"/>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DECISION</a:t>
            </a:r>
          </a:p>
        </p:txBody>
      </p:sp>
      <p:sp>
        <p:nvSpPr>
          <p:cNvPr id="2" name="">
            <a:extLst xmlns:a="http://schemas.openxmlformats.org/drawingml/2006/main">
              <a:ext uri="{FF2B5EF4-FFF2-40B4-BE49-F238E27FC236}">
                <a16:creationId xmlns:a16="http://schemas.microsoft.com/office/drawing/2014/main" id="{5AF3BE93-3FB8-401F-9F8F-BC0379CCF7C4}"/>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Approve the pilot and create the AI learning loop</a:t>
            </a:r>
          </a:p>
        </p:txBody>
      </p:sp>
      <p:sp>
        <p:nvSpPr>
          <p:cNvPr id="3" name="">
            <a:extLst xmlns:a="http://schemas.openxmlformats.org/drawingml/2006/main">
              <a:ext uri="{FF2B5EF4-FFF2-40B4-BE49-F238E27FC236}">
                <a16:creationId xmlns:a16="http://schemas.microsoft.com/office/drawing/2014/main" id="{9F00D99A-042F-47C4-BE62-686F4FDCF24E}"/>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 small approved start is the fastest path to a serious AI transformation.</a:t>
            </a:r>
          </a:p>
        </p:txBody>
      </p:sp>
      <p:sp>
        <p:nvSpPr>
          <p:cNvPr id="4" name="">
            <a:extLst xmlns:a="http://schemas.openxmlformats.org/drawingml/2006/main">
              <a:ext uri="{FF2B5EF4-FFF2-40B4-BE49-F238E27FC236}">
                <a16:creationId xmlns:a16="http://schemas.microsoft.com/office/drawing/2014/main" id="{0D6D82CA-4869-418D-AF1C-46E0A457F1F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e26ea26bc514150"/>
          <a:srcRect xmlns:a="http://schemas.openxmlformats.org/drawingml/2006/main" l="9790" t="0" r="9790" b="0"/>
          <a:stretch xmlns:a="http://schemas.openxmlformats.org/drawingml/2006/main">
            <a:fillRect l="0" t="0" r="0" b="0"/>
          </a:stretch>
        </p:blipFill>
        <p:spPr>
          <a:xfrm xmlns:a="http://schemas.openxmlformats.org/drawingml/2006/main">
            <a:off x="666750" y="2047875"/>
            <a:ext cx="34290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922F4C-9828-464B-9586-54B7F3D946A5}"/>
              </a:ext>
            </a:extLst>
          </p:cNvPr>
          <p:cNvSpPr>
            <a:spLocks xmlns:a="http://schemas.openxmlformats.org/drawingml/2006/main" noGrp="1"/>
          </p:cNvSpPr>
          <p:nvPr/>
        </p:nvSpPr>
        <p:spPr>
          <a:xfrm xmlns:a="http://schemas.openxmlformats.org/drawingml/2006/main">
            <a:off x="4762500" y="2047875"/>
            <a:ext cx="5619750" cy="28575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136BA1-82B8-402C-8438-D294936DE98E}"/>
              </a:ext>
            </a:extLst>
          </p:cNvPr>
          <p:cNvSpPr>
            <a:spLocks xmlns:a="http://schemas.openxmlformats.org/drawingml/2006/main" noGrp="1"/>
          </p:cNvSpPr>
          <p:nvPr/>
        </p:nvSpPr>
        <p:spPr>
          <a:xfrm xmlns:a="http://schemas.openxmlformats.org/drawingml/2006/main">
            <a:off x="5095875" y="23812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FFFF"/>
                </a:solidFill>
              </a:defRPr>
            </a:pPr>
            <a:r>
              <a:rPr sz="2100" b="1">
                <a:solidFill>
                  <a:srgbClr val="FFFFFF"/>
                </a:solidFill>
              </a:rPr>
              <a:t>Board decision requested</a:t>
            </a:r>
          </a:p>
        </p:txBody>
      </p:sp>
      <p:sp>
        <p:nvSpPr>
          <p:cNvPr id="8" name="">
            <a:extLst xmlns:a="http://schemas.openxmlformats.org/drawingml/2006/main">
              <a:ext uri="{FF2B5EF4-FFF2-40B4-BE49-F238E27FC236}">
                <a16:creationId xmlns:a16="http://schemas.microsoft.com/office/drawing/2014/main" id="{6F90EC15-BD43-4BBA-9E1A-B54E4B2C77A0}"/>
              </a:ext>
            </a:extLst>
          </p:cNvPr>
          <p:cNvSpPr>
            <a:spLocks xmlns:a="http://schemas.openxmlformats.org/drawingml/2006/main" noGrp="1"/>
          </p:cNvSpPr>
          <p:nvPr/>
        </p:nvSpPr>
        <p:spPr>
          <a:xfrm xmlns:a="http://schemas.openxmlformats.org/drawingml/2006/main">
            <a:off x="5095875" y="304800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 Approve 12-week read-only pilot</a:t>
            </a:r>
          </a:p>
          <a:p xmlns:a="http://schemas.openxmlformats.org/drawingml/2006/main">
            <a:pPr algn="l">
              <a:defRPr sz="1500" b="0">
                <a:solidFill>
                  <a:srgbClr val="FFFFFF"/>
                </a:solidFill>
              </a:defRPr>
            </a:pPr>
            <a:r>
              <a:rPr sz="1500" b="0">
                <a:solidFill>
                  <a:srgbClr val="FFFFFF"/>
                </a:solidFill>
              </a:rPr>
              <a:t>- Assign sponsor and cross-functional owners</a:t>
            </a:r>
          </a:p>
          <a:p xmlns:a="http://schemas.openxmlformats.org/drawingml/2006/main">
            <a:pPr algn="l">
              <a:defRPr sz="1500" b="0">
                <a:solidFill>
                  <a:srgbClr val="FFFFFF"/>
                </a:solidFill>
              </a:defRPr>
            </a:pPr>
            <a:r>
              <a:rPr sz="1500" b="0">
                <a:solidFill>
                  <a:srgbClr val="FFFFFF"/>
                </a:solidFill>
              </a:rPr>
              <a:t>- Authorize controlled data discovery</a:t>
            </a:r>
          </a:p>
          <a:p xmlns:a="http://schemas.openxmlformats.org/drawingml/2006/main">
            <a:pPr algn="l">
              <a:defRPr sz="1500" b="0">
                <a:solidFill>
                  <a:srgbClr val="FFFFFF"/>
                </a:solidFill>
              </a:defRPr>
            </a:pPr>
            <a:r>
              <a:rPr sz="1500" b="0">
                <a:solidFill>
                  <a:srgbClr val="FFFFFF"/>
                </a:solidFill>
              </a:rPr>
              <a:t>- Review results and scale decision after pilot</a:t>
            </a:r>
          </a:p>
          <a:p xmlns:a="http://schemas.openxmlformats.org/drawingml/2006/main">
            <a:pPr algn="l">
              <a:defRPr sz="1500" b="0">
                <a:solidFill>
                  <a:srgbClr val="FFFFFF"/>
                </a:solidFill>
              </a:defRPr>
            </a:pPr>
            <a:r>
              <a:rPr sz="1500" b="0">
                <a:solidFill>
                  <a:srgbClr val="FFFFFF"/>
                </a:solidFill>
              </a:rPr>
              <a:t>- Use results for funding and long-term AI platform case</a:t>
            </a:r>
          </a:p>
        </p:txBody>
      </p:sp>
      <p:sp>
        <p:nvSpPr>
          <p:cNvPr id="9" name="">
            <a:extLst xmlns:a="http://schemas.openxmlformats.org/drawingml/2006/main">
              <a:ext uri="{FF2B5EF4-FFF2-40B4-BE49-F238E27FC236}">
                <a16:creationId xmlns:a16="http://schemas.microsoft.com/office/drawing/2014/main" id="{AD29D0FD-7881-4646-B89A-966AA0004A24}"/>
              </a:ext>
            </a:extLst>
          </p:cNvPr>
          <p:cNvSpPr>
            <a:spLocks xmlns:a="http://schemas.openxmlformats.org/drawingml/2006/main" noGrp="1"/>
          </p:cNvSpPr>
          <p:nvPr/>
        </p:nvSpPr>
        <p:spPr>
          <a:xfrm xmlns:a="http://schemas.openxmlformats.org/drawingml/2006/main">
            <a:off x="1428750" y="5381625"/>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39200"/>
                </a:solidFill>
              </a:defRPr>
            </a:pPr>
            <a:r>
              <a:rPr sz="2100" b="1">
                <a:solidFill>
                  <a:srgbClr val="F39200"/>
                </a:solidFill>
              </a:rPr>
              <a:t>AI is no longer optional. The question is whether we learn first, or wait until competitors do.</a:t>
            </a:r>
          </a:p>
        </p:txBody>
      </p:sp>
      <p:sp>
        <p:nvSpPr>
          <p:cNvPr id="10" name="">
            <a:extLst xmlns:a="http://schemas.openxmlformats.org/drawingml/2006/main">
              <a:ext uri="{FF2B5EF4-FFF2-40B4-BE49-F238E27FC236}">
                <a16:creationId xmlns:a16="http://schemas.microsoft.com/office/drawing/2014/main" id="{91F0D06C-FF3D-4B97-B0C6-8FCF81990915}"/>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11" name="">
            <a:extLst xmlns:a="http://schemas.openxmlformats.org/drawingml/2006/main">
              <a:ext uri="{FF2B5EF4-FFF2-40B4-BE49-F238E27FC236}">
                <a16:creationId xmlns:a16="http://schemas.microsoft.com/office/drawing/2014/main" id="{1762CB54-2283-499C-879F-21F62DFB85A8}"/>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defRPr>
            </a:pPr>
            <a:r>
              <a:rPr sz="675" b="0">
                <a:solidFill>
                  <a:srgbClr val="777777"/>
                </a:solidFill>
              </a:rPr>
              <a:t>Image source: Klevers public media library</a:t>
            </a:r>
          </a:p>
        </p:txBody>
      </p:sp>
      <p:sp>
        <p:nvSpPr>
          <p:cNvPr id="12" name="">
            <a:extLst xmlns:a="http://schemas.openxmlformats.org/drawingml/2006/main">
              <a:ext uri="{FF2B5EF4-FFF2-40B4-BE49-F238E27FC236}">
                <a16:creationId xmlns:a16="http://schemas.microsoft.com/office/drawing/2014/main" id="{7D1803E9-BBF5-42AD-8CB3-35CAB685CC40}"/>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22</a:t>
            </a:r>
          </a:p>
        </p:txBody>
      </p:sp>
    </p:spTree>
    <p:extLst>
      <p:ext uri="{BB962C8B-B14F-4D97-AF65-F5344CB8AC3E}">
        <p14:creationId xmlns:p14="http://schemas.microsoft.com/office/powerpoint/2010/main" val="58185743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1A12CA-2B84-40A3-89E8-B369CE9C29A8}"/>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39200"/>
                </a:solidFill>
              </a:defRPr>
            </a:pPr>
            <a:r>
              <a:rPr sz="900" b="1">
                <a:solidFill>
                  <a:srgbClr val="F39200"/>
                </a:solidFill>
              </a:rPr>
              <a:t>APPENDIX</a:t>
            </a:r>
          </a:p>
        </p:txBody>
      </p:sp>
      <p:sp>
        <p:nvSpPr>
          <p:cNvPr id="2" name="">
            <a:extLst xmlns:a="http://schemas.openxmlformats.org/drawingml/2006/main">
              <a:ext uri="{FF2B5EF4-FFF2-40B4-BE49-F238E27FC236}">
                <a16:creationId xmlns:a16="http://schemas.microsoft.com/office/drawing/2014/main" id="{14A4A0EC-5BF8-422E-94AA-9122A98F4AD1}"/>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111"/>
                </a:solidFill>
              </a:defRPr>
            </a:pPr>
            <a:r>
              <a:rPr sz="2550" b="1">
                <a:solidFill>
                  <a:srgbClr val="111111"/>
                </a:solidFill>
              </a:rPr>
              <a:t>Key public sources used for this board deck</a:t>
            </a:r>
          </a:p>
        </p:txBody>
      </p:sp>
      <p:sp>
        <p:nvSpPr>
          <p:cNvPr id="3" name="">
            <a:extLst xmlns:a="http://schemas.openxmlformats.org/drawingml/2006/main">
              <a:ext uri="{FF2B5EF4-FFF2-40B4-BE49-F238E27FC236}">
                <a16:creationId xmlns:a16="http://schemas.microsoft.com/office/drawing/2014/main" id="{4D8F85B3-9855-4EE9-BD6B-F1B69D2AB595}"/>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The detailed strategy report contains the full source-backed opportunity map.</a:t>
            </a:r>
          </a:p>
        </p:txBody>
      </p:sp>
      <p:sp>
        <p:nvSpPr>
          <p:cNvPr id="4" name="">
            <a:extLst xmlns:a="http://schemas.openxmlformats.org/drawingml/2006/main">
              <a:ext uri="{FF2B5EF4-FFF2-40B4-BE49-F238E27FC236}">
                <a16:creationId xmlns:a16="http://schemas.microsoft.com/office/drawing/2014/main" id="{0A25624A-48A2-4CF6-9051-E338A83801EE}"/>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096F64DF-36A7-45EE-AE8D-492DE8E1950F}"/>
              </a:ext>
            </a:extLst>
          </p:cNvPr>
          <p:cNvSpPr>
            <a:spLocks xmlns:a="http://schemas.openxmlformats.org/drawingml/2006/main" noGrp="1"/>
          </p:cNvSpPr>
          <p:nvPr/>
        </p:nvSpPr>
        <p:spPr>
          <a:xfrm xmlns:a="http://schemas.openxmlformats.org/drawingml/2006/main">
            <a:off x="1047750" y="2143125"/>
            <a:ext cx="9334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111"/>
                </a:solidFill>
              </a:defRPr>
            </a:pPr>
            <a:r>
              <a:rPr sz="1500" b="0">
                <a:solidFill>
                  <a:srgbClr val="111111"/>
                </a:solidFill>
              </a:rPr>
              <a:t>- Darmstaedter: Unternehmen, Beschichtungen, Entwicklung, Qualitaet, public media library</a:t>
            </a:r>
          </a:p>
          <a:p xmlns:a="http://schemas.openxmlformats.org/drawingml/2006/main">
            <a:pPr algn="l">
              <a:defRPr sz="1500" b="0">
                <a:solidFill>
                  <a:srgbClr val="111111"/>
                </a:solidFill>
              </a:defRPr>
            </a:pPr>
            <a:r>
              <a:rPr sz="1500" b="0">
                <a:solidFill>
                  <a:srgbClr val="111111"/>
                </a:solidFill>
              </a:rPr>
              <a:t>- Klevers: Unternehmen, Lieferprogramm, Garne und Zwirne, Glas Hochtemperatur, Beschichtungen, Qualitaet, Projekte</a:t>
            </a:r>
          </a:p>
          <a:p xmlns:a="http://schemas.openxmlformats.org/drawingml/2006/main">
            <a:pPr algn="l">
              <a:defRPr sz="1500" b="0">
                <a:solidFill>
                  <a:srgbClr val="111111"/>
                </a:solidFill>
              </a:defRPr>
            </a:pPr>
            <a:r>
              <a:rPr sz="1500" b="0">
                <a:solidFill>
                  <a:srgbClr val="111111"/>
                </a:solidFill>
              </a:rPr>
              <a:t>- Funding: ZIM, Bescheinigungsstelle Forschungszulage, NRW.BANK MID, BAFA EEW, Eurostars, Horizon Europe, EIC Accelerator</a:t>
            </a:r>
          </a:p>
          <a:p xmlns:a="http://schemas.openxmlformats.org/drawingml/2006/main">
            <a:pPr algn="l">
              <a:defRPr sz="1500" b="0">
                <a:solidFill>
                  <a:srgbClr val="111111"/>
                </a:solidFill>
              </a:defRPr>
            </a:pPr>
            <a:r>
              <a:rPr sz="1500" b="0">
                <a:solidFill>
                  <a:srgbClr val="111111"/>
                </a:solidFill>
              </a:rPr>
              <a:t>- Internal assumptions to verify: ERP/INTEX, inspection/ELSIS, PLC/HMI exports, roll/order linkage, defect label quality</a:t>
            </a:r>
          </a:p>
        </p:txBody>
      </p:sp>
      <p:sp>
        <p:nvSpPr>
          <p:cNvPr id="6" name="">
            <a:extLst xmlns:a="http://schemas.openxmlformats.org/drawingml/2006/main">
              <a:ext uri="{FF2B5EF4-FFF2-40B4-BE49-F238E27FC236}">
                <a16:creationId xmlns:a16="http://schemas.microsoft.com/office/drawing/2014/main" id="{DF365909-82DC-4DA1-BCEC-526E6E6A05AF}"/>
              </a:ext>
            </a:extLst>
          </p:cNvPr>
          <p:cNvSpPr>
            <a:spLocks xmlns:a="http://schemas.openxmlformats.org/drawingml/2006/main" noGrp="1"/>
          </p:cNvSpPr>
          <p:nvPr/>
        </p:nvSpPr>
        <p:spPr>
          <a:xfrm xmlns:a="http://schemas.openxmlformats.org/drawingml/2006/main">
            <a:off x="1047750" y="49530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39200"/>
                </a:solidFill>
              </a:defRPr>
            </a:pPr>
            <a:r>
              <a:rPr sz="1650" b="1">
                <a:solidFill>
                  <a:srgbClr val="F39200"/>
                </a:solidFill>
              </a:rPr>
              <a:t>Use the companion Markdown report as the detailed leave-behind after the presentation.</a:t>
            </a:r>
          </a:p>
        </p:txBody>
      </p:sp>
      <p:sp>
        <p:nvSpPr>
          <p:cNvPr id="7" name="">
            <a:extLst xmlns:a="http://schemas.openxmlformats.org/drawingml/2006/main">
              <a:ext uri="{FF2B5EF4-FFF2-40B4-BE49-F238E27FC236}">
                <a16:creationId xmlns:a16="http://schemas.microsoft.com/office/drawing/2014/main" id="{2024BBE5-7D29-4168-8861-8B7F2629604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777777"/>
                </a:solidFill>
              </a:defRPr>
            </a:pPr>
            <a:r>
              <a:rPr sz="675" b="0">
                <a:solidFill>
                  <a:srgbClr val="777777"/>
                </a:solidFill>
              </a:rPr>
              <a:t>Darmstaedter + Klevers AI Transformation</a:t>
            </a:r>
          </a:p>
        </p:txBody>
      </p:sp>
      <p:sp>
        <p:nvSpPr>
          <p:cNvPr id="8" name="">
            <a:extLst xmlns:a="http://schemas.openxmlformats.org/drawingml/2006/main">
              <a:ext uri="{FF2B5EF4-FFF2-40B4-BE49-F238E27FC236}">
                <a16:creationId xmlns:a16="http://schemas.microsoft.com/office/drawing/2014/main" id="{6A9EDCAB-5A8E-4EF7-983B-D4FA37FDB988}"/>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defRPr>
            </a:pPr>
            <a:r>
              <a:rPr sz="675" b="0">
                <a:solidFill>
                  <a:srgbClr val="777777"/>
                </a:solidFill>
              </a:rPr>
              <a:t>23</a:t>
            </a:r>
          </a:p>
        </p:txBody>
      </p:sp>
    </p:spTree>
    <p:extLst>
      <p:ext uri="{BB962C8B-B14F-4D97-AF65-F5344CB8AC3E}">
        <p14:creationId xmlns:p14="http://schemas.microsoft.com/office/powerpoint/2010/main" val="76350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2026-07-02T01:06:33.6330000Z</dcterms:created>
  <dcterms:modified xsi:type="dcterms:W3CDTF">2026-07-02T01:06:33.6330000Z</dcterms:modified>
</coreProperties>
</file>