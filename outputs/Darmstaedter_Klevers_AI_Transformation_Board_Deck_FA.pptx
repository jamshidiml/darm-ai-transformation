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a1f7458e824a10" /><Relationship Type="http://schemas.openxmlformats.org/officeDocument/2006/relationships/extended-properties" Target="/docProps/app.xml" Id="R92ee28c5d6fc407d" /><Relationship Type="http://schemas.openxmlformats.org/officeDocument/2006/relationships/officeDocument" Target="/ppt/presentation.xml" Id="R4e0897a80e5f458a" /></Relationships>
</file>

<file path=ppt/presentation.xml><?xml version="1.0" encoding="utf-8"?>
<p:presentation xmlns:p="http://schemas.openxmlformats.org/presentationml/2006/main">
  <p:sldMasterIdLst>
    <p:sldMasterId xmlns:r="http://schemas.openxmlformats.org/officeDocument/2006/relationships" id="2147483648" r:id="R66fbd5fba5b64790"/>
  </p:sldMasterIdLst>
  <p:notesMasterIdLst>
    <p:notesMasterId xmlns:r="http://schemas.openxmlformats.org/officeDocument/2006/relationships" r:id="R584ab34bb5764af1"/>
  </p:notesMasterIdLst>
  <p:sldIdLst>
    <p:sldId xmlns:r="http://schemas.openxmlformats.org/officeDocument/2006/relationships" id="256" r:id="R02de27f748654e02"/>
    <p:sldId xmlns:r="http://schemas.openxmlformats.org/officeDocument/2006/relationships" id="257" r:id="Rbf1a7ac79bb34067"/>
    <p:sldId xmlns:r="http://schemas.openxmlformats.org/officeDocument/2006/relationships" id="258" r:id="Rd206cc1e32704ccb"/>
    <p:sldId xmlns:r="http://schemas.openxmlformats.org/officeDocument/2006/relationships" id="259" r:id="Rd1f9c28a9abc442a"/>
    <p:sldId xmlns:r="http://schemas.openxmlformats.org/officeDocument/2006/relationships" id="260" r:id="Rc63122c7ea7b4a91"/>
    <p:sldId xmlns:r="http://schemas.openxmlformats.org/officeDocument/2006/relationships" id="261" r:id="Re3048c3ffc8e4605"/>
    <p:sldId xmlns:r="http://schemas.openxmlformats.org/officeDocument/2006/relationships" id="262" r:id="R1e659d0d2a8640c6"/>
    <p:sldId xmlns:r="http://schemas.openxmlformats.org/officeDocument/2006/relationships" id="263" r:id="Rc633211a6ac34d9d"/>
    <p:sldId xmlns:r="http://schemas.openxmlformats.org/officeDocument/2006/relationships" id="264" r:id="R037bee6c72564bee"/>
    <p:sldId xmlns:r="http://schemas.openxmlformats.org/officeDocument/2006/relationships" id="265" r:id="Rf8066f6db3b64eb6"/>
    <p:sldId xmlns:r="http://schemas.openxmlformats.org/officeDocument/2006/relationships" id="266" r:id="Rd1a1a83c52e94711"/>
    <p:sldId xmlns:r="http://schemas.openxmlformats.org/officeDocument/2006/relationships" id="267" r:id="Ra759e211495743e4"/>
    <p:sldId xmlns:r="http://schemas.openxmlformats.org/officeDocument/2006/relationships" id="268" r:id="R1f85ed3ab11e48cf"/>
    <p:sldId xmlns:r="http://schemas.openxmlformats.org/officeDocument/2006/relationships" id="269" r:id="R3121a3ad5be1404e"/>
    <p:sldId xmlns:r="http://schemas.openxmlformats.org/officeDocument/2006/relationships" id="270" r:id="Rd54ede1cacd4468b"/>
    <p:sldId xmlns:r="http://schemas.openxmlformats.org/officeDocument/2006/relationships" id="271" r:id="R9739aaa3b22746e4"/>
    <p:sldId xmlns:r="http://schemas.openxmlformats.org/officeDocument/2006/relationships" id="272" r:id="R47c5b2db6997467c"/>
    <p:sldId xmlns:r="http://schemas.openxmlformats.org/officeDocument/2006/relationships" id="273" r:id="Rc8ebd3feaf5b4543"/>
    <p:sldId xmlns:r="http://schemas.openxmlformats.org/officeDocument/2006/relationships" id="274" r:id="R8bc673d6b1474784"/>
    <p:sldId xmlns:r="http://schemas.openxmlformats.org/officeDocument/2006/relationships" id="275" r:id="Reb7232cad25a48bc"/>
    <p:sldId xmlns:r="http://schemas.openxmlformats.org/officeDocument/2006/relationships" id="276" r:id="Rbc6bb0964a444831"/>
    <p:sldId xmlns:r="http://schemas.openxmlformats.org/officeDocument/2006/relationships" id="277" r:id="Ra13e67a9d27b4ecc"/>
    <p:sldId xmlns:r="http://schemas.openxmlformats.org/officeDocument/2006/relationships" id="278" r:id="R9c5908dbec394c3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06e978f1474d65" /><Relationship Type="http://schemas.openxmlformats.org/officeDocument/2006/relationships/slideMaster" Target="/ppt/slideMasters/slideMaster1.xml" Id="R66fbd5fba5b64790" /><Relationship Type="http://schemas.openxmlformats.org/officeDocument/2006/relationships/notesMaster" Target="/ppt/notesMasters/notesMaster1.xml" Id="R584ab34bb5764af1" /><Relationship Type="http://schemas.openxmlformats.org/officeDocument/2006/relationships/presProps" Target="/ppt/presProps.xml" Id="Raca47e6994e440c5" /><Relationship Type="http://schemas.openxmlformats.org/officeDocument/2006/relationships/tableStyles" Target="/ppt/tableStyles.xml" Id="Rab155223e68741ad" /><Relationship Type="http://schemas.openxmlformats.org/officeDocument/2006/relationships/slide" Target="/ppt/slides/slide1.xml" Id="R02de27f748654e02" /><Relationship Type="http://schemas.openxmlformats.org/officeDocument/2006/relationships/slide" Target="/ppt/slides/slide2.xml" Id="Rbf1a7ac79bb34067" /><Relationship Type="http://schemas.openxmlformats.org/officeDocument/2006/relationships/slide" Target="/ppt/slides/slide3.xml" Id="Rd206cc1e32704ccb" /><Relationship Type="http://schemas.openxmlformats.org/officeDocument/2006/relationships/slide" Target="/ppt/slides/slide4.xml" Id="Rd1f9c28a9abc442a" /><Relationship Type="http://schemas.openxmlformats.org/officeDocument/2006/relationships/slide" Target="/ppt/slides/slide5.xml" Id="Rc63122c7ea7b4a91" /><Relationship Type="http://schemas.openxmlformats.org/officeDocument/2006/relationships/slide" Target="/ppt/slides/slide6.xml" Id="Re3048c3ffc8e4605" /><Relationship Type="http://schemas.openxmlformats.org/officeDocument/2006/relationships/slide" Target="/ppt/slides/slide7.xml" Id="R1e659d0d2a8640c6" /><Relationship Type="http://schemas.openxmlformats.org/officeDocument/2006/relationships/slide" Target="/ppt/slides/slide8.xml" Id="Rc633211a6ac34d9d" /><Relationship Type="http://schemas.openxmlformats.org/officeDocument/2006/relationships/slide" Target="/ppt/slides/slide9.xml" Id="R037bee6c72564bee" /><Relationship Type="http://schemas.openxmlformats.org/officeDocument/2006/relationships/slide" Target="/ppt/slides/slide10.xml" Id="Rf8066f6db3b64eb6" /><Relationship Type="http://schemas.openxmlformats.org/officeDocument/2006/relationships/slide" Target="/ppt/slides/slide11.xml" Id="Rd1a1a83c52e94711" /><Relationship Type="http://schemas.openxmlformats.org/officeDocument/2006/relationships/slide" Target="/ppt/slides/slide12.xml" Id="Ra759e211495743e4" /><Relationship Type="http://schemas.openxmlformats.org/officeDocument/2006/relationships/slide" Target="/ppt/slides/slide13.xml" Id="R1f85ed3ab11e48cf" /><Relationship Type="http://schemas.openxmlformats.org/officeDocument/2006/relationships/slide" Target="/ppt/slides/slide14.xml" Id="R3121a3ad5be1404e" /><Relationship Type="http://schemas.openxmlformats.org/officeDocument/2006/relationships/slide" Target="/ppt/slides/slide15.xml" Id="Rd54ede1cacd4468b" /><Relationship Type="http://schemas.openxmlformats.org/officeDocument/2006/relationships/slide" Target="/ppt/slides/slide16.xml" Id="R9739aaa3b22746e4" /><Relationship Type="http://schemas.openxmlformats.org/officeDocument/2006/relationships/slide" Target="/ppt/slides/slide17.xml" Id="R47c5b2db6997467c" /><Relationship Type="http://schemas.openxmlformats.org/officeDocument/2006/relationships/slide" Target="/ppt/slides/slide18.xml" Id="Rc8ebd3feaf5b4543" /><Relationship Type="http://schemas.openxmlformats.org/officeDocument/2006/relationships/slide" Target="/ppt/slides/slide19.xml" Id="R8bc673d6b1474784" /><Relationship Type="http://schemas.openxmlformats.org/officeDocument/2006/relationships/slide" Target="/ppt/slides/slide20.xml" Id="Reb7232cad25a48bc" /><Relationship Type="http://schemas.openxmlformats.org/officeDocument/2006/relationships/slide" Target="/ppt/slides/slide21.xml" Id="Rbc6bb0964a444831" /><Relationship Type="http://schemas.openxmlformats.org/officeDocument/2006/relationships/slide" Target="/ppt/slides/slide22.xml" Id="Ra13e67a9d27b4ecc" /><Relationship Type="http://schemas.openxmlformats.org/officeDocument/2006/relationships/slide" Target="/ppt/slides/slide23.xml" Id="R9c5908dbec394c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43cc823fc84e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a8703016cd4f50" /><Relationship Type="http://schemas.openxmlformats.org/officeDocument/2006/relationships/notesMaster" Target="/ppt/notesMasters/notesMaster1.xml" Id="R715696aef2134e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5a57e1e045467a" /><Relationship Type="http://schemas.openxmlformats.org/officeDocument/2006/relationships/notesMaster" Target="/ppt/notesMasters/notesMaster1.xml" Id="R630919f7b5134a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23387d0dfc4aff" /><Relationship Type="http://schemas.openxmlformats.org/officeDocument/2006/relationships/notesMaster" Target="/ppt/notesMasters/notesMaster1.xml" Id="R20e69adf51204d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4f47c6d8174bec" /><Relationship Type="http://schemas.openxmlformats.org/officeDocument/2006/relationships/notesMaster" Target="/ppt/notesMasters/notesMaster1.xml" Id="R6742331e8d39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dfd11649504a23" /><Relationship Type="http://schemas.openxmlformats.org/officeDocument/2006/relationships/notesMaster" Target="/ppt/notesMasters/notesMaster1.xml" Id="R3d26ea5519b447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9f69dc2fa44fdf" /><Relationship Type="http://schemas.openxmlformats.org/officeDocument/2006/relationships/notesMaster" Target="/ppt/notesMasters/notesMaster1.xml" Id="Rc5a218cdbd6a4d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8a96227ac4456f" /><Relationship Type="http://schemas.openxmlformats.org/officeDocument/2006/relationships/notesMaster" Target="/ppt/notesMasters/notesMaster1.xml" Id="R080459687b9b4d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9520853d944128" /><Relationship Type="http://schemas.openxmlformats.org/officeDocument/2006/relationships/notesMaster" Target="/ppt/notesMasters/notesMaster1.xml" Id="Rda356dbedf4c49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ab1987931e4698" /><Relationship Type="http://schemas.openxmlformats.org/officeDocument/2006/relationships/notesMaster" Target="/ppt/notesMasters/notesMaster1.xml" Id="R1e7ddf024e2447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28280e036941e2" /><Relationship Type="http://schemas.openxmlformats.org/officeDocument/2006/relationships/notesMaster" Target="/ppt/notesMasters/notesMaster1.xml" Id="Ra9dbf67f90c34d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a7ffb54fc44961" /><Relationship Type="http://schemas.openxmlformats.org/officeDocument/2006/relationships/notesMaster" Target="/ppt/notesMasters/notesMaster1.xml" Id="Ra4ea3b74c6474f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00b931871c47a1" /><Relationship Type="http://schemas.openxmlformats.org/officeDocument/2006/relationships/notesMaster" Target="/ppt/notesMasters/notesMaster1.xml" Id="R336c0b2bccdb48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56e830250c4b76" /><Relationship Type="http://schemas.openxmlformats.org/officeDocument/2006/relationships/notesMaster" Target="/ppt/notesMasters/notesMaster1.xml" Id="Rdb6fb80ff3f44f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01146607b5480d" /><Relationship Type="http://schemas.openxmlformats.org/officeDocument/2006/relationships/notesMaster" Target="/ppt/notesMasters/notesMaster1.xml" Id="R2e8635a5859b43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3ba2f00a8046f3" /><Relationship Type="http://schemas.openxmlformats.org/officeDocument/2006/relationships/notesMaster" Target="/ppt/notesMasters/notesMaster1.xml" Id="Ra47eed164b9d45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3843e930bb4869" /><Relationship Type="http://schemas.openxmlformats.org/officeDocument/2006/relationships/notesMaster" Target="/ppt/notesMasters/notesMaster1.xml" Id="R1ddaf677b32449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652db924df4dec" /><Relationship Type="http://schemas.openxmlformats.org/officeDocument/2006/relationships/notesMaster" Target="/ppt/notesMasters/notesMaster1.xml" Id="Re3623345ba2346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1fd204d3824d6c" /><Relationship Type="http://schemas.openxmlformats.org/officeDocument/2006/relationships/notesMaster" Target="/ppt/notesMasters/notesMaster1.xml" Id="R1e002908a84c40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340bc862bd42a9" /><Relationship Type="http://schemas.openxmlformats.org/officeDocument/2006/relationships/notesMaster" Target="/ppt/notesMasters/notesMaster1.xml" Id="R3918919255d1466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040b7e72d14d56" /><Relationship Type="http://schemas.openxmlformats.org/officeDocument/2006/relationships/notesMaster" Target="/ppt/notesMasters/notesMaster1.xml" Id="R3bd23abd123840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3245c0cdfc4d45" /><Relationship Type="http://schemas.openxmlformats.org/officeDocument/2006/relationships/notesMaster" Target="/ppt/notesMasters/notesMaster1.xml" Id="R6a3fedb4fc204f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d5b1b8e77f41ca" /><Relationship Type="http://schemas.openxmlformats.org/officeDocument/2006/relationships/notesMaster" Target="/ppt/notesMasters/notesMaster1.xml" Id="R7727579b63754f8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6efcf754e24044" /><Relationship Type="http://schemas.openxmlformats.org/officeDocument/2006/relationships/notesMaster" Target="/ppt/notesMasters/notesMaster1.xml" Id="Rf3ead857431e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با نقطه کسب‌وکاری شروع کنید، نه با فناوری. بگویید: این پیشنهاد چند پروژه تصادفی AI نیست. هدف، تبدیل دانش فنی منسوجات صنعتی، شواهد کیفیت و داده‌های فرایندی به مزیت قابل اندازه‌گیری است. این ارائه یک پایلوت کم‌ریسک را پیشنهاد می‌کند و فقط پس از اثبات ارزش، به سمت پلتفرم مرحله‌ای می‌رود.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درخواست را کاملا مشخص بیان کنید. مدیریت نباید احساس کند یک برنامه مبهم تحول را تصویب می‌کند. تصمیم امروز تصویب یک پایلوت ۱۲ هفته‌ای با بودجه محدود، بدون کنترل ماشین و با مالکان روشن است. تاکید کنید که پایلوت برای کشف ارزش قابل اندازه‌گیری پیش از هر تصمیم بزرگ‌تر درباره پلتفرم طراحی شده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توضیح می‌دهد چرا ایده‌های عمومی AI در اینجا ضعیف هستند. ارزش شرکت ترکیبی است: نیاز مشتری، بستر ماده، پوشش یا لمینیشن، پنجره تولید و اثبات کیفیت. اگر این پیوندها ثبت نشوند، هر واحد فقط بخش خود را می‌بیند. پایلوت باید این زنجیره را وصل کند، نه اینکه فقط یک چت‌بات اضافه 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از این اسلاید برای نشان دادن اختصاصی بودن پیشنهاد استفاده کنید. منابع عمومی نشان می‌دهند شرکت بر پایه ترکیب‌های کارکردی و اثبات کیفیت زندگی می‌کند. بنابراین AI نباید با اتوماسیون کامل شروع شود. باید با اتصال شواهد و یادگیری از ترکیب‌های گذشته شروع 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منطق اولویت‌بندی را توضیح دهید. تحقیق‌وتوسعه و تولید از نظر راهبردی بسیار مهم هستند، اما کیفیت بهترین نقطه شروع است چون سریع شواهد قابل اندازه‌گیری ایجاد می‌کند. اگر نشان دهیم عیب‌ها از کجا می‌آیند و داده سطح رول چگونه وصل می‌شود، پرونده کسب‌وکاری AI برای تحقیق‌وتوسعه و تولید بسیار آسان‌تر می‌شود.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اجازه ندهید مخاطب نقشه را این‌طور تفسیر کند که قرار است همه چیز را انجام دهیم. شفاف بگویید: نقشه ظرفیت را نشان می‌دهد، اما موج اول منضبط است. از جایی شروع می‌کنیم که داده برای چند واحد اهرم ایجاد می‌کند: کیفیت، تولید، بسته‌بندی و دانش تحقیق‌وتوسعه.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توصیه اصلی است. بگویید دامنه پایلوت عمدا محدود است. این نه پلتفرم AI است، نه پروژه کنترل ماشین، و نه پروژه علمی بینایی ماشین. یک پایلوت عملی و فقط خواندنی برای هوشمندی کیفیت است. باید عیوب تکراری را قابل مشاهده کند و نشان دهد آیا داده ما توان پشتیبانی از پیش‌بینی را دارد یا نه.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معماری ترس را کم می‌کند. فقط خواندنی یعنی ابتدا مشاهده و یادگیری می‌کنیم. خروجی، پاسپورت سطح رول و داشبورد است. بعدا می‌توان کیفیت پیش‌بینانه و پیشنهادهای فرایندی را اضافه کرد، اما فقط زمانی که به داده اعتماد داریم و افراد به سیستم اعتماد می‌کنند.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از این اسلاید برای گسترش نگاه مدیریت فراتر از اتوماسیون تولید استفاده کنید. تحقیق‌وتوسعه جایی است که مزیت اختصاصی زندگی می‌کند. اگر حافظه آزمایش‌ها را ثبت کنیم و به نتایج تولید وصل کنیم، شرکت می‌تواند پوشش‌ها و محصولات هیبرید بهتر را سریع‌تر توسعه دهد و از تکرار شکست‌های قدیمی جلوگیری 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برای اعتبار نزد تولید مهم است. بگویید ما سیستم جعبه‌سیاهی برای تغییر پارامتر ماشین پیشنهاد نمی‌کنیم. توالی درست، مشاهده، توضیح، پیش‌بینی، پیشنهاد و فقط خیلی بعدتر کنترل است. پایلوت اول در مراحل مشاهده و توضیح می‌ماند.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تحول کیفیت را به‌عنوان پیشگیری قاب‌بندی کنید، نه بازرسی بیشتر. شرکت آزمون‌ها و گواهی‌ها را دارد. گام بعدی وصل کردن آنها به علل فرایندی و مادی است. این مسیر عیوب تکراری را کم می‌کند و اعتماد مشتری را بالا می‌برد.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از یک اشتباه رایج جلوگیری می‌کند. اگر سیستم بازرسی وجود دارد، سریع‌ترین ارزش شاید استخراج عیوب باشد، نه آموزش مدل بینایی جدید. ابتدا باید قابلیت خروجی گرفتن، برچسب‌ها، اتصال به رول و تصمیم‌های اپراتور را بفهمیم. همین به‌تنهایی می‌تواند یک پایلوت ارزشمند بسازد.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بر ایمنی و اعتماد تاکید کنید. پلتفرم دانش فقط چت‌بات نیست. به اتصال‌گرها، پردازش سند، گراف دانش، بازیابی و حاکمیت نیاز دارد. قاعده کلیدی این است: بدون منبع، بدون پاسخ. این موضوع برای گواهی‌ها، استانداردها و ادعاهای فنی بسیار مهم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توالی را به‌صورت مجموعه‌ای از دروازه‌ها نشان دهید. اکنون بودجه پنج‌ساله نمی‌خواهیم. ۱۲ هفته اول را می‌خواهیم و سپس با نتایج آن درباره فاز بعد تصمیم می‌گیریم. این کار تحول را معتبر و قابل کنترل می‌کند.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از این اسلاید برای جلوگیری از هجوم ایده‌ها استفاده کنید. پروژه‌های AI زیادی ممکن است، اما پروژه‌های برتر همه دارایی داده مشترک می‌سازند. منطق این است: چیزهایی بسازیم که به چند واحد کمک کنند، نه دموی یک‌بار مصرف.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از دقت ساختگی دوری کنید. بگویید قبل از دیدن خط مبنای داخلی نباید صرفه‌جویی اختراع کنیم. کار پایلوت محاسبه استخر ارزش واقعی است. معادله مالی ساده است: ضایعات، دوباره‌کاری، زمان ریشه‌یابی، زمان رهاسازی و شکایات.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پیام کلیدی این است که تامین مالی یک اهرم است، نه پیش‌شرط. یک پایلوت کوچک داخلی شواهد ایجاد می‌کند و درخواست‌های گرنت را قوی‌تر می‌کند. همچنین روشن کنید که NRW MID-Digitalisierung در ۲۰۲۶ تغییر کرده و عمدتا برای محصولات دیجیتال قابل فروش است، پس نباید برای پایلوت فرایندی صرفا داخلی روی آن تکیه کنیم.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باید مدیریت را آرام‌تر کند. ریسک‌ها را پنهان نمی‌کنیم؛ پایلوت را طوری طراحی می‌کنیم که کنترل شوند. مهم‌ترین کنترل‌ها دسترسی فقط خواندنی، پاسخ‌های منبع‌دار، تایید انسانی و نبود کنترل ماشین در فاز ۱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اینجا جایی است که می‌توانید خودتان را جایگاه‌دهی کنید بدون اینکه ارائه خودمحور شود. شرکت به قهرمان AI نیاز دارد که بین کسب‌وکار، تحقیق‌وتوسعه، کیفیت، تولید و IT ترجمه کند. قهرمان جای مالکان وظیفه‌ای را نمی‌گیرد؛ تحول را هماهنگ می‌کند و آن را قابل اندازه‌گیری نگه می‌دارد.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از این برای بستن برنامه عملی استفاده کنید. ماه اول درباره واقعیت داده است. قبل از شناخت شناسه‌ها، خروجی‌ها، برچسب‌ها و خط مبنا نباید مدل وعده دهیم. تعهد اول مدیریت، دسترسی و مالکیت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یک حفاظ است. موفقیت را عملیاتی تعریف می‌کنیم: اتصال، بینش عیب، سرعت، ارزش کمّی، پذیرش و ایمنی. حتی اگر مدل پیش‌بینی اول ساده باشد، پایلوت موفق است اگر ستون داده را بسازد و زیان‌های قابل کنترل را شناسایی 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آرام و قاطع جمع‌بندی کنید. تایید پایلوت را بخواهید، نه حمایت مبهم. جمله آخر باید به‌عنوان نکته راهبردی بنشیند: ریسک، کوچک شروع کردن نیست؛ ریسک این است که مزیت دانشی شرکت در اسناد و حافظه افراد قفل بماند، در حالی که رقبا سریع‌تر یاد می‌گیرند.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پیوست است. لازم نیست آن را ارائه کنید مگر اینکه درباره شواهد پرسیده شود. نشان می‌دهد که ارائه از منابع عمومی شرکت و منابع فعلی تامین مالی ساخته شده و فرضیات داخلی نیازمند راستی‌آزمایی را جدا کرده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afd016daaf43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e1011c650340f3" /><Relationship Type="http://schemas.openxmlformats.org/officeDocument/2006/relationships/slideLayout" Target="/ppt/slideLayouts/slideLayout1.xml" Id="R1bb5c7eb89224b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b5c7eb89224b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237806ed064ba0" /><Relationship Type="http://schemas.openxmlformats.org/officeDocument/2006/relationships/image" Target="/ppt/media/image.jpeg" Id="Rd3b3423c817f4838" /><Relationship Type="http://schemas.openxmlformats.org/officeDocument/2006/relationships/notesSlide" Target="/ppt/notesSlides/notesSlide1.xml" Id="R3eeed036596e4d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6031a2f31047f6" /><Relationship Type="http://schemas.openxmlformats.org/officeDocument/2006/relationships/notesSlide" Target="/ppt/notesSlides/notesSlide2.xml" Id="R3f7bea23d1cb45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045b2971e84128" /><Relationship Type="http://schemas.openxmlformats.org/officeDocument/2006/relationships/notesSlide" Target="/ppt/notesSlides/notesSlide3.xml" Id="R87a8c85570144e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42817e2d194ff8" /><Relationship Type="http://schemas.openxmlformats.org/officeDocument/2006/relationships/image" Target="/ppt/media/image2.jpeg" Id="R18abe936d7ff4dca" /><Relationship Type="http://schemas.openxmlformats.org/officeDocument/2006/relationships/notesSlide" Target="/ppt/notesSlides/notesSlide4.xml" Id="R15bed0f63b2e45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8f1a831361442b" /><Relationship Type="http://schemas.openxmlformats.org/officeDocument/2006/relationships/notesSlide" Target="/ppt/notesSlides/notesSlide5.xml" Id="R5c585d706aa64c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f7c400c97346aa" /><Relationship Type="http://schemas.openxmlformats.org/officeDocument/2006/relationships/notesSlide" Target="/ppt/notesSlides/notesSlide6.xml" Id="R81037135ce734b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e800a11dde4cc9" /><Relationship Type="http://schemas.openxmlformats.org/officeDocument/2006/relationships/notesSlide" Target="/ppt/notesSlides/notesSlide7.xml" Id="Rbd9b9062d29d49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bd35407591462b" /><Relationship Type="http://schemas.openxmlformats.org/officeDocument/2006/relationships/notesSlide" Target="/ppt/notesSlides/notesSlide8.xml" Id="R5f491f9bde7b40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d7f357a196463a" /><Relationship Type="http://schemas.openxmlformats.org/officeDocument/2006/relationships/image" Target="/ppt/media/image3.jpeg" Id="R94e2a424819b42a8" /><Relationship Type="http://schemas.openxmlformats.org/officeDocument/2006/relationships/notesSlide" Target="/ppt/notesSlides/notesSlide9.xml" Id="Raa27ac737f7746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2ccf6ff652458b" /><Relationship Type="http://schemas.openxmlformats.org/officeDocument/2006/relationships/notesSlide" Target="/ppt/notesSlides/notesSlide10.xml" Id="R692d0df421b943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884ab4581e405b" /><Relationship Type="http://schemas.openxmlformats.org/officeDocument/2006/relationships/notesSlide" Target="/ppt/notesSlides/notesSlide11.xml" Id="Ra8d11d5d127b4a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4ca447585444f6" /><Relationship Type="http://schemas.openxmlformats.org/officeDocument/2006/relationships/image" Target="/ppt/media/image4.jpeg" Id="R83b9bc29248a445b" /><Relationship Type="http://schemas.openxmlformats.org/officeDocument/2006/relationships/notesSlide" Target="/ppt/notesSlides/notesSlide12.xml" Id="R893b85b5a7ae4c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15c3052b7a4ab3" /><Relationship Type="http://schemas.openxmlformats.org/officeDocument/2006/relationships/notesSlide" Target="/ppt/notesSlides/notesSlide13.xml" Id="R425504f9c5824f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10c580f5ac4fe6" /><Relationship Type="http://schemas.openxmlformats.org/officeDocument/2006/relationships/notesSlide" Target="/ppt/notesSlides/notesSlide14.xml" Id="R58d441a225f34c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64d613e58f4add" /><Relationship Type="http://schemas.openxmlformats.org/officeDocument/2006/relationships/notesSlide" Target="/ppt/notesSlides/notesSlide15.xml" Id="Ra81f400bc7ff46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ee07088ddc4c09" /><Relationship Type="http://schemas.openxmlformats.org/officeDocument/2006/relationships/notesSlide" Target="/ppt/notesSlides/notesSlide16.xml" Id="Rf0301211bc9f4d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e7ef571d3ab4177" /><Relationship Type="http://schemas.openxmlformats.org/officeDocument/2006/relationships/notesSlide" Target="/ppt/notesSlides/notesSlide17.xml" Id="R9f093812c14042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b5ce6271f574da4" /><Relationship Type="http://schemas.openxmlformats.org/officeDocument/2006/relationships/notesSlide" Target="/ppt/notesSlides/notesSlide18.xml" Id="R83ee23b2d4504d0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b30ae3f3e7a47af" /><Relationship Type="http://schemas.openxmlformats.org/officeDocument/2006/relationships/notesSlide" Target="/ppt/notesSlides/notesSlide19.xml" Id="R6eb37307728f44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2459d9deb204186" /><Relationship Type="http://schemas.openxmlformats.org/officeDocument/2006/relationships/notesSlide" Target="/ppt/notesSlides/notesSlide20.xml" Id="R07e098333fe548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57a16890c204254" /><Relationship Type="http://schemas.openxmlformats.org/officeDocument/2006/relationships/notesSlide" Target="/ppt/notesSlides/notesSlide21.xml" Id="R94d9ee5b52194ca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a3e28df058341c1" /><Relationship Type="http://schemas.openxmlformats.org/officeDocument/2006/relationships/image" Target="/ppt/media/image5.jpeg" Id="R9ecedbe270bd40aa" /><Relationship Type="http://schemas.openxmlformats.org/officeDocument/2006/relationships/notesSlide" Target="/ppt/notesSlides/notesSlide22.xml" Id="Rcd098593f4dc44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2d8e6c28099416d" /><Relationship Type="http://schemas.openxmlformats.org/officeDocument/2006/relationships/notesSlide" Target="/ppt/notesSlides/notesSlide23.xml" Id="Re8ca94b1d023437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3b3423c817f483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E94C96-9270-4D54-8FB2-A2A730FEEE23}"/>
              </a:ext>
            </a:extLst>
          </p:cNvPr>
          <p:cNvSpPr>
            <a:spLocks xmlns:a="http://schemas.openxmlformats.org/drawingml/2006/main" noGrp="1"/>
          </p:cNvSpPr>
          <p:nvPr/>
        </p:nvSpPr>
        <p:spPr>
          <a:xfrm xmlns:a="http://schemas.openxmlformats.org/drawingml/2006/main">
            <a:off x="0" y="0"/>
            <a:ext cx="7143750" cy="685800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809CB1-1763-410C-941B-16580E3AF06E}"/>
              </a:ext>
            </a:extLst>
          </p:cNvPr>
          <p:cNvSpPr>
            <a:spLocks xmlns:a="http://schemas.openxmlformats.org/drawingml/2006/main" noGrp="1"/>
          </p:cNvSpPr>
          <p:nvPr/>
        </p:nvSpPr>
        <p:spPr>
          <a:xfrm xmlns:a="http://schemas.openxmlformats.org/drawingml/2006/main">
            <a:off x="533400" y="742950"/>
            <a:ext cx="5429250" cy="381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255266C-6C82-426B-9EAA-A775B3991B89}"/>
              </a:ext>
            </a:extLst>
          </p:cNvPr>
          <p:cNvSpPr>
            <a:spLocks xmlns:a="http://schemas.openxmlformats.org/drawingml/2006/main" noGrp="1"/>
          </p:cNvSpPr>
          <p:nvPr/>
        </p:nvSpPr>
        <p:spPr>
          <a:xfrm xmlns:a="http://schemas.openxmlformats.org/drawingml/2006/main">
            <a:off x="552450" y="1143000"/>
            <a:ext cx="581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3750" b="1">
                <a:solidFill>
                  <a:srgbClr val="FFFFFF"/>
                </a:solidFill>
                <a:latin typeface="Tahoma"/>
                <a:ea typeface="Tahoma"/>
                <a:cs typeface="Tahoma"/>
              </a:defRPr>
            </a:pPr>
            <a:r>
              <a:rPr sz="3750" b="1">
                <a:solidFill>
                  <a:srgbClr val="FFFFFF"/>
                </a:solidFill>
                <a:latin typeface="Tahoma"/>
                <a:ea typeface="Tahoma"/>
                <a:cs typeface="Tahoma"/>
              </a:rPr>
              <a:t>‏استراتژی تحول هوش مصنوعی</a:t>
            </a:r>
          </a:p>
        </p:txBody>
      </p:sp>
      <p:sp>
        <p:nvSpPr>
          <p:cNvPr id="5" name="">
            <a:extLst xmlns:a="http://schemas.openxmlformats.org/drawingml/2006/main">
              <a:ext uri="{FF2B5EF4-FFF2-40B4-BE49-F238E27FC236}">
                <a16:creationId xmlns:a16="http://schemas.microsoft.com/office/drawing/2014/main" id="{2DE203EF-011D-4254-BA80-712C406F1DB2}"/>
              </a:ext>
            </a:extLst>
          </p:cNvPr>
          <p:cNvSpPr>
            <a:spLocks xmlns:a="http://schemas.openxmlformats.org/drawingml/2006/main" noGrp="1"/>
          </p:cNvSpPr>
          <p:nvPr/>
        </p:nvSpPr>
        <p:spPr>
          <a:xfrm xmlns:a="http://schemas.openxmlformats.org/drawingml/2006/main">
            <a:off x="571500" y="2552700"/>
            <a:ext cx="533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800" b="0">
                <a:solidFill>
                  <a:srgbClr val="FFFFFF"/>
                </a:solidFill>
                <a:latin typeface="Tahoma"/>
                <a:ea typeface="Tahoma"/>
                <a:cs typeface="Tahoma"/>
              </a:defRPr>
            </a:pPr>
            <a:r>
              <a:rPr sz="1800" b="0">
                <a:solidFill>
                  <a:srgbClr val="FFFFFF"/>
                </a:solidFill>
                <a:latin typeface="Tahoma"/>
                <a:ea typeface="Tahoma"/>
                <a:cs typeface="Tahoma"/>
              </a:rPr>
              <a:t>‏تبدیل دانش فنی منسوجات صنعتی به مزیت قابل اندازه‌گیری با هوش مصنوعی</a:t>
            </a:r>
          </a:p>
        </p:txBody>
      </p:sp>
      <p:sp>
        <p:nvSpPr>
          <p:cNvPr id="6" name="">
            <a:extLst xmlns:a="http://schemas.openxmlformats.org/drawingml/2006/main">
              <a:ext uri="{FF2B5EF4-FFF2-40B4-BE49-F238E27FC236}">
                <a16:creationId xmlns:a16="http://schemas.microsoft.com/office/drawing/2014/main" id="{2D56D080-91EB-4923-BBB9-5B12840B69D0}"/>
              </a:ext>
            </a:extLst>
          </p:cNvPr>
          <p:cNvSpPr>
            <a:spLocks xmlns:a="http://schemas.openxmlformats.org/drawingml/2006/main" noGrp="1"/>
          </p:cNvSpPr>
          <p:nvPr/>
        </p:nvSpPr>
        <p:spPr>
          <a:xfrm xmlns:a="http://schemas.openxmlformats.org/drawingml/2006/main">
            <a:off x="552450" y="53340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latin typeface="Tahoma"/>
                <a:ea typeface="Tahoma"/>
                <a:cs typeface="Tahoma"/>
              </a:defRPr>
            </a:pPr>
            <a:r>
              <a:rPr sz="1350" b="1">
                <a:solidFill>
                  <a:srgbClr val="FFFFFF"/>
                </a:solidFill>
                <a:latin typeface="Tahoma"/>
                <a:ea typeface="Tahoma"/>
                <a:cs typeface="Tahoma"/>
              </a:rPr>
              <a:t>Darmstaedter GmbH + Klevers GmbH &amp; Co. KG</a:t>
            </a:r>
          </a:p>
        </p:txBody>
      </p:sp>
      <p:sp>
        <p:nvSpPr>
          <p:cNvPr id="7" name="">
            <a:extLst xmlns:a="http://schemas.openxmlformats.org/drawingml/2006/main">
              <a:ext uri="{FF2B5EF4-FFF2-40B4-BE49-F238E27FC236}">
                <a16:creationId xmlns:a16="http://schemas.microsoft.com/office/drawing/2014/main" id="{F96A9D79-68B1-48E3-AEAD-058A7F303337}"/>
              </a:ext>
            </a:extLst>
          </p:cNvPr>
          <p:cNvSpPr>
            <a:spLocks xmlns:a="http://schemas.openxmlformats.org/drawingml/2006/main" noGrp="1"/>
          </p:cNvSpPr>
          <p:nvPr/>
        </p:nvSpPr>
        <p:spPr>
          <a:xfrm xmlns:a="http://schemas.openxmlformats.org/drawingml/2006/main">
            <a:off x="552450" y="5638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EDEDED"/>
                </a:solidFill>
                <a:latin typeface="Tahoma"/>
                <a:ea typeface="Tahoma"/>
                <a:cs typeface="Tahoma"/>
              </a:defRPr>
            </a:pPr>
            <a:r>
              <a:rPr sz="1050" b="0">
                <a:solidFill>
                  <a:srgbClr val="EDEDED"/>
                </a:solidFill>
                <a:latin typeface="Tahoma"/>
                <a:ea typeface="Tahoma"/>
                <a:cs typeface="Tahoma"/>
              </a:rPr>
              <a:t>‏جلسه هیئت‌مدیره | ۲۰۲۶</a:t>
            </a:r>
          </a:p>
        </p:txBody>
      </p:sp>
      <p:sp>
        <p:nvSpPr>
          <p:cNvPr id="8" name="">
            <a:extLst xmlns:a="http://schemas.openxmlformats.org/drawingml/2006/main">
              <a:ext uri="{FF2B5EF4-FFF2-40B4-BE49-F238E27FC236}">
                <a16:creationId xmlns:a16="http://schemas.microsoft.com/office/drawing/2014/main" id="{8609858A-3D8E-4FB8-B4A3-C1494FB9D38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9" name="">
            <a:extLst xmlns:a="http://schemas.openxmlformats.org/drawingml/2006/main">
              <a:ext uri="{FF2B5EF4-FFF2-40B4-BE49-F238E27FC236}">
                <a16:creationId xmlns:a16="http://schemas.microsoft.com/office/drawing/2014/main" id="{7D09B80C-5D3A-4255-BB48-C5B0E76074DE}"/>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latin typeface="Tahoma"/>
                <a:ea typeface="Tahoma"/>
                <a:cs typeface="Tahoma"/>
              </a:defRPr>
            </a:pPr>
            <a:r>
              <a:rPr sz="675" b="0">
                <a:solidFill>
                  <a:srgbClr val="777777"/>
                </a:solidFill>
                <a:latin typeface="Tahoma"/>
                <a:ea typeface="Tahoma"/>
                <a:cs typeface="Tahoma"/>
              </a:rPr>
              <a:t>‏منبع تصویر: کتابخانه رسانه‌ای عمومی Darmstaedter</a:t>
            </a:r>
          </a:p>
        </p:txBody>
      </p:sp>
      <p:sp>
        <p:nvSpPr>
          <p:cNvPr id="10" name="">
            <a:extLst xmlns:a="http://schemas.openxmlformats.org/drawingml/2006/main">
              <a:ext uri="{FF2B5EF4-FFF2-40B4-BE49-F238E27FC236}">
                <a16:creationId xmlns:a16="http://schemas.microsoft.com/office/drawing/2014/main" id="{0337E4B9-FF87-4DC1-8246-726517CC2B4A}"/>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01</a:t>
            </a:r>
          </a:p>
        </p:txBody>
      </p:sp>
    </p:spTree>
    <p:extLst>
      <p:ext uri="{BB962C8B-B14F-4D97-AF65-F5344CB8AC3E}">
        <p14:creationId xmlns:p14="http://schemas.microsoft.com/office/powerpoint/2010/main" val="8473043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402FFD-1842-47E2-8D45-9670A5A28F79}"/>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‏درخواست اجرایی</a:t>
            </a:r>
          </a:p>
        </p:txBody>
      </p:sp>
      <p:sp>
        <p:nvSpPr>
          <p:cNvPr id="2" name="">
            <a:extLst xmlns:a="http://schemas.openxmlformats.org/drawingml/2006/main">
              <a:ext uri="{FF2B5EF4-FFF2-40B4-BE49-F238E27FC236}">
                <a16:creationId xmlns:a16="http://schemas.microsoft.com/office/drawing/2014/main" id="{4151D8DF-5739-4CA5-AA0C-8BB2C678C913}"/>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‏تصمیم امروز کوچک است، اما اهمیت راهبردی دارد</a:t>
            </a:r>
          </a:p>
        </p:txBody>
      </p:sp>
      <p:sp>
        <p:nvSpPr>
          <p:cNvPr id="3" name="">
            <a:extLst xmlns:a="http://schemas.openxmlformats.org/drawingml/2006/main">
              <a:ext uri="{FF2B5EF4-FFF2-40B4-BE49-F238E27FC236}">
                <a16:creationId xmlns:a16="http://schemas.microsoft.com/office/drawing/2014/main" id="{1B74AD88-A636-436A-972A-9A08DCFCAFAA}"/>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‏یک پایلوت محدود را تصویب کنید که ستون داده برای تحول بعدی AI را می‌سازد.</a:t>
            </a:r>
          </a:p>
        </p:txBody>
      </p:sp>
      <p:sp>
        <p:nvSpPr>
          <p:cNvPr id="4" name="">
            <a:extLst xmlns:a="http://schemas.openxmlformats.org/drawingml/2006/main">
              <a:ext uri="{FF2B5EF4-FFF2-40B4-BE49-F238E27FC236}">
                <a16:creationId xmlns:a16="http://schemas.microsoft.com/office/drawing/2014/main" id="{BE9B60C0-DDD7-46CD-B2CA-BBE420F5E24E}"/>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BC9FDE5C-A7FA-4B41-918F-9A39DEC621FA}"/>
              </a:ext>
            </a:extLst>
          </p:cNvPr>
          <p:cNvSpPr>
            <a:spLocks xmlns:a="http://schemas.openxmlformats.org/drawingml/2006/main" noGrp="1"/>
          </p:cNvSpPr>
          <p:nvPr/>
        </p:nvSpPr>
        <p:spPr>
          <a:xfrm xmlns:a="http://schemas.openxmlformats.org/drawingml/2006/main">
            <a:off x="6667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D75DAD47-61A2-4299-8DCB-F9B7FB9A91B5}"/>
              </a:ext>
            </a:extLst>
          </p:cNvPr>
          <p:cNvSpPr>
            <a:spLocks xmlns:a="http://schemas.openxmlformats.org/drawingml/2006/main" noGrp="1"/>
          </p:cNvSpPr>
          <p:nvPr/>
        </p:nvSpPr>
        <p:spPr>
          <a:xfrm xmlns:a="http://schemas.openxmlformats.org/drawingml/2006/main">
            <a:off x="666750" y="2209800"/>
            <a:ext cx="57150" cy="1257300"/>
          </a:xfrm>
          <a:prstGeom xmlns:a="http://schemas.openxmlformats.org/drawingml/2006/main" prst="rect">
            <a:avLst/>
          </a:prstGeom>
          <a:solidFill xmlns:a="http://schemas.openxmlformats.org/drawingml/2006/main">
            <a:srgbClr val="F39200"/>
          </a:solidFill>
          <a:ln xmlns:a="http://schemas.openxmlformats.org/drawingml/2006/main" w="0">
            <a:solidFill>
              <a:srgbClr val="F39200"/>
            </a:solidFill>
            <a:prstDash val="solid"/>
          </a:ln>
        </p:spPr>
      </p:sp>
      <p:sp>
        <p:nvSpPr>
          <p:cNvPr id="7" name="">
            <a:extLst xmlns:a="http://schemas.openxmlformats.org/drawingml/2006/main">
              <a:ext uri="{FF2B5EF4-FFF2-40B4-BE49-F238E27FC236}">
                <a16:creationId xmlns:a16="http://schemas.microsoft.com/office/drawing/2014/main" id="{AED9E261-B844-4A44-9C35-E63575B6F193}"/>
              </a:ext>
            </a:extLst>
          </p:cNvPr>
          <p:cNvSpPr>
            <a:spLocks xmlns:a="http://schemas.openxmlformats.org/drawingml/2006/main" noGrp="1"/>
          </p:cNvSpPr>
          <p:nvPr/>
        </p:nvSpPr>
        <p:spPr>
          <a:xfrm xmlns:a="http://schemas.openxmlformats.org/drawingml/2006/main">
            <a:off x="8763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550" b="1">
                <a:solidFill>
                  <a:srgbClr val="111111"/>
                </a:solidFill>
                <a:latin typeface="Tahoma"/>
                <a:ea typeface="Tahoma"/>
                <a:cs typeface="Tahoma"/>
              </a:defRPr>
            </a:pPr>
            <a:r>
              <a:rPr sz="2550" b="1">
                <a:solidFill>
                  <a:srgbClr val="111111"/>
                </a:solidFill>
                <a:latin typeface="Tahoma"/>
                <a:ea typeface="Tahoma"/>
                <a:cs typeface="Tahoma"/>
              </a:rPr>
              <a:t>‏۱۲ هفته</a:t>
            </a:r>
          </a:p>
        </p:txBody>
      </p:sp>
      <p:sp>
        <p:nvSpPr>
          <p:cNvPr id="8" name="">
            <a:extLst xmlns:a="http://schemas.openxmlformats.org/drawingml/2006/main">
              <a:ext uri="{FF2B5EF4-FFF2-40B4-BE49-F238E27FC236}">
                <a16:creationId xmlns:a16="http://schemas.microsoft.com/office/drawing/2014/main" id="{A81C1A9A-892A-4054-AE53-CBE3B0AD77D3}"/>
              </a:ext>
            </a:extLst>
          </p:cNvPr>
          <p:cNvSpPr>
            <a:spLocks xmlns:a="http://schemas.openxmlformats.org/drawingml/2006/main" noGrp="1"/>
          </p:cNvSpPr>
          <p:nvPr/>
        </p:nvSpPr>
        <p:spPr>
          <a:xfrm xmlns:a="http://schemas.openxmlformats.org/drawingml/2006/main">
            <a:off x="8763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111111"/>
                </a:solidFill>
                <a:latin typeface="Tahoma"/>
                <a:ea typeface="Tahoma"/>
                <a:cs typeface="Tahoma"/>
              </a:defRPr>
            </a:pPr>
            <a:r>
              <a:rPr sz="1200" b="1">
                <a:solidFill>
                  <a:srgbClr val="111111"/>
                </a:solidFill>
                <a:latin typeface="Tahoma"/>
                <a:ea typeface="Tahoma"/>
                <a:cs typeface="Tahoma"/>
              </a:rPr>
              <a:t>‏مدت پایلوت</a:t>
            </a:r>
          </a:p>
        </p:txBody>
      </p:sp>
      <p:sp>
        <p:nvSpPr>
          <p:cNvPr id="9" name="">
            <a:extLst xmlns:a="http://schemas.openxmlformats.org/drawingml/2006/main">
              <a:ext uri="{FF2B5EF4-FFF2-40B4-BE49-F238E27FC236}">
                <a16:creationId xmlns:a16="http://schemas.microsoft.com/office/drawing/2014/main" id="{5620AC6E-3E68-40A5-BC58-21E973D74394}"/>
              </a:ext>
            </a:extLst>
          </p:cNvPr>
          <p:cNvSpPr>
            <a:spLocks xmlns:a="http://schemas.openxmlformats.org/drawingml/2006/main" noGrp="1"/>
          </p:cNvSpPr>
          <p:nvPr/>
        </p:nvSpPr>
        <p:spPr>
          <a:xfrm xmlns:a="http://schemas.openxmlformats.org/drawingml/2006/main">
            <a:off x="8763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‏کشف داده و تحلیل فقط خواندنی</a:t>
            </a:r>
          </a:p>
        </p:txBody>
      </p:sp>
      <p:sp>
        <p:nvSpPr>
          <p:cNvPr id="10" name="">
            <a:extLst xmlns:a="http://schemas.openxmlformats.org/drawingml/2006/main">
              <a:ext uri="{FF2B5EF4-FFF2-40B4-BE49-F238E27FC236}">
                <a16:creationId xmlns:a16="http://schemas.microsoft.com/office/drawing/2014/main" id="{CEEF1329-32F5-40A8-832F-6BC8C5DE63EE}"/>
              </a:ext>
            </a:extLst>
          </p:cNvPr>
          <p:cNvSpPr>
            <a:spLocks xmlns:a="http://schemas.openxmlformats.org/drawingml/2006/main" noGrp="1"/>
          </p:cNvSpPr>
          <p:nvPr/>
        </p:nvSpPr>
        <p:spPr>
          <a:xfrm xmlns:a="http://schemas.openxmlformats.org/drawingml/2006/main">
            <a:off x="33718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1" name="">
            <a:extLst xmlns:a="http://schemas.openxmlformats.org/drawingml/2006/main">
              <a:ext uri="{FF2B5EF4-FFF2-40B4-BE49-F238E27FC236}">
                <a16:creationId xmlns:a16="http://schemas.microsoft.com/office/drawing/2014/main" id="{87E1FBD3-6095-447A-9AF4-277E93EC4C22}"/>
              </a:ext>
            </a:extLst>
          </p:cNvPr>
          <p:cNvSpPr>
            <a:spLocks xmlns:a="http://schemas.openxmlformats.org/drawingml/2006/main" noGrp="1"/>
          </p:cNvSpPr>
          <p:nvPr/>
        </p:nvSpPr>
        <p:spPr>
          <a:xfrm xmlns:a="http://schemas.openxmlformats.org/drawingml/2006/main">
            <a:off x="3371850" y="2209800"/>
            <a:ext cx="57150" cy="1257300"/>
          </a:xfrm>
          <a:prstGeom xmlns:a="http://schemas.openxmlformats.org/drawingml/2006/main" prst="rect">
            <a:avLst/>
          </a:prstGeom>
          <a:solidFill xmlns:a="http://schemas.openxmlformats.org/drawingml/2006/main">
            <a:srgbClr val="F39200"/>
          </a:solidFill>
          <a:ln xmlns:a="http://schemas.openxmlformats.org/drawingml/2006/main" w="0">
            <a:solidFill>
              <a:srgbClr val="F39200"/>
            </a:solidFill>
            <a:prstDash val="solid"/>
          </a:ln>
        </p:spPr>
      </p:sp>
      <p:sp>
        <p:nvSpPr>
          <p:cNvPr id="12" name="">
            <a:extLst xmlns:a="http://schemas.openxmlformats.org/drawingml/2006/main">
              <a:ext uri="{FF2B5EF4-FFF2-40B4-BE49-F238E27FC236}">
                <a16:creationId xmlns:a16="http://schemas.microsoft.com/office/drawing/2014/main" id="{770650A3-64FF-4003-9A84-E2E94E41BC1F}"/>
              </a:ext>
            </a:extLst>
          </p:cNvPr>
          <p:cNvSpPr>
            <a:spLocks xmlns:a="http://schemas.openxmlformats.org/drawingml/2006/main" noGrp="1"/>
          </p:cNvSpPr>
          <p:nvPr/>
        </p:nvSpPr>
        <p:spPr>
          <a:xfrm xmlns:a="http://schemas.openxmlformats.org/drawingml/2006/main">
            <a:off x="35814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550" b="1">
                <a:solidFill>
                  <a:srgbClr val="111111"/>
                </a:solidFill>
                <a:latin typeface="Tahoma"/>
                <a:ea typeface="Tahoma"/>
                <a:cs typeface="Tahoma"/>
              </a:defRPr>
            </a:pPr>
            <a:r>
              <a:rPr sz="2550" b="1">
                <a:solidFill>
                  <a:srgbClr val="111111"/>
                </a:solidFill>
                <a:latin typeface="Tahoma"/>
                <a:ea typeface="Tahoma"/>
                <a:cs typeface="Tahoma"/>
              </a:rPr>
              <a:t>‏۲۵ تا ۷۵ هزار یورو</a:t>
            </a:r>
          </a:p>
        </p:txBody>
      </p:sp>
      <p:sp>
        <p:nvSpPr>
          <p:cNvPr id="13" name="">
            <a:extLst xmlns:a="http://schemas.openxmlformats.org/drawingml/2006/main">
              <a:ext uri="{FF2B5EF4-FFF2-40B4-BE49-F238E27FC236}">
                <a16:creationId xmlns:a16="http://schemas.microsoft.com/office/drawing/2014/main" id="{3D518380-B62E-47D8-861D-36A608929EF2}"/>
              </a:ext>
            </a:extLst>
          </p:cNvPr>
          <p:cNvSpPr>
            <a:spLocks xmlns:a="http://schemas.openxmlformats.org/drawingml/2006/main" noGrp="1"/>
          </p:cNvSpPr>
          <p:nvPr/>
        </p:nvSpPr>
        <p:spPr>
          <a:xfrm xmlns:a="http://schemas.openxmlformats.org/drawingml/2006/main">
            <a:off x="35814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111111"/>
                </a:solidFill>
                <a:latin typeface="Tahoma"/>
                <a:ea typeface="Tahoma"/>
                <a:cs typeface="Tahoma"/>
              </a:defRPr>
            </a:pPr>
            <a:r>
              <a:rPr sz="1200" b="1">
                <a:solidFill>
                  <a:srgbClr val="111111"/>
                </a:solidFill>
                <a:latin typeface="Tahoma"/>
                <a:ea typeface="Tahoma"/>
                <a:cs typeface="Tahoma"/>
              </a:rPr>
              <a:t>‏محدوده بودجه اولیه</a:t>
            </a:r>
          </a:p>
        </p:txBody>
      </p:sp>
      <p:sp>
        <p:nvSpPr>
          <p:cNvPr id="14" name="">
            <a:extLst xmlns:a="http://schemas.openxmlformats.org/drawingml/2006/main">
              <a:ext uri="{FF2B5EF4-FFF2-40B4-BE49-F238E27FC236}">
                <a16:creationId xmlns:a16="http://schemas.microsoft.com/office/drawing/2014/main" id="{D1D6D7C7-412D-4837-9160-5C0268ACF102}"/>
              </a:ext>
            </a:extLst>
          </p:cNvPr>
          <p:cNvSpPr>
            <a:spLocks xmlns:a="http://schemas.openxmlformats.org/drawingml/2006/main" noGrp="1"/>
          </p:cNvSpPr>
          <p:nvPr/>
        </p:nvSpPr>
        <p:spPr>
          <a:xfrm xmlns:a="http://schemas.openxmlformats.org/drawingml/2006/main">
            <a:off x="35814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‏نهایی‌سازی پس از ممیزی دو هفته‌ای داده</a:t>
            </a:r>
          </a:p>
        </p:txBody>
      </p:sp>
      <p:sp>
        <p:nvSpPr>
          <p:cNvPr id="15" name="">
            <a:extLst xmlns:a="http://schemas.openxmlformats.org/drawingml/2006/main">
              <a:ext uri="{FF2B5EF4-FFF2-40B4-BE49-F238E27FC236}">
                <a16:creationId xmlns:a16="http://schemas.microsoft.com/office/drawing/2014/main" id="{347B00B4-AF66-499D-8B5C-A8575661135E}"/>
              </a:ext>
            </a:extLst>
          </p:cNvPr>
          <p:cNvSpPr>
            <a:spLocks xmlns:a="http://schemas.openxmlformats.org/drawingml/2006/main" noGrp="1"/>
          </p:cNvSpPr>
          <p:nvPr/>
        </p:nvSpPr>
        <p:spPr>
          <a:xfrm xmlns:a="http://schemas.openxmlformats.org/drawingml/2006/main">
            <a:off x="60769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961BF158-BDDC-4ACB-88B6-55C1DFDECA1C}"/>
              </a:ext>
            </a:extLst>
          </p:cNvPr>
          <p:cNvSpPr>
            <a:spLocks xmlns:a="http://schemas.openxmlformats.org/drawingml/2006/main" noGrp="1"/>
          </p:cNvSpPr>
          <p:nvPr/>
        </p:nvSpPr>
        <p:spPr>
          <a:xfrm xmlns:a="http://schemas.openxmlformats.org/drawingml/2006/main">
            <a:off x="6076950" y="2209800"/>
            <a:ext cx="57150" cy="1257300"/>
          </a:xfrm>
          <a:prstGeom xmlns:a="http://schemas.openxmlformats.org/drawingml/2006/main" prst="rect">
            <a:avLst/>
          </a:prstGeom>
          <a:solidFill xmlns:a="http://schemas.openxmlformats.org/drawingml/2006/main">
            <a:srgbClr val="F39200"/>
          </a:solidFill>
          <a:ln xmlns:a="http://schemas.openxmlformats.org/drawingml/2006/main" w="0">
            <a:solidFill>
              <a:srgbClr val="F39200"/>
            </a:solidFill>
            <a:prstDash val="solid"/>
          </a:ln>
        </p:spPr>
      </p:sp>
      <p:sp>
        <p:nvSpPr>
          <p:cNvPr id="17" name="">
            <a:extLst xmlns:a="http://schemas.openxmlformats.org/drawingml/2006/main">
              <a:ext uri="{FF2B5EF4-FFF2-40B4-BE49-F238E27FC236}">
                <a16:creationId xmlns:a16="http://schemas.microsoft.com/office/drawing/2014/main" id="{CA1B99B0-2C48-4A0D-918A-FB7F3A73FC6E}"/>
              </a:ext>
            </a:extLst>
          </p:cNvPr>
          <p:cNvSpPr>
            <a:spLocks xmlns:a="http://schemas.openxmlformats.org/drawingml/2006/main" noGrp="1"/>
          </p:cNvSpPr>
          <p:nvPr/>
        </p:nvSpPr>
        <p:spPr>
          <a:xfrm xmlns:a="http://schemas.openxmlformats.org/drawingml/2006/main">
            <a:off x="62865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550" b="1">
                <a:solidFill>
                  <a:srgbClr val="111111"/>
                </a:solidFill>
                <a:latin typeface="Tahoma"/>
                <a:ea typeface="Tahoma"/>
                <a:cs typeface="Tahoma"/>
              </a:defRPr>
            </a:pPr>
            <a:r>
              <a:rPr sz="2550" b="1">
                <a:solidFill>
                  <a:srgbClr val="111111"/>
                </a:solidFill>
                <a:latin typeface="Tahoma"/>
                <a:ea typeface="Tahoma"/>
                <a:cs typeface="Tahoma"/>
              </a:rPr>
              <a:t>‏هزینه کیفیت</a:t>
            </a:r>
          </a:p>
        </p:txBody>
      </p:sp>
      <p:sp>
        <p:nvSpPr>
          <p:cNvPr id="18" name="">
            <a:extLst xmlns:a="http://schemas.openxmlformats.org/drawingml/2006/main">
              <a:ext uri="{FF2B5EF4-FFF2-40B4-BE49-F238E27FC236}">
                <a16:creationId xmlns:a16="http://schemas.microsoft.com/office/drawing/2014/main" id="{BD09E339-1CAF-45E8-92A6-838BC3EA8501}"/>
              </a:ext>
            </a:extLst>
          </p:cNvPr>
          <p:cNvSpPr>
            <a:spLocks xmlns:a="http://schemas.openxmlformats.org/drawingml/2006/main" noGrp="1"/>
          </p:cNvSpPr>
          <p:nvPr/>
        </p:nvSpPr>
        <p:spPr>
          <a:xfrm xmlns:a="http://schemas.openxmlformats.org/drawingml/2006/main">
            <a:off x="62865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111111"/>
                </a:solidFill>
                <a:latin typeface="Tahoma"/>
                <a:ea typeface="Tahoma"/>
                <a:cs typeface="Tahoma"/>
              </a:defRPr>
            </a:pPr>
            <a:r>
              <a:rPr sz="1200" b="1">
                <a:solidFill>
                  <a:srgbClr val="111111"/>
                </a:solidFill>
                <a:latin typeface="Tahoma"/>
                <a:ea typeface="Tahoma"/>
                <a:cs typeface="Tahoma"/>
              </a:rPr>
              <a:t>‏هدف کسب‌وکار</a:t>
            </a:r>
          </a:p>
        </p:txBody>
      </p:sp>
      <p:sp>
        <p:nvSpPr>
          <p:cNvPr id="19" name="">
            <a:extLst xmlns:a="http://schemas.openxmlformats.org/drawingml/2006/main">
              <a:ext uri="{FF2B5EF4-FFF2-40B4-BE49-F238E27FC236}">
                <a16:creationId xmlns:a16="http://schemas.microsoft.com/office/drawing/2014/main" id="{2A3222EA-094D-4153-BC23-2F75A10DF9CD}"/>
              </a:ext>
            </a:extLst>
          </p:cNvPr>
          <p:cNvSpPr>
            <a:spLocks xmlns:a="http://schemas.openxmlformats.org/drawingml/2006/main" noGrp="1"/>
          </p:cNvSpPr>
          <p:nvPr/>
        </p:nvSpPr>
        <p:spPr>
          <a:xfrm xmlns:a="http://schemas.openxmlformats.org/drawingml/2006/main">
            <a:off x="62865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‏ضایعات، دوباره‌کاری، عیوب تکراری، شکایات</a:t>
            </a:r>
          </a:p>
        </p:txBody>
      </p:sp>
      <p:sp>
        <p:nvSpPr>
          <p:cNvPr id="20" name="">
            <a:extLst xmlns:a="http://schemas.openxmlformats.org/drawingml/2006/main">
              <a:ext uri="{FF2B5EF4-FFF2-40B4-BE49-F238E27FC236}">
                <a16:creationId xmlns:a16="http://schemas.microsoft.com/office/drawing/2014/main" id="{9A464362-6EB3-44E9-9F0F-226BF3C69595}"/>
              </a:ext>
            </a:extLst>
          </p:cNvPr>
          <p:cNvSpPr>
            <a:spLocks xmlns:a="http://schemas.openxmlformats.org/drawingml/2006/main" noGrp="1"/>
          </p:cNvSpPr>
          <p:nvPr/>
        </p:nvSpPr>
        <p:spPr>
          <a:xfrm xmlns:a="http://schemas.openxmlformats.org/drawingml/2006/main">
            <a:off x="8782050" y="2209800"/>
            <a:ext cx="2381250" cy="1257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1" name="">
            <a:extLst xmlns:a="http://schemas.openxmlformats.org/drawingml/2006/main">
              <a:ext uri="{FF2B5EF4-FFF2-40B4-BE49-F238E27FC236}">
                <a16:creationId xmlns:a16="http://schemas.microsoft.com/office/drawing/2014/main" id="{078EEB30-C19A-47AC-BFDB-B20F30FEF0BD}"/>
              </a:ext>
            </a:extLst>
          </p:cNvPr>
          <p:cNvSpPr>
            <a:spLocks xmlns:a="http://schemas.openxmlformats.org/drawingml/2006/main" noGrp="1"/>
          </p:cNvSpPr>
          <p:nvPr/>
        </p:nvSpPr>
        <p:spPr>
          <a:xfrm xmlns:a="http://schemas.openxmlformats.org/drawingml/2006/main">
            <a:off x="8782050" y="2209800"/>
            <a:ext cx="57150" cy="1257300"/>
          </a:xfrm>
          <a:prstGeom xmlns:a="http://schemas.openxmlformats.org/drawingml/2006/main" prst="rect">
            <a:avLst/>
          </a:prstGeom>
          <a:solidFill xmlns:a="http://schemas.openxmlformats.org/drawingml/2006/main">
            <a:srgbClr val="167C3E"/>
          </a:solidFill>
          <a:ln xmlns:a="http://schemas.openxmlformats.org/drawingml/2006/main" w="0">
            <a:solidFill>
              <a:srgbClr val="167C3E"/>
            </a:solidFill>
            <a:prstDash val="solid"/>
          </a:ln>
        </p:spPr>
      </p:sp>
      <p:sp>
        <p:nvSpPr>
          <p:cNvPr id="22" name="">
            <a:extLst xmlns:a="http://schemas.openxmlformats.org/drawingml/2006/main">
              <a:ext uri="{FF2B5EF4-FFF2-40B4-BE49-F238E27FC236}">
                <a16:creationId xmlns:a16="http://schemas.microsoft.com/office/drawing/2014/main" id="{12B31304-7C0E-43D0-9D91-7FF14FC365DF}"/>
              </a:ext>
            </a:extLst>
          </p:cNvPr>
          <p:cNvSpPr>
            <a:spLocks xmlns:a="http://schemas.openxmlformats.org/drawingml/2006/main" noGrp="1"/>
          </p:cNvSpPr>
          <p:nvPr/>
        </p:nvSpPr>
        <p:spPr>
          <a:xfrm xmlns:a="http://schemas.openxmlformats.org/drawingml/2006/main">
            <a:off x="8991600" y="238125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550" b="1">
                <a:solidFill>
                  <a:srgbClr val="111111"/>
                </a:solidFill>
                <a:latin typeface="Tahoma"/>
                <a:ea typeface="Tahoma"/>
                <a:cs typeface="Tahoma"/>
              </a:defRPr>
            </a:pPr>
            <a:r>
              <a:rPr sz="2550" b="1">
                <a:solidFill>
                  <a:srgbClr val="111111"/>
                </a:solidFill>
                <a:latin typeface="Tahoma"/>
                <a:ea typeface="Tahoma"/>
                <a:cs typeface="Tahoma"/>
              </a:rPr>
              <a:t>‏کم</a:t>
            </a:r>
          </a:p>
        </p:txBody>
      </p:sp>
      <p:sp>
        <p:nvSpPr>
          <p:cNvPr id="23" name="">
            <a:extLst xmlns:a="http://schemas.openxmlformats.org/drawingml/2006/main">
              <a:ext uri="{FF2B5EF4-FFF2-40B4-BE49-F238E27FC236}">
                <a16:creationId xmlns:a16="http://schemas.microsoft.com/office/drawing/2014/main" id="{3EFEF0D1-589C-4789-BB10-3C4B09BC0414}"/>
              </a:ext>
            </a:extLst>
          </p:cNvPr>
          <p:cNvSpPr>
            <a:spLocks xmlns:a="http://schemas.openxmlformats.org/drawingml/2006/main" noGrp="1"/>
          </p:cNvSpPr>
          <p:nvPr/>
        </p:nvSpPr>
        <p:spPr>
          <a:xfrm xmlns:a="http://schemas.openxmlformats.org/drawingml/2006/main">
            <a:off x="8991600" y="28194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111111"/>
                </a:solidFill>
                <a:latin typeface="Tahoma"/>
                <a:ea typeface="Tahoma"/>
                <a:cs typeface="Tahoma"/>
              </a:defRPr>
            </a:pPr>
            <a:r>
              <a:rPr sz="1200" b="1">
                <a:solidFill>
                  <a:srgbClr val="111111"/>
                </a:solidFill>
                <a:latin typeface="Tahoma"/>
                <a:ea typeface="Tahoma"/>
                <a:cs typeface="Tahoma"/>
              </a:rPr>
              <a:t>‏ریسک عملیاتی</a:t>
            </a:r>
          </a:p>
        </p:txBody>
      </p:sp>
      <p:sp>
        <p:nvSpPr>
          <p:cNvPr id="24" name="">
            <a:extLst xmlns:a="http://schemas.openxmlformats.org/drawingml/2006/main">
              <a:ext uri="{FF2B5EF4-FFF2-40B4-BE49-F238E27FC236}">
                <a16:creationId xmlns:a16="http://schemas.microsoft.com/office/drawing/2014/main" id="{DAF78356-C834-4951-B06B-6CA1630C14C4}"/>
              </a:ext>
            </a:extLst>
          </p:cNvPr>
          <p:cNvSpPr>
            <a:spLocks xmlns:a="http://schemas.openxmlformats.org/drawingml/2006/main" noGrp="1"/>
          </p:cNvSpPr>
          <p:nvPr/>
        </p:nvSpPr>
        <p:spPr>
          <a:xfrm xmlns:a="http://schemas.openxmlformats.org/drawingml/2006/main">
            <a:off x="8991600" y="310515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‏بدون کنترل ماشین یا نوشتن در ERP</a:t>
            </a:r>
          </a:p>
        </p:txBody>
      </p:sp>
      <p:sp>
        <p:nvSpPr>
          <p:cNvPr id="25" name="">
            <a:extLst xmlns:a="http://schemas.openxmlformats.org/drawingml/2006/main">
              <a:ext uri="{FF2B5EF4-FFF2-40B4-BE49-F238E27FC236}">
                <a16:creationId xmlns:a16="http://schemas.microsoft.com/office/drawing/2014/main" id="{C2EB2F28-BDF4-4FEC-89AD-FF10EA39EFEB}"/>
              </a:ext>
            </a:extLst>
          </p:cNvPr>
          <p:cNvSpPr>
            <a:spLocks xmlns:a="http://schemas.openxmlformats.org/drawingml/2006/main" noGrp="1"/>
          </p:cNvSpPr>
          <p:nvPr/>
        </p:nvSpPr>
        <p:spPr>
          <a:xfrm xmlns:a="http://schemas.openxmlformats.org/drawingml/2006/main">
            <a:off x="914400" y="4191000"/>
            <a:ext cx="952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0">
                <a:solidFill>
                  <a:srgbClr val="111111"/>
                </a:solidFill>
                <a:latin typeface="Tahoma"/>
                <a:ea typeface="Tahoma"/>
                <a:cs typeface="Tahoma"/>
              </a:defRPr>
            </a:pPr>
            <a:r>
              <a:rPr sz="1500" b="0">
                <a:solidFill>
                  <a:srgbClr val="111111"/>
                </a:solidFill>
                <a:latin typeface="Tahoma"/>
                <a:ea typeface="Tahoma"/>
                <a:cs typeface="Tahoma"/>
              </a:rPr>
              <a:t>‏• تصویب یک پایلوت بین‌وظیفه‌ای AI برای هوشمندی کیفیت در پوشش‌دهی و بسته‌بندی.</a:t>
            </a:r>
          </a:p>
          <a:p xmlns:a="http://schemas.openxmlformats.org/drawingml/2006/main">
            <a:pPr algn="r">
              <a:defRPr sz="1500" b="0">
                <a:solidFill>
                  <a:srgbClr val="111111"/>
                </a:solidFill>
                <a:latin typeface="Tahoma"/>
                <a:ea typeface="Tahoma"/>
                <a:cs typeface="Tahoma"/>
              </a:defRPr>
            </a:pPr>
            <a:r>
              <a:rPr sz="1500" b="0">
                <a:solidFill>
                  <a:srgbClr val="111111"/>
                </a:solidFill>
                <a:latin typeface="Tahoma"/>
                <a:ea typeface="Tahoma"/>
                <a:cs typeface="Tahoma"/>
              </a:rPr>
              <a:t>‏• تعیین یک حامی اجرایی و مالکانی از تحقیق‌وتوسعه، تولید، کیفیت، بسته‌بندی، IT و مالی.</a:t>
            </a:r>
          </a:p>
          <a:p xmlns:a="http://schemas.openxmlformats.org/drawingml/2006/main">
            <a:pPr algn="r">
              <a:defRPr sz="1500" b="0">
                <a:solidFill>
                  <a:srgbClr val="111111"/>
                </a:solidFill>
                <a:latin typeface="Tahoma"/>
                <a:ea typeface="Tahoma"/>
                <a:cs typeface="Tahoma"/>
              </a:defRPr>
            </a:pPr>
            <a:r>
              <a:rPr sz="1500" b="0">
                <a:solidFill>
                  <a:srgbClr val="111111"/>
                </a:solidFill>
                <a:latin typeface="Tahoma"/>
                <a:ea typeface="Tahoma"/>
                <a:cs typeface="Tahoma"/>
              </a:rPr>
              <a:t>‏• دادن دسترسی کنترل‌شده و فقط خواندنی به شواهد منتخب ERP، بازرسی، QC، آزمایشگاه و تولید.</a:t>
            </a:r>
          </a:p>
        </p:txBody>
      </p:sp>
      <p:sp>
        <p:nvSpPr>
          <p:cNvPr id="26" name="">
            <a:extLst xmlns:a="http://schemas.openxmlformats.org/drawingml/2006/main">
              <a:ext uri="{FF2B5EF4-FFF2-40B4-BE49-F238E27FC236}">
                <a16:creationId xmlns:a16="http://schemas.microsoft.com/office/drawing/2014/main" id="{E28E041C-1899-46E1-9D75-45169548563D}"/>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27" name="">
            <a:extLst xmlns:a="http://schemas.openxmlformats.org/drawingml/2006/main">
              <a:ext uri="{FF2B5EF4-FFF2-40B4-BE49-F238E27FC236}">
                <a16:creationId xmlns:a16="http://schemas.microsoft.com/office/drawing/2014/main" id="{5C2AE5EC-1E4F-4BE0-906B-302624CF70A3}"/>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02</a:t>
            </a:r>
          </a:p>
        </p:txBody>
      </p:sp>
    </p:spTree>
    <p:extLst>
      <p:ext uri="{BB962C8B-B14F-4D97-AF65-F5344CB8AC3E}">
        <p14:creationId xmlns:p14="http://schemas.microsoft.com/office/powerpoint/2010/main" val="135133969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E79578-22DB-4100-A2D2-F9DBCD8D013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‏بینش اختصاصی شرکت</a:t>
            </a:r>
          </a:p>
        </p:txBody>
      </p:sp>
      <p:sp>
        <p:nvSpPr>
          <p:cNvPr id="2" name="">
            <a:extLst xmlns:a="http://schemas.openxmlformats.org/drawingml/2006/main">
              <a:ext uri="{FF2B5EF4-FFF2-40B4-BE49-F238E27FC236}">
                <a16:creationId xmlns:a16="http://schemas.microsoft.com/office/drawing/2014/main" id="{342559F2-FBAE-4137-8084-ABE1908D86CD}"/>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‏شرکت از ترکیب‌های مهندسی‌شده ارزش می‌سازد</a:t>
            </a:r>
          </a:p>
        </p:txBody>
      </p:sp>
      <p:sp>
        <p:nvSpPr>
          <p:cNvPr id="3" name="">
            <a:extLst xmlns:a="http://schemas.openxmlformats.org/drawingml/2006/main">
              <a:ext uri="{FF2B5EF4-FFF2-40B4-BE49-F238E27FC236}">
                <a16:creationId xmlns:a16="http://schemas.microsoft.com/office/drawing/2014/main" id="{D2E567C0-0197-4B86-802E-B5CF6751E1FD}"/>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‏دارایی پنهان AI، پیوند میان مواد، فرایند، کیفیت، گواهی و دانش کاربرد است.</a:t>
            </a:r>
          </a:p>
        </p:txBody>
      </p:sp>
      <p:sp>
        <p:nvSpPr>
          <p:cNvPr id="4" name="">
            <a:extLst xmlns:a="http://schemas.openxmlformats.org/drawingml/2006/main">
              <a:ext uri="{FF2B5EF4-FFF2-40B4-BE49-F238E27FC236}">
                <a16:creationId xmlns:a16="http://schemas.microsoft.com/office/drawing/2014/main" id="{06C2E406-12A5-497C-B2B0-5CDD117A039D}"/>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7EA79FD4-5141-4904-B391-A014E1EACC63}"/>
              </a:ext>
            </a:extLst>
          </p:cNvPr>
          <p:cNvSpPr>
            <a:spLocks xmlns:a="http://schemas.openxmlformats.org/drawingml/2006/main" noGrp="1"/>
          </p:cNvSpPr>
          <p:nvPr/>
        </p:nvSpPr>
        <p:spPr>
          <a:xfrm xmlns:a="http://schemas.openxmlformats.org/drawingml/2006/main">
            <a:off x="66675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2A13A067-3C31-4CE3-9029-283A14372214}"/>
              </a:ext>
            </a:extLst>
          </p:cNvPr>
          <p:cNvSpPr>
            <a:spLocks xmlns:a="http://schemas.openxmlformats.org/drawingml/2006/main" noGrp="1"/>
          </p:cNvSpPr>
          <p:nvPr/>
        </p:nvSpPr>
        <p:spPr>
          <a:xfrm xmlns:a="http://schemas.openxmlformats.org/drawingml/2006/main">
            <a:off x="83820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latin typeface="Tahoma"/>
                <a:ea typeface="Tahoma"/>
                <a:cs typeface="Tahoma"/>
              </a:defRPr>
            </a:pPr>
            <a:r>
              <a:rPr sz="2100" b="1">
                <a:solidFill>
                  <a:srgbClr val="F39200"/>
                </a:solidFill>
                <a:latin typeface="Tahoma"/>
                <a:ea typeface="Tahoma"/>
                <a:cs typeface="Tahoma"/>
              </a:rPr>
              <a:t>1</a:t>
            </a:r>
          </a:p>
        </p:txBody>
      </p:sp>
      <p:sp>
        <p:nvSpPr>
          <p:cNvPr id="7" name="">
            <a:extLst xmlns:a="http://schemas.openxmlformats.org/drawingml/2006/main">
              <a:ext uri="{FF2B5EF4-FFF2-40B4-BE49-F238E27FC236}">
                <a16:creationId xmlns:a16="http://schemas.microsoft.com/office/drawing/2014/main" id="{9DBEEC10-2BCB-4929-9414-DB40A276EE11}"/>
              </a:ext>
            </a:extLst>
          </p:cNvPr>
          <p:cNvSpPr>
            <a:spLocks xmlns:a="http://schemas.openxmlformats.org/drawingml/2006/main" noGrp="1"/>
          </p:cNvSpPr>
          <p:nvPr/>
        </p:nvSpPr>
        <p:spPr>
          <a:xfrm xmlns:a="http://schemas.openxmlformats.org/drawingml/2006/main">
            <a:off x="83820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111111"/>
                </a:solidFill>
                <a:latin typeface="Tahoma"/>
                <a:ea typeface="Tahoma"/>
                <a:cs typeface="Tahoma"/>
              </a:defRPr>
            </a:pPr>
            <a:r>
              <a:rPr sz="1500" b="1">
                <a:solidFill>
                  <a:srgbClr val="111111"/>
                </a:solidFill>
                <a:latin typeface="Tahoma"/>
                <a:ea typeface="Tahoma"/>
                <a:cs typeface="Tahoma"/>
              </a:rPr>
              <a:t>‏نیاز مشتری</a:t>
            </a:r>
          </a:p>
        </p:txBody>
      </p:sp>
      <p:sp>
        <p:nvSpPr>
          <p:cNvPr id="8" name="">
            <a:extLst xmlns:a="http://schemas.openxmlformats.org/drawingml/2006/main">
              <a:ext uri="{FF2B5EF4-FFF2-40B4-BE49-F238E27FC236}">
                <a16:creationId xmlns:a16="http://schemas.microsoft.com/office/drawing/2014/main" id="{EDCB8AB6-E952-448E-9A4E-C1E7B2DCE1F4}"/>
              </a:ext>
            </a:extLst>
          </p:cNvPr>
          <p:cNvSpPr>
            <a:spLocks xmlns:a="http://schemas.openxmlformats.org/drawingml/2006/main" noGrp="1"/>
          </p:cNvSpPr>
          <p:nvPr/>
        </p:nvSpPr>
        <p:spPr>
          <a:xfrm xmlns:a="http://schemas.openxmlformats.org/drawingml/2006/main">
            <a:off x="83820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5555"/>
                </a:solidFill>
                <a:latin typeface="Tahoma"/>
                <a:ea typeface="Tahoma"/>
                <a:cs typeface="Tahoma"/>
              </a:defRPr>
            </a:pPr>
            <a:r>
              <a:rPr sz="1050" b="0">
                <a:solidFill>
                  <a:srgbClr val="555555"/>
                </a:solidFill>
                <a:latin typeface="Tahoma"/>
                <a:ea typeface="Tahoma"/>
                <a:cs typeface="Tahoma"/>
              </a:rPr>
              <a:t>‏دما، شعله، دریایی، خودرو، PPE، عایق</a:t>
            </a:r>
          </a:p>
        </p:txBody>
      </p:sp>
      <p:sp>
        <p:nvSpPr>
          <p:cNvPr id="9" name="">
            <a:extLst xmlns:a="http://schemas.openxmlformats.org/drawingml/2006/main">
              <a:ext uri="{FF2B5EF4-FFF2-40B4-BE49-F238E27FC236}">
                <a16:creationId xmlns:a16="http://schemas.microsoft.com/office/drawing/2014/main" id="{DEEE782C-B0E5-4ADC-BFBE-04D63DA2F42E}"/>
              </a:ext>
            </a:extLst>
          </p:cNvPr>
          <p:cNvSpPr>
            <a:spLocks xmlns:a="http://schemas.openxmlformats.org/drawingml/2006/main" noGrp="1"/>
          </p:cNvSpPr>
          <p:nvPr/>
        </p:nvSpPr>
        <p:spPr>
          <a:xfrm xmlns:a="http://schemas.openxmlformats.org/drawingml/2006/main">
            <a:off x="271462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latin typeface="Tahoma"/>
                <a:ea typeface="Tahoma"/>
                <a:cs typeface="Tahoma"/>
              </a:defRPr>
            </a:pPr>
            <a:r>
              <a:rPr sz="2400" b="1">
                <a:solidFill>
                  <a:srgbClr val="CFCFCF"/>
                </a:solidFill>
                <a:latin typeface="Tahoma"/>
                <a:ea typeface="Tahoma"/>
                <a:cs typeface="Tahoma"/>
              </a:rPr>
              <a:t>&gt;</a:t>
            </a:r>
          </a:p>
        </p:txBody>
      </p:sp>
      <p:sp>
        <p:nvSpPr>
          <p:cNvPr id="10" name="">
            <a:extLst xmlns:a="http://schemas.openxmlformats.org/drawingml/2006/main">
              <a:ext uri="{FF2B5EF4-FFF2-40B4-BE49-F238E27FC236}">
                <a16:creationId xmlns:a16="http://schemas.microsoft.com/office/drawing/2014/main" id="{30284AD6-95B3-4C38-9BF9-AD0D1163EF4E}"/>
              </a:ext>
            </a:extLst>
          </p:cNvPr>
          <p:cNvSpPr>
            <a:spLocks xmlns:a="http://schemas.openxmlformats.org/drawingml/2006/main" noGrp="1"/>
          </p:cNvSpPr>
          <p:nvPr/>
        </p:nvSpPr>
        <p:spPr>
          <a:xfrm xmlns:a="http://schemas.openxmlformats.org/drawingml/2006/main">
            <a:off x="281940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1" name="">
            <a:extLst xmlns:a="http://schemas.openxmlformats.org/drawingml/2006/main">
              <a:ext uri="{FF2B5EF4-FFF2-40B4-BE49-F238E27FC236}">
                <a16:creationId xmlns:a16="http://schemas.microsoft.com/office/drawing/2014/main" id="{C22013CA-F4DC-4C5E-9CE8-591AA2104F3D}"/>
              </a:ext>
            </a:extLst>
          </p:cNvPr>
          <p:cNvSpPr>
            <a:spLocks xmlns:a="http://schemas.openxmlformats.org/drawingml/2006/main" noGrp="1"/>
          </p:cNvSpPr>
          <p:nvPr/>
        </p:nvSpPr>
        <p:spPr>
          <a:xfrm xmlns:a="http://schemas.openxmlformats.org/drawingml/2006/main">
            <a:off x="299085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latin typeface="Tahoma"/>
                <a:ea typeface="Tahoma"/>
                <a:cs typeface="Tahoma"/>
              </a:defRPr>
            </a:pPr>
            <a:r>
              <a:rPr sz="2100" b="1">
                <a:solidFill>
                  <a:srgbClr val="F39200"/>
                </a:solidFill>
                <a:latin typeface="Tahoma"/>
                <a:ea typeface="Tahoma"/>
                <a:cs typeface="Tahoma"/>
              </a:rPr>
              <a:t>2</a:t>
            </a:r>
          </a:p>
        </p:txBody>
      </p:sp>
      <p:sp>
        <p:nvSpPr>
          <p:cNvPr id="12" name="">
            <a:extLst xmlns:a="http://schemas.openxmlformats.org/drawingml/2006/main">
              <a:ext uri="{FF2B5EF4-FFF2-40B4-BE49-F238E27FC236}">
                <a16:creationId xmlns:a16="http://schemas.microsoft.com/office/drawing/2014/main" id="{653D652C-6D96-4CBF-8078-C0C7199A32FF}"/>
              </a:ext>
            </a:extLst>
          </p:cNvPr>
          <p:cNvSpPr>
            <a:spLocks xmlns:a="http://schemas.openxmlformats.org/drawingml/2006/main" noGrp="1"/>
          </p:cNvSpPr>
          <p:nvPr/>
        </p:nvSpPr>
        <p:spPr>
          <a:xfrm xmlns:a="http://schemas.openxmlformats.org/drawingml/2006/main">
            <a:off x="299085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111111"/>
                </a:solidFill>
                <a:latin typeface="Tahoma"/>
                <a:ea typeface="Tahoma"/>
                <a:cs typeface="Tahoma"/>
              </a:defRPr>
            </a:pPr>
            <a:r>
              <a:rPr sz="1500" b="1">
                <a:solidFill>
                  <a:srgbClr val="111111"/>
                </a:solidFill>
                <a:latin typeface="Tahoma"/>
                <a:ea typeface="Tahoma"/>
                <a:cs typeface="Tahoma"/>
              </a:rPr>
              <a:t>‏مسیر ماده</a:t>
            </a:r>
          </a:p>
        </p:txBody>
      </p:sp>
      <p:sp>
        <p:nvSpPr>
          <p:cNvPr id="13" name="">
            <a:extLst xmlns:a="http://schemas.openxmlformats.org/drawingml/2006/main">
              <a:ext uri="{FF2B5EF4-FFF2-40B4-BE49-F238E27FC236}">
                <a16:creationId xmlns:a16="http://schemas.microsoft.com/office/drawing/2014/main" id="{9E82E024-B248-4546-B593-34ABCAA027D9}"/>
              </a:ext>
            </a:extLst>
          </p:cNvPr>
          <p:cNvSpPr>
            <a:spLocks xmlns:a="http://schemas.openxmlformats.org/drawingml/2006/main" noGrp="1"/>
          </p:cNvSpPr>
          <p:nvPr/>
        </p:nvSpPr>
        <p:spPr>
          <a:xfrm xmlns:a="http://schemas.openxmlformats.org/drawingml/2006/main">
            <a:off x="299085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5555"/>
                </a:solidFill>
                <a:latin typeface="Tahoma"/>
                <a:ea typeface="Tahoma"/>
                <a:cs typeface="Tahoma"/>
              </a:defRPr>
            </a:pPr>
            <a:r>
              <a:rPr sz="1050" b="0">
                <a:solidFill>
                  <a:srgbClr val="555555"/>
                </a:solidFill>
                <a:latin typeface="Tahoma"/>
                <a:ea typeface="Tahoma"/>
                <a:cs typeface="Tahoma"/>
              </a:rPr>
              <a:t>‏شیشه، سیلیکا، آرامید، بازالت، کربن، V4A، مخلوط‌ها</a:t>
            </a:r>
          </a:p>
        </p:txBody>
      </p:sp>
      <p:sp>
        <p:nvSpPr>
          <p:cNvPr id="14" name="">
            <a:extLst xmlns:a="http://schemas.openxmlformats.org/drawingml/2006/main">
              <a:ext uri="{FF2B5EF4-FFF2-40B4-BE49-F238E27FC236}">
                <a16:creationId xmlns:a16="http://schemas.microsoft.com/office/drawing/2014/main" id="{A839E4E6-3BB0-46C3-9DF8-C42632CB444D}"/>
              </a:ext>
            </a:extLst>
          </p:cNvPr>
          <p:cNvSpPr>
            <a:spLocks xmlns:a="http://schemas.openxmlformats.org/drawingml/2006/main" noGrp="1"/>
          </p:cNvSpPr>
          <p:nvPr/>
        </p:nvSpPr>
        <p:spPr>
          <a:xfrm xmlns:a="http://schemas.openxmlformats.org/drawingml/2006/main">
            <a:off x="486727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latin typeface="Tahoma"/>
                <a:ea typeface="Tahoma"/>
                <a:cs typeface="Tahoma"/>
              </a:defRPr>
            </a:pPr>
            <a:r>
              <a:rPr sz="2400" b="1">
                <a:solidFill>
                  <a:srgbClr val="CFCFCF"/>
                </a:solidFill>
                <a:latin typeface="Tahoma"/>
                <a:ea typeface="Tahoma"/>
                <a:cs typeface="Tahoma"/>
              </a:rPr>
              <a:t>&gt;</a:t>
            </a:r>
          </a:p>
        </p:txBody>
      </p:sp>
      <p:sp>
        <p:nvSpPr>
          <p:cNvPr id="15" name="">
            <a:extLst xmlns:a="http://schemas.openxmlformats.org/drawingml/2006/main">
              <a:ext uri="{FF2B5EF4-FFF2-40B4-BE49-F238E27FC236}">
                <a16:creationId xmlns:a16="http://schemas.microsoft.com/office/drawing/2014/main" id="{51D87AB5-34E6-429E-8394-BFC412BD66D5}"/>
              </a:ext>
            </a:extLst>
          </p:cNvPr>
          <p:cNvSpPr>
            <a:spLocks xmlns:a="http://schemas.openxmlformats.org/drawingml/2006/main" noGrp="1"/>
          </p:cNvSpPr>
          <p:nvPr/>
        </p:nvSpPr>
        <p:spPr>
          <a:xfrm xmlns:a="http://schemas.openxmlformats.org/drawingml/2006/main">
            <a:off x="4972050" y="2238375"/>
            <a:ext cx="1952625" cy="17145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16" name="">
            <a:extLst xmlns:a="http://schemas.openxmlformats.org/drawingml/2006/main">
              <a:ext uri="{FF2B5EF4-FFF2-40B4-BE49-F238E27FC236}">
                <a16:creationId xmlns:a16="http://schemas.microsoft.com/office/drawing/2014/main" id="{CF8713FF-E42D-41F0-8474-451B1FFA4666}"/>
              </a:ext>
            </a:extLst>
          </p:cNvPr>
          <p:cNvSpPr>
            <a:spLocks xmlns:a="http://schemas.openxmlformats.org/drawingml/2006/main" noGrp="1"/>
          </p:cNvSpPr>
          <p:nvPr/>
        </p:nvSpPr>
        <p:spPr>
          <a:xfrm xmlns:a="http://schemas.openxmlformats.org/drawingml/2006/main">
            <a:off x="514350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latin typeface="Tahoma"/>
                <a:ea typeface="Tahoma"/>
                <a:cs typeface="Tahoma"/>
              </a:defRPr>
            </a:pPr>
            <a:r>
              <a:rPr sz="2100" b="1">
                <a:solidFill>
                  <a:srgbClr val="F39200"/>
                </a:solidFill>
                <a:latin typeface="Tahoma"/>
                <a:ea typeface="Tahoma"/>
                <a:cs typeface="Tahoma"/>
              </a:rPr>
              <a:t>3</a:t>
            </a:r>
          </a:p>
        </p:txBody>
      </p:sp>
      <p:sp>
        <p:nvSpPr>
          <p:cNvPr id="17" name="">
            <a:extLst xmlns:a="http://schemas.openxmlformats.org/drawingml/2006/main">
              <a:ext uri="{FF2B5EF4-FFF2-40B4-BE49-F238E27FC236}">
                <a16:creationId xmlns:a16="http://schemas.microsoft.com/office/drawing/2014/main" id="{A9692DC5-AF11-4C3D-8748-6510A2F86A74}"/>
              </a:ext>
            </a:extLst>
          </p:cNvPr>
          <p:cNvSpPr>
            <a:spLocks xmlns:a="http://schemas.openxmlformats.org/drawingml/2006/main" noGrp="1"/>
          </p:cNvSpPr>
          <p:nvPr/>
        </p:nvSpPr>
        <p:spPr>
          <a:xfrm xmlns:a="http://schemas.openxmlformats.org/drawingml/2006/main">
            <a:off x="514350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111111"/>
                </a:solidFill>
                <a:latin typeface="Tahoma"/>
                <a:ea typeface="Tahoma"/>
                <a:cs typeface="Tahoma"/>
              </a:defRPr>
            </a:pPr>
            <a:r>
              <a:rPr sz="1500" b="1">
                <a:solidFill>
                  <a:srgbClr val="111111"/>
                </a:solidFill>
                <a:latin typeface="Tahoma"/>
                <a:ea typeface="Tahoma"/>
                <a:cs typeface="Tahoma"/>
              </a:rPr>
              <a:t>‏فینیش کارکردی</a:t>
            </a:r>
          </a:p>
        </p:txBody>
      </p:sp>
      <p:sp>
        <p:nvSpPr>
          <p:cNvPr id="18" name="">
            <a:extLst xmlns:a="http://schemas.openxmlformats.org/drawingml/2006/main">
              <a:ext uri="{FF2B5EF4-FFF2-40B4-BE49-F238E27FC236}">
                <a16:creationId xmlns:a16="http://schemas.microsoft.com/office/drawing/2014/main" id="{B18CA960-CE6F-45EA-871A-5300BB457DFD}"/>
              </a:ext>
            </a:extLst>
          </p:cNvPr>
          <p:cNvSpPr>
            <a:spLocks xmlns:a="http://schemas.openxmlformats.org/drawingml/2006/main" noGrp="1"/>
          </p:cNvSpPr>
          <p:nvPr/>
        </p:nvSpPr>
        <p:spPr>
          <a:xfrm xmlns:a="http://schemas.openxmlformats.org/drawingml/2006/main">
            <a:off x="514350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5555"/>
                </a:solidFill>
                <a:latin typeface="Tahoma"/>
                <a:ea typeface="Tahoma"/>
                <a:cs typeface="Tahoma"/>
              </a:defRPr>
            </a:pPr>
            <a:r>
              <a:rPr sz="1050" b="0">
                <a:solidFill>
                  <a:srgbClr val="555555"/>
                </a:solidFill>
                <a:latin typeface="Tahoma"/>
                <a:ea typeface="Tahoma"/>
                <a:cs typeface="Tahoma"/>
              </a:rPr>
              <a:t>‏سیلیکون، PU، ورمیکولیت، گرافیت، آماده‌سازی، لمینیشن</a:t>
            </a:r>
          </a:p>
        </p:txBody>
      </p:sp>
      <p:sp>
        <p:nvSpPr>
          <p:cNvPr id="19" name="">
            <a:extLst xmlns:a="http://schemas.openxmlformats.org/drawingml/2006/main">
              <a:ext uri="{FF2B5EF4-FFF2-40B4-BE49-F238E27FC236}">
                <a16:creationId xmlns:a16="http://schemas.microsoft.com/office/drawing/2014/main" id="{79FE38CC-1CA6-4B5E-B629-2E951BEC1565}"/>
              </a:ext>
            </a:extLst>
          </p:cNvPr>
          <p:cNvSpPr>
            <a:spLocks xmlns:a="http://schemas.openxmlformats.org/drawingml/2006/main" noGrp="1"/>
          </p:cNvSpPr>
          <p:nvPr/>
        </p:nvSpPr>
        <p:spPr>
          <a:xfrm xmlns:a="http://schemas.openxmlformats.org/drawingml/2006/main">
            <a:off x="701992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latin typeface="Tahoma"/>
                <a:ea typeface="Tahoma"/>
                <a:cs typeface="Tahoma"/>
              </a:defRPr>
            </a:pPr>
            <a:r>
              <a:rPr sz="2400" b="1">
                <a:solidFill>
                  <a:srgbClr val="CFCFCF"/>
                </a:solidFill>
                <a:latin typeface="Tahoma"/>
                <a:ea typeface="Tahoma"/>
                <a:cs typeface="Tahoma"/>
              </a:rPr>
              <a:t>&gt;</a:t>
            </a:r>
          </a:p>
        </p:txBody>
      </p:sp>
      <p:sp>
        <p:nvSpPr>
          <p:cNvPr id="20" name="">
            <a:extLst xmlns:a="http://schemas.openxmlformats.org/drawingml/2006/main">
              <a:ext uri="{FF2B5EF4-FFF2-40B4-BE49-F238E27FC236}">
                <a16:creationId xmlns:a16="http://schemas.microsoft.com/office/drawing/2014/main" id="{992638C4-8E4D-4A6F-95D0-786BCFD112B7}"/>
              </a:ext>
            </a:extLst>
          </p:cNvPr>
          <p:cNvSpPr>
            <a:spLocks xmlns:a="http://schemas.openxmlformats.org/drawingml/2006/main" noGrp="1"/>
          </p:cNvSpPr>
          <p:nvPr/>
        </p:nvSpPr>
        <p:spPr>
          <a:xfrm xmlns:a="http://schemas.openxmlformats.org/drawingml/2006/main">
            <a:off x="712470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1" name="">
            <a:extLst xmlns:a="http://schemas.openxmlformats.org/drawingml/2006/main">
              <a:ext uri="{FF2B5EF4-FFF2-40B4-BE49-F238E27FC236}">
                <a16:creationId xmlns:a16="http://schemas.microsoft.com/office/drawing/2014/main" id="{82426D7A-ACD9-43D2-B80D-66E1E5193E95}"/>
              </a:ext>
            </a:extLst>
          </p:cNvPr>
          <p:cNvSpPr>
            <a:spLocks xmlns:a="http://schemas.openxmlformats.org/drawingml/2006/main" noGrp="1"/>
          </p:cNvSpPr>
          <p:nvPr/>
        </p:nvSpPr>
        <p:spPr>
          <a:xfrm xmlns:a="http://schemas.openxmlformats.org/drawingml/2006/main">
            <a:off x="729615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latin typeface="Tahoma"/>
                <a:ea typeface="Tahoma"/>
                <a:cs typeface="Tahoma"/>
              </a:defRPr>
            </a:pPr>
            <a:r>
              <a:rPr sz="2100" b="1">
                <a:solidFill>
                  <a:srgbClr val="F39200"/>
                </a:solidFill>
                <a:latin typeface="Tahoma"/>
                <a:ea typeface="Tahoma"/>
                <a:cs typeface="Tahoma"/>
              </a:rPr>
              <a:t>4</a:t>
            </a:r>
          </a:p>
        </p:txBody>
      </p:sp>
      <p:sp>
        <p:nvSpPr>
          <p:cNvPr id="22" name="">
            <a:extLst xmlns:a="http://schemas.openxmlformats.org/drawingml/2006/main">
              <a:ext uri="{FF2B5EF4-FFF2-40B4-BE49-F238E27FC236}">
                <a16:creationId xmlns:a16="http://schemas.microsoft.com/office/drawing/2014/main" id="{3866BD35-C8DD-4F29-BB5D-F8609DA2D12A}"/>
              </a:ext>
            </a:extLst>
          </p:cNvPr>
          <p:cNvSpPr>
            <a:spLocks xmlns:a="http://schemas.openxmlformats.org/drawingml/2006/main" noGrp="1"/>
          </p:cNvSpPr>
          <p:nvPr/>
        </p:nvSpPr>
        <p:spPr>
          <a:xfrm xmlns:a="http://schemas.openxmlformats.org/drawingml/2006/main">
            <a:off x="729615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111111"/>
                </a:solidFill>
                <a:latin typeface="Tahoma"/>
                <a:ea typeface="Tahoma"/>
                <a:cs typeface="Tahoma"/>
              </a:defRPr>
            </a:pPr>
            <a:r>
              <a:rPr sz="1500" b="1">
                <a:solidFill>
                  <a:srgbClr val="111111"/>
                </a:solidFill>
                <a:latin typeface="Tahoma"/>
                <a:ea typeface="Tahoma"/>
                <a:cs typeface="Tahoma"/>
              </a:rPr>
              <a:t>‏پنجره تولید</a:t>
            </a:r>
          </a:p>
        </p:txBody>
      </p:sp>
      <p:sp>
        <p:nvSpPr>
          <p:cNvPr id="23" name="">
            <a:extLst xmlns:a="http://schemas.openxmlformats.org/drawingml/2006/main">
              <a:ext uri="{FF2B5EF4-FFF2-40B4-BE49-F238E27FC236}">
                <a16:creationId xmlns:a16="http://schemas.microsoft.com/office/drawing/2014/main" id="{F9C7CC95-B727-41BA-B449-1CAB36D156B1}"/>
              </a:ext>
            </a:extLst>
          </p:cNvPr>
          <p:cNvSpPr>
            <a:spLocks xmlns:a="http://schemas.openxmlformats.org/drawingml/2006/main" noGrp="1"/>
          </p:cNvSpPr>
          <p:nvPr/>
        </p:nvSpPr>
        <p:spPr>
          <a:xfrm xmlns:a="http://schemas.openxmlformats.org/drawingml/2006/main">
            <a:off x="729615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5555"/>
                </a:solidFill>
                <a:latin typeface="Tahoma"/>
                <a:ea typeface="Tahoma"/>
                <a:cs typeface="Tahoma"/>
              </a:defRPr>
            </a:pPr>
            <a:r>
              <a:rPr sz="1050" b="0">
                <a:solidFill>
                  <a:srgbClr val="555555"/>
                </a:solidFill>
                <a:latin typeface="Tahoma"/>
                <a:ea typeface="Tahoma"/>
                <a:cs typeface="Tahoma"/>
              </a:rPr>
              <a:t>‏سرعت خط، دما، کشش، وزن پوشش، پخت</a:t>
            </a:r>
          </a:p>
        </p:txBody>
      </p:sp>
      <p:sp>
        <p:nvSpPr>
          <p:cNvPr id="24" name="">
            <a:extLst xmlns:a="http://schemas.openxmlformats.org/drawingml/2006/main">
              <a:ext uri="{FF2B5EF4-FFF2-40B4-BE49-F238E27FC236}">
                <a16:creationId xmlns:a16="http://schemas.microsoft.com/office/drawing/2014/main" id="{1314F720-9853-459C-9A0C-019C818213E9}"/>
              </a:ext>
            </a:extLst>
          </p:cNvPr>
          <p:cNvSpPr>
            <a:spLocks xmlns:a="http://schemas.openxmlformats.org/drawingml/2006/main" noGrp="1"/>
          </p:cNvSpPr>
          <p:nvPr/>
        </p:nvSpPr>
        <p:spPr>
          <a:xfrm xmlns:a="http://schemas.openxmlformats.org/drawingml/2006/main">
            <a:off x="9172575" y="2905125"/>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CFCFCF"/>
                </a:solidFill>
                <a:latin typeface="Tahoma"/>
                <a:ea typeface="Tahoma"/>
                <a:cs typeface="Tahoma"/>
              </a:defRPr>
            </a:pPr>
            <a:r>
              <a:rPr sz="2400" b="1">
                <a:solidFill>
                  <a:srgbClr val="CFCFCF"/>
                </a:solidFill>
                <a:latin typeface="Tahoma"/>
                <a:ea typeface="Tahoma"/>
                <a:cs typeface="Tahoma"/>
              </a:rPr>
              <a:t>&gt;</a:t>
            </a:r>
          </a:p>
        </p:txBody>
      </p:sp>
      <p:sp>
        <p:nvSpPr>
          <p:cNvPr id="25" name="">
            <a:extLst xmlns:a="http://schemas.openxmlformats.org/drawingml/2006/main">
              <a:ext uri="{FF2B5EF4-FFF2-40B4-BE49-F238E27FC236}">
                <a16:creationId xmlns:a16="http://schemas.microsoft.com/office/drawing/2014/main" id="{4483BB07-E05C-44E0-A089-8E3D212B2949}"/>
              </a:ext>
            </a:extLst>
          </p:cNvPr>
          <p:cNvSpPr>
            <a:spLocks xmlns:a="http://schemas.openxmlformats.org/drawingml/2006/main" noGrp="1"/>
          </p:cNvSpPr>
          <p:nvPr/>
        </p:nvSpPr>
        <p:spPr>
          <a:xfrm xmlns:a="http://schemas.openxmlformats.org/drawingml/2006/main">
            <a:off x="9277350" y="2238375"/>
            <a:ext cx="1952625" cy="1714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B66B664F-41F2-453A-A510-8D92502347A1}"/>
              </a:ext>
            </a:extLst>
          </p:cNvPr>
          <p:cNvSpPr>
            <a:spLocks xmlns:a="http://schemas.openxmlformats.org/drawingml/2006/main" noGrp="1"/>
          </p:cNvSpPr>
          <p:nvPr/>
        </p:nvSpPr>
        <p:spPr>
          <a:xfrm xmlns:a="http://schemas.openxmlformats.org/drawingml/2006/main">
            <a:off x="9448800" y="2400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39200"/>
                </a:solidFill>
                <a:latin typeface="Tahoma"/>
                <a:ea typeface="Tahoma"/>
                <a:cs typeface="Tahoma"/>
              </a:defRPr>
            </a:pPr>
            <a:r>
              <a:rPr sz="2100" b="1">
                <a:solidFill>
                  <a:srgbClr val="F39200"/>
                </a:solidFill>
                <a:latin typeface="Tahoma"/>
                <a:ea typeface="Tahoma"/>
                <a:cs typeface="Tahoma"/>
              </a:rPr>
              <a:t>5</a:t>
            </a:r>
          </a:p>
        </p:txBody>
      </p:sp>
      <p:sp>
        <p:nvSpPr>
          <p:cNvPr id="27" name="">
            <a:extLst xmlns:a="http://schemas.openxmlformats.org/drawingml/2006/main">
              <a:ext uri="{FF2B5EF4-FFF2-40B4-BE49-F238E27FC236}">
                <a16:creationId xmlns:a16="http://schemas.microsoft.com/office/drawing/2014/main" id="{F0C9C930-F155-4C0B-84C6-16E6CA348187}"/>
              </a:ext>
            </a:extLst>
          </p:cNvPr>
          <p:cNvSpPr>
            <a:spLocks xmlns:a="http://schemas.openxmlformats.org/drawingml/2006/main" noGrp="1"/>
          </p:cNvSpPr>
          <p:nvPr/>
        </p:nvSpPr>
        <p:spPr>
          <a:xfrm xmlns:a="http://schemas.openxmlformats.org/drawingml/2006/main">
            <a:off x="9448800" y="28003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111111"/>
                </a:solidFill>
                <a:latin typeface="Tahoma"/>
                <a:ea typeface="Tahoma"/>
                <a:cs typeface="Tahoma"/>
              </a:defRPr>
            </a:pPr>
            <a:r>
              <a:rPr sz="1500" b="1">
                <a:solidFill>
                  <a:srgbClr val="111111"/>
                </a:solidFill>
                <a:latin typeface="Tahoma"/>
                <a:ea typeface="Tahoma"/>
                <a:cs typeface="Tahoma"/>
              </a:rPr>
              <a:t>‏اثبات کیفیت</a:t>
            </a:r>
          </a:p>
        </p:txBody>
      </p:sp>
      <p:sp>
        <p:nvSpPr>
          <p:cNvPr id="28" name="">
            <a:extLst xmlns:a="http://schemas.openxmlformats.org/drawingml/2006/main">
              <a:ext uri="{FF2B5EF4-FFF2-40B4-BE49-F238E27FC236}">
                <a16:creationId xmlns:a16="http://schemas.microsoft.com/office/drawing/2014/main" id="{6E70B76E-4B97-4F9E-BD07-6AC3ACA31170}"/>
              </a:ext>
            </a:extLst>
          </p:cNvPr>
          <p:cNvSpPr>
            <a:spLocks xmlns:a="http://schemas.openxmlformats.org/drawingml/2006/main" noGrp="1"/>
          </p:cNvSpPr>
          <p:nvPr/>
        </p:nvSpPr>
        <p:spPr>
          <a:xfrm xmlns:a="http://schemas.openxmlformats.org/drawingml/2006/main">
            <a:off x="9448800" y="3276600"/>
            <a:ext cx="1581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5555"/>
                </a:solidFill>
                <a:latin typeface="Tahoma"/>
                <a:ea typeface="Tahoma"/>
                <a:cs typeface="Tahoma"/>
              </a:defRPr>
            </a:pPr>
            <a:r>
              <a:rPr sz="1050" b="0">
                <a:solidFill>
                  <a:srgbClr val="555555"/>
                </a:solidFill>
                <a:latin typeface="Tahoma"/>
                <a:ea typeface="Tahoma"/>
                <a:cs typeface="Tahoma"/>
              </a:rPr>
              <a:t>‏آزمون‌ها، گواهی‌ها، شکایات، تاییدیه‌ها، رهاسازی</a:t>
            </a:r>
          </a:p>
        </p:txBody>
      </p:sp>
      <p:sp>
        <p:nvSpPr>
          <p:cNvPr id="29" name="">
            <a:extLst xmlns:a="http://schemas.openxmlformats.org/drawingml/2006/main">
              <a:ext uri="{FF2B5EF4-FFF2-40B4-BE49-F238E27FC236}">
                <a16:creationId xmlns:a16="http://schemas.microsoft.com/office/drawing/2014/main" id="{0330FA62-2E9B-4F38-B014-71BF0F822BAB}"/>
              </a:ext>
            </a:extLst>
          </p:cNvPr>
          <p:cNvSpPr>
            <a:spLocks xmlns:a="http://schemas.openxmlformats.org/drawingml/2006/main" noGrp="1"/>
          </p:cNvSpPr>
          <p:nvPr/>
        </p:nvSpPr>
        <p:spPr>
          <a:xfrm xmlns:a="http://schemas.openxmlformats.org/drawingml/2006/main">
            <a:off x="1143000" y="4762500"/>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11111"/>
                </a:solidFill>
                <a:latin typeface="Tahoma"/>
                <a:ea typeface="Tahoma"/>
                <a:cs typeface="Tahoma"/>
              </a:defRPr>
            </a:pPr>
            <a:r>
              <a:rPr sz="1875" b="1">
                <a:solidFill>
                  <a:srgbClr val="111111"/>
                </a:solidFill>
                <a:latin typeface="Tahoma"/>
                <a:ea typeface="Tahoma"/>
                <a:cs typeface="Tahoma"/>
              </a:rPr>
              <a:t>‏AI زمانی ارزشمند می‌شود که این مراحل را در سطح رول، دستور، آزمون و مشتری به هم وصل کند.</a:t>
            </a:r>
          </a:p>
        </p:txBody>
      </p:sp>
      <p:sp>
        <p:nvSpPr>
          <p:cNvPr id="30" name="">
            <a:extLst xmlns:a="http://schemas.openxmlformats.org/drawingml/2006/main">
              <a:ext uri="{FF2B5EF4-FFF2-40B4-BE49-F238E27FC236}">
                <a16:creationId xmlns:a16="http://schemas.microsoft.com/office/drawing/2014/main" id="{A9BF53B7-ED06-499B-AECC-8B58AEF9ED36}"/>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31" name="">
            <a:extLst xmlns:a="http://schemas.openxmlformats.org/drawingml/2006/main">
              <a:ext uri="{FF2B5EF4-FFF2-40B4-BE49-F238E27FC236}">
                <a16:creationId xmlns:a16="http://schemas.microsoft.com/office/drawing/2014/main" id="{12A31A81-7B09-4EC0-8AE8-C9B7B1547866}"/>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latin typeface="Tahoma"/>
                <a:ea typeface="Tahoma"/>
                <a:cs typeface="Tahoma"/>
              </a:defRPr>
            </a:pPr>
            <a:r>
              <a:rPr sz="675" b="0">
                <a:solidFill>
                  <a:srgbClr val="777777"/>
                </a:solidFill>
                <a:latin typeface="Tahoma"/>
                <a:ea typeface="Tahoma"/>
                <a:cs typeface="Tahoma"/>
              </a:rPr>
              <a:t>‏منابع: صفحات شرکت و محصول Darmstaedter و Klevers</a:t>
            </a:r>
          </a:p>
        </p:txBody>
      </p:sp>
      <p:sp>
        <p:nvSpPr>
          <p:cNvPr id="32" name="">
            <a:extLst xmlns:a="http://schemas.openxmlformats.org/drawingml/2006/main">
              <a:ext uri="{FF2B5EF4-FFF2-40B4-BE49-F238E27FC236}">
                <a16:creationId xmlns:a16="http://schemas.microsoft.com/office/drawing/2014/main" id="{8089774D-A1E9-4195-AFD0-65BF9EDBAC0A}"/>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03</a:t>
            </a:r>
          </a:p>
        </p:txBody>
      </p:sp>
    </p:spTree>
    <p:extLst>
      <p:ext uri="{BB962C8B-B14F-4D97-AF65-F5344CB8AC3E}">
        <p14:creationId xmlns:p14="http://schemas.microsoft.com/office/powerpoint/2010/main" val="171756339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2E96AE-68B8-4262-9CE0-54ADDDEE227C}"/>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‏شواهد</a:t>
            </a:r>
          </a:p>
        </p:txBody>
      </p:sp>
      <p:sp>
        <p:nvSpPr>
          <p:cNvPr id="2" name="">
            <a:extLst xmlns:a="http://schemas.openxmlformats.org/drawingml/2006/main">
              <a:ext uri="{FF2B5EF4-FFF2-40B4-BE49-F238E27FC236}">
                <a16:creationId xmlns:a16="http://schemas.microsoft.com/office/drawing/2014/main" id="{D9FEF1BA-BD87-4D74-8420-356C0B2B7334}"/>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‏شواهد عمومی نشان‌دهنده کسب‌وکاری متنوع و دانش‌محور است</a:t>
            </a:r>
          </a:p>
        </p:txBody>
      </p:sp>
      <p:sp>
        <p:nvSpPr>
          <p:cNvPr id="3" name="">
            <a:extLst xmlns:a="http://schemas.openxmlformats.org/drawingml/2006/main">
              <a:ext uri="{FF2B5EF4-FFF2-40B4-BE49-F238E27FC236}">
                <a16:creationId xmlns:a16="http://schemas.microsoft.com/office/drawing/2014/main" id="{DB1B5BC0-A3B4-40DF-9AC5-383999B59955}"/>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‏AI باید تکرارپذیری، رهگیری و استفاده دوباره از دانش خبرگان را هدف بگیرد.</a:t>
            </a:r>
          </a:p>
        </p:txBody>
      </p:sp>
      <p:sp>
        <p:nvSpPr>
          <p:cNvPr id="4" name="">
            <a:extLst xmlns:a="http://schemas.openxmlformats.org/drawingml/2006/main">
              <a:ext uri="{FF2B5EF4-FFF2-40B4-BE49-F238E27FC236}">
                <a16:creationId xmlns:a16="http://schemas.microsoft.com/office/drawing/2014/main" id="{BECD000D-6038-4ECE-836A-49BE6C771F3F}"/>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18abe936d7ff4dca"/>
          <a:srcRect xmlns:a="http://schemas.openxmlformats.org/drawingml/2006/main" l="9813" t="0" r="9813" b="0"/>
          <a:stretch xmlns:a="http://schemas.openxmlformats.org/drawingml/2006/main">
            <a:fillRect l="0" t="0" r="0" b="0"/>
          </a:stretch>
        </p:blipFill>
        <p:spPr>
          <a:xfrm xmlns:a="http://schemas.openxmlformats.org/drawingml/2006/main">
            <a:off x="666750" y="2038350"/>
            <a:ext cx="3429000" cy="285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B51C52-FA9C-4D88-B619-BAAD686D13DE}"/>
              </a:ext>
            </a:extLst>
          </p:cNvPr>
          <p:cNvSpPr>
            <a:spLocks xmlns:a="http://schemas.openxmlformats.org/drawingml/2006/main" noGrp="1"/>
          </p:cNvSpPr>
          <p:nvPr/>
        </p:nvSpPr>
        <p:spPr>
          <a:xfrm xmlns:a="http://schemas.openxmlformats.org/drawingml/2006/main">
            <a:off x="4476750" y="2019300"/>
            <a:ext cx="3429000" cy="5143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7" name="">
            <a:extLst xmlns:a="http://schemas.openxmlformats.org/drawingml/2006/main">
              <a:ext uri="{FF2B5EF4-FFF2-40B4-BE49-F238E27FC236}">
                <a16:creationId xmlns:a16="http://schemas.microsoft.com/office/drawing/2014/main" id="{FAD8CECE-DC38-4703-98D4-671778F57F71}"/>
              </a:ext>
            </a:extLst>
          </p:cNvPr>
          <p:cNvSpPr>
            <a:spLocks xmlns:a="http://schemas.openxmlformats.org/drawingml/2006/main" noGrp="1"/>
          </p:cNvSpPr>
          <p:nvPr/>
        </p:nvSpPr>
        <p:spPr>
          <a:xfrm xmlns:a="http://schemas.openxmlformats.org/drawingml/2006/main">
            <a:off x="4572000" y="2095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‏شواهد عمومی</a:t>
            </a:r>
          </a:p>
        </p:txBody>
      </p:sp>
      <p:sp>
        <p:nvSpPr>
          <p:cNvPr id="8" name="">
            <a:extLst xmlns:a="http://schemas.openxmlformats.org/drawingml/2006/main">
              <a:ext uri="{FF2B5EF4-FFF2-40B4-BE49-F238E27FC236}">
                <a16:creationId xmlns:a16="http://schemas.microsoft.com/office/drawing/2014/main" id="{69C76799-A071-445D-890E-A8C23B7057A6}"/>
              </a:ext>
            </a:extLst>
          </p:cNvPr>
          <p:cNvSpPr>
            <a:spLocks xmlns:a="http://schemas.openxmlformats.org/drawingml/2006/main" noGrp="1"/>
          </p:cNvSpPr>
          <p:nvPr/>
        </p:nvSpPr>
        <p:spPr>
          <a:xfrm xmlns:a="http://schemas.openxmlformats.org/drawingml/2006/main">
            <a:off x="7905750" y="2019300"/>
            <a:ext cx="3429000" cy="5143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9" name="">
            <a:extLst xmlns:a="http://schemas.openxmlformats.org/drawingml/2006/main">
              <a:ext uri="{FF2B5EF4-FFF2-40B4-BE49-F238E27FC236}">
                <a16:creationId xmlns:a16="http://schemas.microsoft.com/office/drawing/2014/main" id="{4FCBD0A2-56F1-455E-B464-E9AABF1A2E9A}"/>
              </a:ext>
            </a:extLst>
          </p:cNvPr>
          <p:cNvSpPr>
            <a:spLocks xmlns:a="http://schemas.openxmlformats.org/drawingml/2006/main" noGrp="1"/>
          </p:cNvSpPr>
          <p:nvPr/>
        </p:nvSpPr>
        <p:spPr>
          <a:xfrm xmlns:a="http://schemas.openxmlformats.org/drawingml/2006/main">
            <a:off x="8001000" y="2095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‏دلالت راهبردی</a:t>
            </a:r>
          </a:p>
        </p:txBody>
      </p:sp>
      <p:sp>
        <p:nvSpPr>
          <p:cNvPr id="10" name="">
            <a:extLst xmlns:a="http://schemas.openxmlformats.org/drawingml/2006/main">
              <a:ext uri="{FF2B5EF4-FFF2-40B4-BE49-F238E27FC236}">
                <a16:creationId xmlns:a16="http://schemas.microsoft.com/office/drawing/2014/main" id="{106706C7-F28E-4F82-B0BE-5AD396E0E17A}"/>
              </a:ext>
            </a:extLst>
          </p:cNvPr>
          <p:cNvSpPr>
            <a:spLocks xmlns:a="http://schemas.openxmlformats.org/drawingml/2006/main" noGrp="1"/>
          </p:cNvSpPr>
          <p:nvPr/>
        </p:nvSpPr>
        <p:spPr>
          <a:xfrm xmlns:a="http://schemas.openxmlformats.org/drawingml/2006/main">
            <a:off x="4476750" y="25336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1" name="">
            <a:extLst xmlns:a="http://schemas.openxmlformats.org/drawingml/2006/main">
              <a:ext uri="{FF2B5EF4-FFF2-40B4-BE49-F238E27FC236}">
                <a16:creationId xmlns:a16="http://schemas.microsoft.com/office/drawing/2014/main" id="{B2258513-5DDD-4361-B926-DF4755247D17}"/>
              </a:ext>
            </a:extLst>
          </p:cNvPr>
          <p:cNvSpPr>
            <a:spLocks xmlns:a="http://schemas.openxmlformats.org/drawingml/2006/main" noGrp="1"/>
          </p:cNvSpPr>
          <p:nvPr/>
        </p:nvSpPr>
        <p:spPr>
          <a:xfrm xmlns:a="http://schemas.openxmlformats.org/drawingml/2006/main">
            <a:off x="4572000" y="26098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‏Darmstaedter: پوشش‌دهی، آماده‌سازی، لمینیشن، محصولات هیبرید</a:t>
            </a:r>
          </a:p>
        </p:txBody>
      </p:sp>
      <p:sp>
        <p:nvSpPr>
          <p:cNvPr id="12" name="">
            <a:extLst xmlns:a="http://schemas.openxmlformats.org/drawingml/2006/main">
              <a:ext uri="{FF2B5EF4-FFF2-40B4-BE49-F238E27FC236}">
                <a16:creationId xmlns:a16="http://schemas.microsoft.com/office/drawing/2014/main" id="{F99DDF8A-279B-4520-85E8-0B2A1A60E6EE}"/>
              </a:ext>
            </a:extLst>
          </p:cNvPr>
          <p:cNvSpPr>
            <a:spLocks xmlns:a="http://schemas.openxmlformats.org/drawingml/2006/main" noGrp="1"/>
          </p:cNvSpPr>
          <p:nvPr/>
        </p:nvSpPr>
        <p:spPr>
          <a:xfrm xmlns:a="http://schemas.openxmlformats.org/drawingml/2006/main">
            <a:off x="7905750" y="25336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3" name="">
            <a:extLst xmlns:a="http://schemas.openxmlformats.org/drawingml/2006/main">
              <a:ext uri="{FF2B5EF4-FFF2-40B4-BE49-F238E27FC236}">
                <a16:creationId xmlns:a16="http://schemas.microsoft.com/office/drawing/2014/main" id="{DE0CF37E-965A-471A-AC16-917C0BEDA0E3}"/>
              </a:ext>
            </a:extLst>
          </p:cNvPr>
          <p:cNvSpPr>
            <a:spLocks xmlns:a="http://schemas.openxmlformats.org/drawingml/2006/main" noGrp="1"/>
          </p:cNvSpPr>
          <p:nvPr/>
        </p:nvSpPr>
        <p:spPr>
          <a:xfrm xmlns:a="http://schemas.openxmlformats.org/drawingml/2006/main">
            <a:off x="8001000" y="26098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‏داده باید طراحی محصول را به فرایند و کیفیت وصل کند</a:t>
            </a:r>
          </a:p>
        </p:txBody>
      </p:sp>
      <p:sp>
        <p:nvSpPr>
          <p:cNvPr id="14" name="">
            <a:extLst xmlns:a="http://schemas.openxmlformats.org/drawingml/2006/main">
              <a:ext uri="{FF2B5EF4-FFF2-40B4-BE49-F238E27FC236}">
                <a16:creationId xmlns:a16="http://schemas.microsoft.com/office/drawing/2014/main" id="{30153BD9-636F-484E-879C-0E946685D313}"/>
              </a:ext>
            </a:extLst>
          </p:cNvPr>
          <p:cNvSpPr>
            <a:spLocks xmlns:a="http://schemas.openxmlformats.org/drawingml/2006/main" noGrp="1"/>
          </p:cNvSpPr>
          <p:nvPr/>
        </p:nvSpPr>
        <p:spPr>
          <a:xfrm xmlns:a="http://schemas.openxmlformats.org/drawingml/2006/main">
            <a:off x="4476750" y="30480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5" name="">
            <a:extLst xmlns:a="http://schemas.openxmlformats.org/drawingml/2006/main">
              <a:ext uri="{FF2B5EF4-FFF2-40B4-BE49-F238E27FC236}">
                <a16:creationId xmlns:a16="http://schemas.microsoft.com/office/drawing/2014/main" id="{BBC8C056-FE10-4815-852D-056BE0E96C9A}"/>
              </a:ext>
            </a:extLst>
          </p:cNvPr>
          <p:cNvSpPr>
            <a:spLocks xmlns:a="http://schemas.openxmlformats.org/drawingml/2006/main" noGrp="1"/>
          </p:cNvSpPr>
          <p:nvPr/>
        </p:nvSpPr>
        <p:spPr>
          <a:xfrm xmlns:a="http://schemas.openxmlformats.org/drawingml/2006/main">
            <a:off x="4572000" y="31242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‏Darmstaedter: آزمایشگاه تحقیق‌وتوسعه مشابه تولید در مقیاس کوچک</a:t>
            </a:r>
          </a:p>
        </p:txBody>
      </p:sp>
      <p:sp>
        <p:nvSpPr>
          <p:cNvPr id="16" name="">
            <a:extLst xmlns:a="http://schemas.openxmlformats.org/drawingml/2006/main">
              <a:ext uri="{FF2B5EF4-FFF2-40B4-BE49-F238E27FC236}">
                <a16:creationId xmlns:a16="http://schemas.microsoft.com/office/drawing/2014/main" id="{59FF5376-58F7-4EAD-AF0A-DB8D29268AC6}"/>
              </a:ext>
            </a:extLst>
          </p:cNvPr>
          <p:cNvSpPr>
            <a:spLocks xmlns:a="http://schemas.openxmlformats.org/drawingml/2006/main" noGrp="1"/>
          </p:cNvSpPr>
          <p:nvPr/>
        </p:nvSpPr>
        <p:spPr>
          <a:xfrm xmlns:a="http://schemas.openxmlformats.org/drawingml/2006/main">
            <a:off x="7905750" y="30480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7" name="">
            <a:extLst xmlns:a="http://schemas.openxmlformats.org/drawingml/2006/main">
              <a:ext uri="{FF2B5EF4-FFF2-40B4-BE49-F238E27FC236}">
                <a16:creationId xmlns:a16="http://schemas.microsoft.com/office/drawing/2014/main" id="{DD837DBA-24A1-4196-962B-AB5C16A7EB38}"/>
              </a:ext>
            </a:extLst>
          </p:cNvPr>
          <p:cNvSpPr>
            <a:spLocks xmlns:a="http://schemas.openxmlformats.org/drawingml/2006/main" noGrp="1"/>
          </p:cNvSpPr>
          <p:nvPr/>
        </p:nvSpPr>
        <p:spPr>
          <a:xfrm xmlns:a="http://schemas.openxmlformats.org/drawingml/2006/main">
            <a:off x="8001000" y="31242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‏تبدیل آزمایشگاه به تولید فرصت بزرگ AI است</a:t>
            </a:r>
          </a:p>
        </p:txBody>
      </p:sp>
      <p:sp>
        <p:nvSpPr>
          <p:cNvPr id="18" name="">
            <a:extLst xmlns:a="http://schemas.openxmlformats.org/drawingml/2006/main">
              <a:ext uri="{FF2B5EF4-FFF2-40B4-BE49-F238E27FC236}">
                <a16:creationId xmlns:a16="http://schemas.microsoft.com/office/drawing/2014/main" id="{F84750EF-22B8-4A35-93D0-10A3CE59278D}"/>
              </a:ext>
            </a:extLst>
          </p:cNvPr>
          <p:cNvSpPr>
            <a:spLocks xmlns:a="http://schemas.openxmlformats.org/drawingml/2006/main" noGrp="1"/>
          </p:cNvSpPr>
          <p:nvPr/>
        </p:nvSpPr>
        <p:spPr>
          <a:xfrm xmlns:a="http://schemas.openxmlformats.org/drawingml/2006/main">
            <a:off x="4476750" y="35623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9" name="">
            <a:extLst xmlns:a="http://schemas.openxmlformats.org/drawingml/2006/main">
              <a:ext uri="{FF2B5EF4-FFF2-40B4-BE49-F238E27FC236}">
                <a16:creationId xmlns:a16="http://schemas.microsoft.com/office/drawing/2014/main" id="{44DB455F-69A1-465D-9A21-0D49D4FE2CA7}"/>
              </a:ext>
            </a:extLst>
          </p:cNvPr>
          <p:cNvSpPr>
            <a:spLocks xmlns:a="http://schemas.openxmlformats.org/drawingml/2006/main" noGrp="1"/>
          </p:cNvSpPr>
          <p:nvPr/>
        </p:nvSpPr>
        <p:spPr>
          <a:xfrm xmlns:a="http://schemas.openxmlformats.org/drawingml/2006/main">
            <a:off x="4572000" y="36385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‏Klevers: بافندگی یکپارچه و ترکیب‌های انعطاف‌پذیر</a:t>
            </a:r>
          </a:p>
        </p:txBody>
      </p:sp>
      <p:sp>
        <p:nvSpPr>
          <p:cNvPr id="20" name="">
            <a:extLst xmlns:a="http://schemas.openxmlformats.org/drawingml/2006/main">
              <a:ext uri="{FF2B5EF4-FFF2-40B4-BE49-F238E27FC236}">
                <a16:creationId xmlns:a16="http://schemas.microsoft.com/office/drawing/2014/main" id="{E8468F86-5593-4D1C-8562-D72F0866A4C1}"/>
              </a:ext>
            </a:extLst>
          </p:cNvPr>
          <p:cNvSpPr>
            <a:spLocks xmlns:a="http://schemas.openxmlformats.org/drawingml/2006/main" noGrp="1"/>
          </p:cNvSpPr>
          <p:nvPr/>
        </p:nvSpPr>
        <p:spPr>
          <a:xfrm xmlns:a="http://schemas.openxmlformats.org/drawingml/2006/main">
            <a:off x="7905750" y="35623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1" name="">
            <a:extLst xmlns:a="http://schemas.openxmlformats.org/drawingml/2006/main">
              <a:ext uri="{FF2B5EF4-FFF2-40B4-BE49-F238E27FC236}">
                <a16:creationId xmlns:a16="http://schemas.microsoft.com/office/drawing/2014/main" id="{F84C471F-426C-4E8C-8D00-CE2015911BCC}"/>
              </a:ext>
            </a:extLst>
          </p:cNvPr>
          <p:cNvSpPr>
            <a:spLocks xmlns:a="http://schemas.openxmlformats.org/drawingml/2006/main" noGrp="1"/>
          </p:cNvSpPr>
          <p:nvPr/>
        </p:nvSpPr>
        <p:spPr>
          <a:xfrm xmlns:a="http://schemas.openxmlformats.org/drawingml/2006/main">
            <a:off x="8001000" y="36385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‏دانش پیکربندی یک دارایی راهبردی است</a:t>
            </a:r>
          </a:p>
        </p:txBody>
      </p:sp>
      <p:sp>
        <p:nvSpPr>
          <p:cNvPr id="22" name="">
            <a:extLst xmlns:a="http://schemas.openxmlformats.org/drawingml/2006/main">
              <a:ext uri="{FF2B5EF4-FFF2-40B4-BE49-F238E27FC236}">
                <a16:creationId xmlns:a16="http://schemas.microsoft.com/office/drawing/2014/main" id="{9C902FBB-4C09-4D3D-9B64-8E89BF9B39D6}"/>
              </a:ext>
            </a:extLst>
          </p:cNvPr>
          <p:cNvSpPr>
            <a:spLocks xmlns:a="http://schemas.openxmlformats.org/drawingml/2006/main" noGrp="1"/>
          </p:cNvSpPr>
          <p:nvPr/>
        </p:nvSpPr>
        <p:spPr>
          <a:xfrm xmlns:a="http://schemas.openxmlformats.org/drawingml/2006/main">
            <a:off x="4476750" y="40767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3" name="">
            <a:extLst xmlns:a="http://schemas.openxmlformats.org/drawingml/2006/main">
              <a:ext uri="{FF2B5EF4-FFF2-40B4-BE49-F238E27FC236}">
                <a16:creationId xmlns:a16="http://schemas.microsoft.com/office/drawing/2014/main" id="{16760D46-5BF5-4979-9BB9-4A1FB45FBBBA}"/>
              </a:ext>
            </a:extLst>
          </p:cNvPr>
          <p:cNvSpPr>
            <a:spLocks xmlns:a="http://schemas.openxmlformats.org/drawingml/2006/main" noGrp="1"/>
          </p:cNvSpPr>
          <p:nvPr/>
        </p:nvSpPr>
        <p:spPr>
          <a:xfrm xmlns:a="http://schemas.openxmlformats.org/drawingml/2006/main">
            <a:off x="4572000" y="41529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‏کیفیت: ISO، ماژول‌های دریایی، طبقه‌بندی شعله</a:t>
            </a:r>
          </a:p>
        </p:txBody>
      </p:sp>
      <p:sp>
        <p:nvSpPr>
          <p:cNvPr id="24" name="">
            <a:extLst xmlns:a="http://schemas.openxmlformats.org/drawingml/2006/main">
              <a:ext uri="{FF2B5EF4-FFF2-40B4-BE49-F238E27FC236}">
                <a16:creationId xmlns:a16="http://schemas.microsoft.com/office/drawing/2014/main" id="{A6070033-F281-4DA5-8232-28C794E97948}"/>
              </a:ext>
            </a:extLst>
          </p:cNvPr>
          <p:cNvSpPr>
            <a:spLocks xmlns:a="http://schemas.openxmlformats.org/drawingml/2006/main" noGrp="1"/>
          </p:cNvSpPr>
          <p:nvPr/>
        </p:nvSpPr>
        <p:spPr>
          <a:xfrm xmlns:a="http://schemas.openxmlformats.org/drawingml/2006/main">
            <a:off x="7905750" y="4076700"/>
            <a:ext cx="34290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5" name="">
            <a:extLst xmlns:a="http://schemas.openxmlformats.org/drawingml/2006/main">
              <a:ext uri="{FF2B5EF4-FFF2-40B4-BE49-F238E27FC236}">
                <a16:creationId xmlns:a16="http://schemas.microsoft.com/office/drawing/2014/main" id="{FCDF7BA9-428A-4D3C-9A67-6353AEAD7A37}"/>
              </a:ext>
            </a:extLst>
          </p:cNvPr>
          <p:cNvSpPr>
            <a:spLocks xmlns:a="http://schemas.openxmlformats.org/drawingml/2006/main" noGrp="1"/>
          </p:cNvSpPr>
          <p:nvPr/>
        </p:nvSpPr>
        <p:spPr>
          <a:xfrm xmlns:a="http://schemas.openxmlformats.org/drawingml/2006/main">
            <a:off x="8001000" y="41529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‏AI باید منبع‌دار و سازگار با انطباق باشد</a:t>
            </a:r>
          </a:p>
        </p:txBody>
      </p:sp>
      <p:sp>
        <p:nvSpPr>
          <p:cNvPr id="26" name="">
            <a:extLst xmlns:a="http://schemas.openxmlformats.org/drawingml/2006/main">
              <a:ext uri="{FF2B5EF4-FFF2-40B4-BE49-F238E27FC236}">
                <a16:creationId xmlns:a16="http://schemas.microsoft.com/office/drawing/2014/main" id="{29B520D6-7338-4865-B1AB-26B25971EF57}"/>
              </a:ext>
            </a:extLst>
          </p:cNvPr>
          <p:cNvSpPr>
            <a:spLocks xmlns:a="http://schemas.openxmlformats.org/drawingml/2006/main" noGrp="1"/>
          </p:cNvSpPr>
          <p:nvPr/>
        </p:nvSpPr>
        <p:spPr>
          <a:xfrm xmlns:a="http://schemas.openxmlformats.org/drawingml/2006/main">
            <a:off x="4476750" y="45910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7" name="">
            <a:extLst xmlns:a="http://schemas.openxmlformats.org/drawingml/2006/main">
              <a:ext uri="{FF2B5EF4-FFF2-40B4-BE49-F238E27FC236}">
                <a16:creationId xmlns:a16="http://schemas.microsoft.com/office/drawing/2014/main" id="{8AD2728C-B426-44D9-AA40-3EFB9DC088D8}"/>
              </a:ext>
            </a:extLst>
          </p:cNvPr>
          <p:cNvSpPr>
            <a:spLocks xmlns:a="http://schemas.openxmlformats.org/drawingml/2006/main" noGrp="1"/>
          </p:cNvSpPr>
          <p:nvPr/>
        </p:nvSpPr>
        <p:spPr>
          <a:xfrm xmlns:a="http://schemas.openxmlformats.org/drawingml/2006/main">
            <a:off x="4572000" y="4667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‏Klevers: پروژه‌های تحقیق‌وتوسعه عمومی با RWTH Aachen ITA</a:t>
            </a:r>
          </a:p>
        </p:txBody>
      </p:sp>
      <p:sp>
        <p:nvSpPr>
          <p:cNvPr id="28" name="">
            <a:extLst xmlns:a="http://schemas.openxmlformats.org/drawingml/2006/main">
              <a:ext uri="{FF2B5EF4-FFF2-40B4-BE49-F238E27FC236}">
                <a16:creationId xmlns:a16="http://schemas.microsoft.com/office/drawing/2014/main" id="{ADEEF02C-93EF-488C-855C-C99C2E5CB5BD}"/>
              </a:ext>
            </a:extLst>
          </p:cNvPr>
          <p:cNvSpPr>
            <a:spLocks xmlns:a="http://schemas.openxmlformats.org/drawingml/2006/main" noGrp="1"/>
          </p:cNvSpPr>
          <p:nvPr/>
        </p:nvSpPr>
        <p:spPr>
          <a:xfrm xmlns:a="http://schemas.openxmlformats.org/drawingml/2006/main">
            <a:off x="7905750" y="4591050"/>
            <a:ext cx="3429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9" name="">
            <a:extLst xmlns:a="http://schemas.openxmlformats.org/drawingml/2006/main">
              <a:ext uri="{FF2B5EF4-FFF2-40B4-BE49-F238E27FC236}">
                <a16:creationId xmlns:a16="http://schemas.microsoft.com/office/drawing/2014/main" id="{74E478D2-0618-40C1-BE3E-0F99CCBC532B}"/>
              </a:ext>
            </a:extLst>
          </p:cNvPr>
          <p:cNvSpPr>
            <a:spLocks xmlns:a="http://schemas.openxmlformats.org/drawingml/2006/main" noGrp="1"/>
          </p:cNvSpPr>
          <p:nvPr/>
        </p:nvSpPr>
        <p:spPr>
          <a:xfrm xmlns:a="http://schemas.openxmlformats.org/drawingml/2006/main">
            <a:off x="8001000" y="4667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111111"/>
                </a:solidFill>
                <a:latin typeface="Tahoma"/>
                <a:ea typeface="Tahoma"/>
                <a:cs typeface="Tahoma"/>
              </a:defRPr>
            </a:pPr>
            <a:r>
              <a:rPr sz="975" b="0">
                <a:solidFill>
                  <a:srgbClr val="111111"/>
                </a:solidFill>
                <a:latin typeface="Tahoma"/>
                <a:ea typeface="Tahoma"/>
                <a:cs typeface="Tahoma"/>
              </a:rPr>
              <a:t>‏تامین مالی و همکاری پژوهشی واقع‌بینانه است</a:t>
            </a:r>
          </a:p>
        </p:txBody>
      </p:sp>
      <p:sp>
        <p:nvSpPr>
          <p:cNvPr id="30" name="">
            <a:extLst xmlns:a="http://schemas.openxmlformats.org/drawingml/2006/main">
              <a:ext uri="{FF2B5EF4-FFF2-40B4-BE49-F238E27FC236}">
                <a16:creationId xmlns:a16="http://schemas.microsoft.com/office/drawing/2014/main" id="{2CD0C399-58E2-4E1B-B670-418AA235A223}"/>
              </a:ext>
            </a:extLst>
          </p:cNvPr>
          <p:cNvSpPr>
            <a:spLocks xmlns:a="http://schemas.openxmlformats.org/drawingml/2006/main" noGrp="1"/>
          </p:cNvSpPr>
          <p:nvPr/>
        </p:nvSpPr>
        <p:spPr>
          <a:xfrm xmlns:a="http://schemas.openxmlformats.org/drawingml/2006/main">
            <a:off x="4476750" y="2019300"/>
            <a:ext cx="6858000" cy="30861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31" name="">
            <a:extLst xmlns:a="http://schemas.openxmlformats.org/drawingml/2006/main">
              <a:ext uri="{FF2B5EF4-FFF2-40B4-BE49-F238E27FC236}">
                <a16:creationId xmlns:a16="http://schemas.microsoft.com/office/drawing/2014/main" id="{BFE00A86-53E3-41BE-A088-4A4CE2B05017}"/>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32" name="">
            <a:extLst xmlns:a="http://schemas.openxmlformats.org/drawingml/2006/main">
              <a:ext uri="{FF2B5EF4-FFF2-40B4-BE49-F238E27FC236}">
                <a16:creationId xmlns:a16="http://schemas.microsoft.com/office/drawing/2014/main" id="{FBE1F6FC-C81D-4546-8F38-301FF80BDCD7}"/>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latin typeface="Tahoma"/>
                <a:ea typeface="Tahoma"/>
                <a:cs typeface="Tahoma"/>
              </a:defRPr>
            </a:pPr>
            <a:r>
              <a:rPr sz="675" b="0">
                <a:solidFill>
                  <a:srgbClr val="777777"/>
                </a:solidFill>
                <a:latin typeface="Tahoma"/>
                <a:ea typeface="Tahoma"/>
                <a:cs typeface="Tahoma"/>
              </a:rPr>
              <a:t>‏منابع: Darmstaedter Entwicklung/Qualitaet؛ Klevers Lieferprogramm/Projekte/Qualitaet</a:t>
            </a:r>
          </a:p>
        </p:txBody>
      </p:sp>
      <p:sp>
        <p:nvSpPr>
          <p:cNvPr id="33" name="">
            <a:extLst xmlns:a="http://schemas.openxmlformats.org/drawingml/2006/main">
              <a:ext uri="{FF2B5EF4-FFF2-40B4-BE49-F238E27FC236}">
                <a16:creationId xmlns:a16="http://schemas.microsoft.com/office/drawing/2014/main" id="{D992237F-40F2-498D-B2E6-014B0846CF68}"/>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04</a:t>
            </a:r>
          </a:p>
        </p:txBody>
      </p:sp>
    </p:spTree>
    <p:extLst>
      <p:ext uri="{BB962C8B-B14F-4D97-AF65-F5344CB8AC3E}">
        <p14:creationId xmlns:p14="http://schemas.microsoft.com/office/powerpoint/2010/main" val="841652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B4B4D6-BB79-47DC-A5A3-58934FC96F0E}"/>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‏حوزه‌های ارزش</a:t>
            </a:r>
          </a:p>
        </p:txBody>
      </p:sp>
      <p:sp>
        <p:nvSpPr>
          <p:cNvPr id="2" name="">
            <a:extLst xmlns:a="http://schemas.openxmlformats.org/drawingml/2006/main">
              <a:ext uri="{FF2B5EF4-FFF2-40B4-BE49-F238E27FC236}">
                <a16:creationId xmlns:a16="http://schemas.microsoft.com/office/drawing/2014/main" id="{F88FD4F3-08A5-4996-AF16-998EE4D96A39}"/>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‏بزرگ‌ترین ارزش نزدیک‌مدت در کیفیت، تحقیق‌وتوسعه و تولید است</a:t>
            </a:r>
          </a:p>
        </p:txBody>
      </p:sp>
      <p:sp>
        <p:nvSpPr>
          <p:cNvPr id="3" name="">
            <a:extLst xmlns:a="http://schemas.openxmlformats.org/drawingml/2006/main">
              <a:ext uri="{FF2B5EF4-FFF2-40B4-BE49-F238E27FC236}">
                <a16:creationId xmlns:a16="http://schemas.microsoft.com/office/drawing/2014/main" id="{281AAC5B-6FF5-4C10-ABC7-8DF9E953942B}"/>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‏این حوزه‌ها یک پایه مشترک کم دارند: داده متصل رول، دستور، فرایند و آزمون.</a:t>
            </a:r>
          </a:p>
        </p:txBody>
      </p:sp>
      <p:sp>
        <p:nvSpPr>
          <p:cNvPr id="4" name="">
            <a:extLst xmlns:a="http://schemas.openxmlformats.org/drawingml/2006/main">
              <a:ext uri="{FF2B5EF4-FFF2-40B4-BE49-F238E27FC236}">
                <a16:creationId xmlns:a16="http://schemas.microsoft.com/office/drawing/2014/main" id="{EDCD90C7-411C-4326-B0B9-D33DADEF5A6D}"/>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B052A70E-88C1-40FB-B9D7-AEF634264C43}"/>
              </a:ext>
            </a:extLst>
          </p:cNvPr>
          <p:cNvSpPr>
            <a:spLocks xmlns:a="http://schemas.openxmlformats.org/drawingml/2006/main" noGrp="1"/>
          </p:cNvSpPr>
          <p:nvPr/>
        </p:nvSpPr>
        <p:spPr>
          <a:xfrm xmlns:a="http://schemas.openxmlformats.org/drawingml/2006/main">
            <a:off x="1333500" y="21431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11111"/>
                </a:solidFill>
                <a:latin typeface="Tahoma"/>
                <a:ea typeface="Tahoma"/>
                <a:cs typeface="Tahoma"/>
              </a:defRPr>
            </a:pPr>
            <a:r>
              <a:rPr sz="1125" b="1">
                <a:solidFill>
                  <a:srgbClr val="111111"/>
                </a:solidFill>
                <a:latin typeface="Tahoma"/>
                <a:ea typeface="Tahoma"/>
                <a:cs typeface="Tahoma"/>
              </a:rPr>
              <a:t>‏کیفیت</a:t>
            </a:r>
          </a:p>
        </p:txBody>
      </p:sp>
      <p:sp>
        <p:nvSpPr>
          <p:cNvPr id="6" name="">
            <a:extLst xmlns:a="http://schemas.openxmlformats.org/drawingml/2006/main">
              <a:ext uri="{FF2B5EF4-FFF2-40B4-BE49-F238E27FC236}">
                <a16:creationId xmlns:a16="http://schemas.microsoft.com/office/drawing/2014/main" id="{BFD322B0-0A8F-4AAB-B01A-21CB465E0A26}"/>
              </a:ext>
            </a:extLst>
          </p:cNvPr>
          <p:cNvSpPr>
            <a:spLocks xmlns:a="http://schemas.openxmlformats.org/drawingml/2006/main" noGrp="1"/>
          </p:cNvSpPr>
          <p:nvPr/>
        </p:nvSpPr>
        <p:spPr>
          <a:xfrm xmlns:a="http://schemas.openxmlformats.org/drawingml/2006/main">
            <a:off x="4000500" y="220027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4BF65F6-23E4-4880-8078-3A98625CD386}"/>
              </a:ext>
            </a:extLst>
          </p:cNvPr>
          <p:cNvSpPr>
            <a:spLocks xmlns:a="http://schemas.openxmlformats.org/drawingml/2006/main" noGrp="1"/>
          </p:cNvSpPr>
          <p:nvPr/>
        </p:nvSpPr>
        <p:spPr>
          <a:xfrm xmlns:a="http://schemas.openxmlformats.org/drawingml/2006/main">
            <a:off x="4000500" y="2200275"/>
            <a:ext cx="49530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35297FC-ED88-49F0-BD5A-FDF4395CBB62}"/>
              </a:ext>
            </a:extLst>
          </p:cNvPr>
          <p:cNvSpPr>
            <a:spLocks xmlns:a="http://schemas.openxmlformats.org/drawingml/2006/main" noGrp="1"/>
          </p:cNvSpPr>
          <p:nvPr/>
        </p:nvSpPr>
        <p:spPr>
          <a:xfrm xmlns:a="http://schemas.openxmlformats.org/drawingml/2006/main">
            <a:off x="9067800" y="21431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latin typeface="Tahoma"/>
                <a:ea typeface="Tahoma"/>
                <a:cs typeface="Tahoma"/>
              </a:defRPr>
            </a:pPr>
            <a:r>
              <a:rPr sz="975" b="0">
                <a:solidFill>
                  <a:srgbClr val="555555"/>
                </a:solidFill>
                <a:latin typeface="Tahoma"/>
                <a:ea typeface="Tahoma"/>
                <a:cs typeface="Tahoma"/>
              </a:rPr>
              <a:t>5.0</a:t>
            </a:r>
          </a:p>
        </p:txBody>
      </p:sp>
      <p:sp>
        <p:nvSpPr>
          <p:cNvPr id="9" name="">
            <a:extLst xmlns:a="http://schemas.openxmlformats.org/drawingml/2006/main">
              <a:ext uri="{FF2B5EF4-FFF2-40B4-BE49-F238E27FC236}">
                <a16:creationId xmlns:a16="http://schemas.microsoft.com/office/drawing/2014/main" id="{18BE8C96-B354-46C9-8F47-CB2D6D856BA6}"/>
              </a:ext>
            </a:extLst>
          </p:cNvPr>
          <p:cNvSpPr>
            <a:spLocks xmlns:a="http://schemas.openxmlformats.org/drawingml/2006/main" noGrp="1"/>
          </p:cNvSpPr>
          <p:nvPr/>
        </p:nvSpPr>
        <p:spPr>
          <a:xfrm xmlns:a="http://schemas.openxmlformats.org/drawingml/2006/main">
            <a:off x="1333500" y="26955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11111"/>
                </a:solidFill>
                <a:latin typeface="Tahoma"/>
                <a:ea typeface="Tahoma"/>
                <a:cs typeface="Tahoma"/>
              </a:defRPr>
            </a:pPr>
            <a:r>
              <a:rPr sz="1125" b="1">
                <a:solidFill>
                  <a:srgbClr val="111111"/>
                </a:solidFill>
                <a:latin typeface="Tahoma"/>
                <a:ea typeface="Tahoma"/>
                <a:cs typeface="Tahoma"/>
              </a:rPr>
              <a:t>‏تحقیق‌وتوسعه</a:t>
            </a:r>
          </a:p>
        </p:txBody>
      </p:sp>
      <p:sp>
        <p:nvSpPr>
          <p:cNvPr id="10" name="">
            <a:extLst xmlns:a="http://schemas.openxmlformats.org/drawingml/2006/main">
              <a:ext uri="{FF2B5EF4-FFF2-40B4-BE49-F238E27FC236}">
                <a16:creationId xmlns:a16="http://schemas.microsoft.com/office/drawing/2014/main" id="{B0E3FD4C-D9C7-4528-839A-EC5CF51891DB}"/>
              </a:ext>
            </a:extLst>
          </p:cNvPr>
          <p:cNvSpPr>
            <a:spLocks xmlns:a="http://schemas.openxmlformats.org/drawingml/2006/main" noGrp="1"/>
          </p:cNvSpPr>
          <p:nvPr/>
        </p:nvSpPr>
        <p:spPr>
          <a:xfrm xmlns:a="http://schemas.openxmlformats.org/drawingml/2006/main">
            <a:off x="4000500" y="275272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E03785C-70BB-491E-AEC3-EC8B405D8629}"/>
              </a:ext>
            </a:extLst>
          </p:cNvPr>
          <p:cNvSpPr>
            <a:spLocks xmlns:a="http://schemas.openxmlformats.org/drawingml/2006/main" noGrp="1"/>
          </p:cNvSpPr>
          <p:nvPr/>
        </p:nvSpPr>
        <p:spPr>
          <a:xfrm xmlns:a="http://schemas.openxmlformats.org/drawingml/2006/main">
            <a:off x="4000500" y="2752725"/>
            <a:ext cx="49530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DF3267-3C31-411A-AAE2-98A02CB6D538}"/>
              </a:ext>
            </a:extLst>
          </p:cNvPr>
          <p:cNvSpPr>
            <a:spLocks xmlns:a="http://schemas.openxmlformats.org/drawingml/2006/main" noGrp="1"/>
          </p:cNvSpPr>
          <p:nvPr/>
        </p:nvSpPr>
        <p:spPr>
          <a:xfrm xmlns:a="http://schemas.openxmlformats.org/drawingml/2006/main">
            <a:off x="9067800" y="26955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latin typeface="Tahoma"/>
                <a:ea typeface="Tahoma"/>
                <a:cs typeface="Tahoma"/>
              </a:defRPr>
            </a:pPr>
            <a:r>
              <a:rPr sz="975" b="0">
                <a:solidFill>
                  <a:srgbClr val="555555"/>
                </a:solidFill>
                <a:latin typeface="Tahoma"/>
                <a:ea typeface="Tahoma"/>
                <a:cs typeface="Tahoma"/>
              </a:rPr>
              <a:t>5.0</a:t>
            </a:r>
          </a:p>
        </p:txBody>
      </p:sp>
      <p:sp>
        <p:nvSpPr>
          <p:cNvPr id="13" name="">
            <a:extLst xmlns:a="http://schemas.openxmlformats.org/drawingml/2006/main">
              <a:ext uri="{FF2B5EF4-FFF2-40B4-BE49-F238E27FC236}">
                <a16:creationId xmlns:a16="http://schemas.microsoft.com/office/drawing/2014/main" id="{B32B2376-7250-40A0-BDDF-1BEEEB7BF6F8}"/>
              </a:ext>
            </a:extLst>
          </p:cNvPr>
          <p:cNvSpPr>
            <a:spLocks xmlns:a="http://schemas.openxmlformats.org/drawingml/2006/main" noGrp="1"/>
          </p:cNvSpPr>
          <p:nvPr/>
        </p:nvSpPr>
        <p:spPr>
          <a:xfrm xmlns:a="http://schemas.openxmlformats.org/drawingml/2006/main">
            <a:off x="1333500" y="32480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11111"/>
                </a:solidFill>
                <a:latin typeface="Tahoma"/>
                <a:ea typeface="Tahoma"/>
                <a:cs typeface="Tahoma"/>
              </a:defRPr>
            </a:pPr>
            <a:r>
              <a:rPr sz="1125" b="1">
                <a:solidFill>
                  <a:srgbClr val="111111"/>
                </a:solidFill>
                <a:latin typeface="Tahoma"/>
                <a:ea typeface="Tahoma"/>
                <a:cs typeface="Tahoma"/>
              </a:rPr>
              <a:t>‏تولید</a:t>
            </a:r>
          </a:p>
        </p:txBody>
      </p:sp>
      <p:sp>
        <p:nvSpPr>
          <p:cNvPr id="14" name="">
            <a:extLst xmlns:a="http://schemas.openxmlformats.org/drawingml/2006/main">
              <a:ext uri="{FF2B5EF4-FFF2-40B4-BE49-F238E27FC236}">
                <a16:creationId xmlns:a16="http://schemas.microsoft.com/office/drawing/2014/main" id="{4722A9B3-EF06-41EB-AA8F-3954215CCAC0}"/>
              </a:ext>
            </a:extLst>
          </p:cNvPr>
          <p:cNvSpPr>
            <a:spLocks xmlns:a="http://schemas.openxmlformats.org/drawingml/2006/main" noGrp="1"/>
          </p:cNvSpPr>
          <p:nvPr/>
        </p:nvSpPr>
        <p:spPr>
          <a:xfrm xmlns:a="http://schemas.openxmlformats.org/drawingml/2006/main">
            <a:off x="4000500" y="330517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D1CBE75-E9AE-4277-84F8-BA09B10D2971}"/>
              </a:ext>
            </a:extLst>
          </p:cNvPr>
          <p:cNvSpPr>
            <a:spLocks xmlns:a="http://schemas.openxmlformats.org/drawingml/2006/main" noGrp="1"/>
          </p:cNvSpPr>
          <p:nvPr/>
        </p:nvSpPr>
        <p:spPr>
          <a:xfrm xmlns:a="http://schemas.openxmlformats.org/drawingml/2006/main">
            <a:off x="4000500" y="3305175"/>
            <a:ext cx="44577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6B0B7D-A331-4309-90E6-B7C00C775516}"/>
              </a:ext>
            </a:extLst>
          </p:cNvPr>
          <p:cNvSpPr>
            <a:spLocks xmlns:a="http://schemas.openxmlformats.org/drawingml/2006/main" noGrp="1"/>
          </p:cNvSpPr>
          <p:nvPr/>
        </p:nvSpPr>
        <p:spPr>
          <a:xfrm xmlns:a="http://schemas.openxmlformats.org/drawingml/2006/main">
            <a:off x="9067800" y="32480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latin typeface="Tahoma"/>
                <a:ea typeface="Tahoma"/>
                <a:cs typeface="Tahoma"/>
              </a:defRPr>
            </a:pPr>
            <a:r>
              <a:rPr sz="975" b="0">
                <a:solidFill>
                  <a:srgbClr val="555555"/>
                </a:solidFill>
                <a:latin typeface="Tahoma"/>
                <a:ea typeface="Tahoma"/>
                <a:cs typeface="Tahoma"/>
              </a:rPr>
              <a:t>4.5</a:t>
            </a:r>
          </a:p>
        </p:txBody>
      </p:sp>
      <p:sp>
        <p:nvSpPr>
          <p:cNvPr id="17" name="">
            <a:extLst xmlns:a="http://schemas.openxmlformats.org/drawingml/2006/main">
              <a:ext uri="{FF2B5EF4-FFF2-40B4-BE49-F238E27FC236}">
                <a16:creationId xmlns:a16="http://schemas.microsoft.com/office/drawing/2014/main" id="{BDBA56A0-6A60-4F6E-B1F8-F548A7017E40}"/>
              </a:ext>
            </a:extLst>
          </p:cNvPr>
          <p:cNvSpPr>
            <a:spLocks xmlns:a="http://schemas.openxmlformats.org/drawingml/2006/main" noGrp="1"/>
          </p:cNvSpPr>
          <p:nvPr/>
        </p:nvSpPr>
        <p:spPr>
          <a:xfrm xmlns:a="http://schemas.openxmlformats.org/drawingml/2006/main">
            <a:off x="1333500" y="38004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11111"/>
                </a:solidFill>
                <a:latin typeface="Tahoma"/>
                <a:ea typeface="Tahoma"/>
                <a:cs typeface="Tahoma"/>
              </a:defRPr>
            </a:pPr>
            <a:r>
              <a:rPr sz="1125" b="1">
                <a:solidFill>
                  <a:srgbClr val="111111"/>
                </a:solidFill>
                <a:latin typeface="Tahoma"/>
                <a:ea typeface="Tahoma"/>
                <a:cs typeface="Tahoma"/>
              </a:rPr>
              <a:t>‏فروش</a:t>
            </a:r>
          </a:p>
        </p:txBody>
      </p:sp>
      <p:sp>
        <p:nvSpPr>
          <p:cNvPr id="18" name="">
            <a:extLst xmlns:a="http://schemas.openxmlformats.org/drawingml/2006/main">
              <a:ext uri="{FF2B5EF4-FFF2-40B4-BE49-F238E27FC236}">
                <a16:creationId xmlns:a16="http://schemas.microsoft.com/office/drawing/2014/main" id="{CDEC0202-EA7F-48DD-89F0-4AFD110D20D0}"/>
              </a:ext>
            </a:extLst>
          </p:cNvPr>
          <p:cNvSpPr>
            <a:spLocks xmlns:a="http://schemas.openxmlformats.org/drawingml/2006/main" noGrp="1"/>
          </p:cNvSpPr>
          <p:nvPr/>
        </p:nvSpPr>
        <p:spPr>
          <a:xfrm xmlns:a="http://schemas.openxmlformats.org/drawingml/2006/main">
            <a:off x="4000500" y="385762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015E88-60E9-4162-89C1-5F1FA5F11AD0}"/>
              </a:ext>
            </a:extLst>
          </p:cNvPr>
          <p:cNvSpPr>
            <a:spLocks xmlns:a="http://schemas.openxmlformats.org/drawingml/2006/main" noGrp="1"/>
          </p:cNvSpPr>
          <p:nvPr/>
        </p:nvSpPr>
        <p:spPr>
          <a:xfrm xmlns:a="http://schemas.openxmlformats.org/drawingml/2006/main">
            <a:off x="4000500" y="3857625"/>
            <a:ext cx="366522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E789995-9EC3-4C13-9677-BAF3A31585FB}"/>
              </a:ext>
            </a:extLst>
          </p:cNvPr>
          <p:cNvSpPr>
            <a:spLocks xmlns:a="http://schemas.openxmlformats.org/drawingml/2006/main" noGrp="1"/>
          </p:cNvSpPr>
          <p:nvPr/>
        </p:nvSpPr>
        <p:spPr>
          <a:xfrm xmlns:a="http://schemas.openxmlformats.org/drawingml/2006/main">
            <a:off x="9067800" y="38004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latin typeface="Tahoma"/>
                <a:ea typeface="Tahoma"/>
                <a:cs typeface="Tahoma"/>
              </a:defRPr>
            </a:pPr>
            <a:r>
              <a:rPr sz="975" b="0">
                <a:solidFill>
                  <a:srgbClr val="555555"/>
                </a:solidFill>
                <a:latin typeface="Tahoma"/>
                <a:ea typeface="Tahoma"/>
                <a:cs typeface="Tahoma"/>
              </a:rPr>
              <a:t>3.7</a:t>
            </a:r>
          </a:p>
        </p:txBody>
      </p:sp>
      <p:sp>
        <p:nvSpPr>
          <p:cNvPr id="21" name="">
            <a:extLst xmlns:a="http://schemas.openxmlformats.org/drawingml/2006/main">
              <a:ext uri="{FF2B5EF4-FFF2-40B4-BE49-F238E27FC236}">
                <a16:creationId xmlns:a16="http://schemas.microsoft.com/office/drawing/2014/main" id="{1F064BD4-7225-498F-8FD4-2EC4379D27B9}"/>
              </a:ext>
            </a:extLst>
          </p:cNvPr>
          <p:cNvSpPr>
            <a:spLocks xmlns:a="http://schemas.openxmlformats.org/drawingml/2006/main" noGrp="1"/>
          </p:cNvSpPr>
          <p:nvPr/>
        </p:nvSpPr>
        <p:spPr>
          <a:xfrm xmlns:a="http://schemas.openxmlformats.org/drawingml/2006/main">
            <a:off x="1333500" y="43529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11111"/>
                </a:solidFill>
                <a:latin typeface="Tahoma"/>
                <a:ea typeface="Tahoma"/>
                <a:cs typeface="Tahoma"/>
              </a:defRPr>
            </a:pPr>
            <a:r>
              <a:rPr sz="1125" b="1">
                <a:solidFill>
                  <a:srgbClr val="111111"/>
                </a:solidFill>
                <a:latin typeface="Tahoma"/>
                <a:ea typeface="Tahoma"/>
                <a:cs typeface="Tahoma"/>
              </a:rPr>
              <a:t>‏تامین</a:t>
            </a:r>
          </a:p>
        </p:txBody>
      </p:sp>
      <p:sp>
        <p:nvSpPr>
          <p:cNvPr id="22" name="">
            <a:extLst xmlns:a="http://schemas.openxmlformats.org/drawingml/2006/main">
              <a:ext uri="{FF2B5EF4-FFF2-40B4-BE49-F238E27FC236}">
                <a16:creationId xmlns:a16="http://schemas.microsoft.com/office/drawing/2014/main" id="{C8F1EF73-ACE6-46E5-AB1A-0ABDF9E2FBB6}"/>
              </a:ext>
            </a:extLst>
          </p:cNvPr>
          <p:cNvSpPr>
            <a:spLocks xmlns:a="http://schemas.openxmlformats.org/drawingml/2006/main" noGrp="1"/>
          </p:cNvSpPr>
          <p:nvPr/>
        </p:nvSpPr>
        <p:spPr>
          <a:xfrm xmlns:a="http://schemas.openxmlformats.org/drawingml/2006/main">
            <a:off x="4000500" y="441007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429E9EB-1BF7-4C84-A469-328C1A46B862}"/>
              </a:ext>
            </a:extLst>
          </p:cNvPr>
          <p:cNvSpPr>
            <a:spLocks xmlns:a="http://schemas.openxmlformats.org/drawingml/2006/main" noGrp="1"/>
          </p:cNvSpPr>
          <p:nvPr/>
        </p:nvSpPr>
        <p:spPr>
          <a:xfrm xmlns:a="http://schemas.openxmlformats.org/drawingml/2006/main">
            <a:off x="4000500" y="4410075"/>
            <a:ext cx="34671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75A014B-DD29-4E7D-B8DE-F2DD09F7B2FD}"/>
              </a:ext>
            </a:extLst>
          </p:cNvPr>
          <p:cNvSpPr>
            <a:spLocks xmlns:a="http://schemas.openxmlformats.org/drawingml/2006/main" noGrp="1"/>
          </p:cNvSpPr>
          <p:nvPr/>
        </p:nvSpPr>
        <p:spPr>
          <a:xfrm xmlns:a="http://schemas.openxmlformats.org/drawingml/2006/main">
            <a:off x="9067800" y="43529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latin typeface="Tahoma"/>
                <a:ea typeface="Tahoma"/>
                <a:cs typeface="Tahoma"/>
              </a:defRPr>
            </a:pPr>
            <a:r>
              <a:rPr sz="975" b="0">
                <a:solidFill>
                  <a:srgbClr val="555555"/>
                </a:solidFill>
                <a:latin typeface="Tahoma"/>
                <a:ea typeface="Tahoma"/>
                <a:cs typeface="Tahoma"/>
              </a:rPr>
              <a:t>3.5</a:t>
            </a:r>
          </a:p>
        </p:txBody>
      </p:sp>
      <p:sp>
        <p:nvSpPr>
          <p:cNvPr id="25" name="">
            <a:extLst xmlns:a="http://schemas.openxmlformats.org/drawingml/2006/main">
              <a:ext uri="{FF2B5EF4-FFF2-40B4-BE49-F238E27FC236}">
                <a16:creationId xmlns:a16="http://schemas.microsoft.com/office/drawing/2014/main" id="{82A4CC81-8B46-4698-A7B0-86B8B2F54CF6}"/>
              </a:ext>
            </a:extLst>
          </p:cNvPr>
          <p:cNvSpPr>
            <a:spLocks xmlns:a="http://schemas.openxmlformats.org/drawingml/2006/main" noGrp="1"/>
          </p:cNvSpPr>
          <p:nvPr/>
        </p:nvSpPr>
        <p:spPr>
          <a:xfrm xmlns:a="http://schemas.openxmlformats.org/drawingml/2006/main">
            <a:off x="1333500" y="4905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1">
                <a:solidFill>
                  <a:srgbClr val="111111"/>
                </a:solidFill>
                <a:latin typeface="Tahoma"/>
                <a:ea typeface="Tahoma"/>
                <a:cs typeface="Tahoma"/>
              </a:defRPr>
            </a:pPr>
            <a:r>
              <a:rPr sz="1125" b="1">
                <a:solidFill>
                  <a:srgbClr val="111111"/>
                </a:solidFill>
                <a:latin typeface="Tahoma"/>
                <a:ea typeface="Tahoma"/>
                <a:cs typeface="Tahoma"/>
              </a:rPr>
              <a:t>‏اداری</a:t>
            </a:r>
          </a:p>
        </p:txBody>
      </p:sp>
      <p:sp>
        <p:nvSpPr>
          <p:cNvPr id="26" name="">
            <a:extLst xmlns:a="http://schemas.openxmlformats.org/drawingml/2006/main">
              <a:ext uri="{FF2B5EF4-FFF2-40B4-BE49-F238E27FC236}">
                <a16:creationId xmlns:a16="http://schemas.microsoft.com/office/drawing/2014/main" id="{2DA16AA9-F369-4880-A76B-02879B2567D6}"/>
              </a:ext>
            </a:extLst>
          </p:cNvPr>
          <p:cNvSpPr>
            <a:spLocks xmlns:a="http://schemas.openxmlformats.org/drawingml/2006/main" noGrp="1"/>
          </p:cNvSpPr>
          <p:nvPr/>
        </p:nvSpPr>
        <p:spPr>
          <a:xfrm xmlns:a="http://schemas.openxmlformats.org/drawingml/2006/main">
            <a:off x="4000500" y="4962525"/>
            <a:ext cx="4953000" cy="114300"/>
          </a:xfrm>
          <a:prstGeom xmlns:a="http://schemas.openxmlformats.org/drawingml/2006/main" prst="rect">
            <a:avLst/>
          </a:prstGeom>
          <a:solidFill xmlns:a="http://schemas.openxmlformats.org/drawingml/2006/main">
            <a:srgbClr val="E5E5E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A10AA9E-09F6-4F1B-B042-4B94349C202B}"/>
              </a:ext>
            </a:extLst>
          </p:cNvPr>
          <p:cNvSpPr>
            <a:spLocks xmlns:a="http://schemas.openxmlformats.org/drawingml/2006/main" noGrp="1"/>
          </p:cNvSpPr>
          <p:nvPr/>
        </p:nvSpPr>
        <p:spPr>
          <a:xfrm xmlns:a="http://schemas.openxmlformats.org/drawingml/2006/main">
            <a:off x="4000500" y="4962525"/>
            <a:ext cx="2476500" cy="11430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E992BC7-7B0E-411B-8D92-55C6377140E4}"/>
              </a:ext>
            </a:extLst>
          </p:cNvPr>
          <p:cNvSpPr>
            <a:spLocks xmlns:a="http://schemas.openxmlformats.org/drawingml/2006/main" noGrp="1"/>
          </p:cNvSpPr>
          <p:nvPr/>
        </p:nvSpPr>
        <p:spPr>
          <a:xfrm xmlns:a="http://schemas.openxmlformats.org/drawingml/2006/main">
            <a:off x="9067800" y="49053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latin typeface="Tahoma"/>
                <a:ea typeface="Tahoma"/>
                <a:cs typeface="Tahoma"/>
              </a:defRPr>
            </a:pPr>
            <a:r>
              <a:rPr sz="975" b="0">
                <a:solidFill>
                  <a:srgbClr val="555555"/>
                </a:solidFill>
                <a:latin typeface="Tahoma"/>
                <a:ea typeface="Tahoma"/>
                <a:cs typeface="Tahoma"/>
              </a:rPr>
              <a:t>2.5</a:t>
            </a:r>
          </a:p>
        </p:txBody>
      </p:sp>
      <p:sp>
        <p:nvSpPr>
          <p:cNvPr id="29" name="">
            <a:extLst xmlns:a="http://schemas.openxmlformats.org/drawingml/2006/main">
              <a:ext uri="{FF2B5EF4-FFF2-40B4-BE49-F238E27FC236}">
                <a16:creationId xmlns:a16="http://schemas.microsoft.com/office/drawing/2014/main" id="{14F5DE4A-135A-4FD2-80A8-990D6C48888F}"/>
              </a:ext>
            </a:extLst>
          </p:cNvPr>
          <p:cNvSpPr>
            <a:spLocks xmlns:a="http://schemas.openxmlformats.org/drawingml/2006/main" noGrp="1"/>
          </p:cNvSpPr>
          <p:nvPr/>
        </p:nvSpPr>
        <p:spPr>
          <a:xfrm xmlns:a="http://schemas.openxmlformats.org/drawingml/2006/main">
            <a:off x="7810500" y="2190750"/>
            <a:ext cx="2952750" cy="26670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30" name="">
            <a:extLst xmlns:a="http://schemas.openxmlformats.org/drawingml/2006/main">
              <a:ext uri="{FF2B5EF4-FFF2-40B4-BE49-F238E27FC236}">
                <a16:creationId xmlns:a16="http://schemas.microsoft.com/office/drawing/2014/main" id="{90D74A7A-E652-4EF9-8950-07DF02D933A6}"/>
              </a:ext>
            </a:extLst>
          </p:cNvPr>
          <p:cNvSpPr>
            <a:spLocks xmlns:a="http://schemas.openxmlformats.org/drawingml/2006/main" noGrp="1"/>
          </p:cNvSpPr>
          <p:nvPr/>
        </p:nvSpPr>
        <p:spPr>
          <a:xfrm xmlns:a="http://schemas.openxmlformats.org/drawingml/2006/main">
            <a:off x="8096250" y="24765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800" b="1">
                <a:solidFill>
                  <a:srgbClr val="111111"/>
                </a:solidFill>
                <a:latin typeface="Tahoma"/>
                <a:ea typeface="Tahoma"/>
                <a:cs typeface="Tahoma"/>
              </a:defRPr>
            </a:pPr>
            <a:r>
              <a:rPr sz="1800" b="1">
                <a:solidFill>
                  <a:srgbClr val="111111"/>
                </a:solidFill>
                <a:latin typeface="Tahoma"/>
                <a:ea typeface="Tahoma"/>
                <a:cs typeface="Tahoma"/>
              </a:rPr>
              <a:t>‏چرا ابتدا کیفیت؟</a:t>
            </a:r>
          </a:p>
        </p:txBody>
      </p:sp>
      <p:sp>
        <p:nvSpPr>
          <p:cNvPr id="31" name="">
            <a:extLst xmlns:a="http://schemas.openxmlformats.org/drawingml/2006/main">
              <a:ext uri="{FF2B5EF4-FFF2-40B4-BE49-F238E27FC236}">
                <a16:creationId xmlns:a16="http://schemas.microsoft.com/office/drawing/2014/main" id="{5E3D6E03-F788-4E25-92F0-382D99AA4824}"/>
              </a:ext>
            </a:extLst>
          </p:cNvPr>
          <p:cNvSpPr>
            <a:spLocks xmlns:a="http://schemas.openxmlformats.org/drawingml/2006/main" noGrp="1"/>
          </p:cNvSpPr>
          <p:nvPr/>
        </p:nvSpPr>
        <p:spPr>
          <a:xfrm xmlns:a="http://schemas.openxmlformats.org/drawingml/2006/main">
            <a:off x="8096250" y="2990850"/>
            <a:ext cx="2190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برای مدیریت قابل مشاهده است</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از شواهد موجود استفاده می‌کند</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تولید و تحقیق‌وتوسعه را وصل می‌کند</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در چند هفته قابل اندازه‌گیری است</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ریسک عملیاتی پایین دارد</a:t>
            </a:r>
          </a:p>
        </p:txBody>
      </p:sp>
      <p:sp>
        <p:nvSpPr>
          <p:cNvPr id="32" name="">
            <a:extLst xmlns:a="http://schemas.openxmlformats.org/drawingml/2006/main">
              <a:ext uri="{FF2B5EF4-FFF2-40B4-BE49-F238E27FC236}">
                <a16:creationId xmlns:a16="http://schemas.microsoft.com/office/drawing/2014/main" id="{7BECF07E-0E28-4401-8457-E48A4F44382A}"/>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33" name="">
            <a:extLst xmlns:a="http://schemas.openxmlformats.org/drawingml/2006/main">
              <a:ext uri="{FF2B5EF4-FFF2-40B4-BE49-F238E27FC236}">
                <a16:creationId xmlns:a16="http://schemas.microsoft.com/office/drawing/2014/main" id="{4985CC1F-F312-47B8-BDED-E38C9E1403E9}"/>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05</a:t>
            </a:r>
          </a:p>
        </p:txBody>
      </p:sp>
    </p:spTree>
    <p:extLst>
      <p:ext uri="{BB962C8B-B14F-4D97-AF65-F5344CB8AC3E}">
        <p14:creationId xmlns:p14="http://schemas.microsoft.com/office/powerpoint/2010/main" val="3184900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9E6B40-74D2-42B5-AA5D-9E237F21BCA9}"/>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‏نقشه فرصت</a:t>
            </a:r>
          </a:p>
        </p:txBody>
      </p:sp>
      <p:sp>
        <p:nvSpPr>
          <p:cNvPr id="2" name="">
            <a:extLst xmlns:a="http://schemas.openxmlformats.org/drawingml/2006/main">
              <a:ext uri="{FF2B5EF4-FFF2-40B4-BE49-F238E27FC236}">
                <a16:creationId xmlns:a16="http://schemas.microsoft.com/office/drawing/2014/main" id="{0B517C02-3239-4914-8510-5DE3E43786DD}"/>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‏فرصت‌های AI کل شرکت را پوشش می‌دهد، اما همه نباید اکنون شروع شوند</a:t>
            </a:r>
          </a:p>
        </p:txBody>
      </p:sp>
      <p:sp>
        <p:nvSpPr>
          <p:cNvPr id="3" name="">
            <a:extLst xmlns:a="http://schemas.openxmlformats.org/drawingml/2006/main">
              <a:ext uri="{FF2B5EF4-FFF2-40B4-BE49-F238E27FC236}">
                <a16:creationId xmlns:a16="http://schemas.microsoft.com/office/drawing/2014/main" id="{6BA30031-A737-4285-9382-E1625B6F96D9}"/>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‏موج اول باید دارایی داده قابل استفاده مجدد بسازد، نه دموی جداگانه.</a:t>
            </a:r>
          </a:p>
        </p:txBody>
      </p:sp>
      <p:sp>
        <p:nvSpPr>
          <p:cNvPr id="4" name="">
            <a:extLst xmlns:a="http://schemas.openxmlformats.org/drawingml/2006/main">
              <a:ext uri="{FF2B5EF4-FFF2-40B4-BE49-F238E27FC236}">
                <a16:creationId xmlns:a16="http://schemas.microsoft.com/office/drawing/2014/main" id="{62B6AB4F-F062-474D-AC34-5EBFD91B348A}"/>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48FA1071-DF8E-411E-A2CB-F31034284A1B}"/>
              </a:ext>
            </a:extLst>
          </p:cNvPr>
          <p:cNvSpPr>
            <a:spLocks xmlns:a="http://schemas.openxmlformats.org/drawingml/2006/main" noGrp="1"/>
          </p:cNvSpPr>
          <p:nvPr/>
        </p:nvSpPr>
        <p:spPr>
          <a:xfrm xmlns:a="http://schemas.openxmlformats.org/drawingml/2006/main">
            <a:off x="666750" y="1924050"/>
            <a:ext cx="161925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4F5B7832-F4C5-486B-B1D2-38884D3133C8}"/>
              </a:ext>
            </a:extLst>
          </p:cNvPr>
          <p:cNvSpPr>
            <a:spLocks xmlns:a="http://schemas.openxmlformats.org/drawingml/2006/main" noGrp="1"/>
          </p:cNvSpPr>
          <p:nvPr/>
        </p:nvSpPr>
        <p:spPr>
          <a:xfrm xmlns:a="http://schemas.openxmlformats.org/drawingml/2006/main">
            <a:off x="762000" y="20002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‏واحد</a:t>
            </a:r>
          </a:p>
        </p:txBody>
      </p:sp>
      <p:sp>
        <p:nvSpPr>
          <p:cNvPr id="7" name="">
            <a:extLst xmlns:a="http://schemas.openxmlformats.org/drawingml/2006/main">
              <a:ext uri="{FF2B5EF4-FFF2-40B4-BE49-F238E27FC236}">
                <a16:creationId xmlns:a16="http://schemas.microsoft.com/office/drawing/2014/main" id="{69F8EFEA-907C-417E-B75E-246DE5732AF9}"/>
              </a:ext>
            </a:extLst>
          </p:cNvPr>
          <p:cNvSpPr>
            <a:spLocks xmlns:a="http://schemas.openxmlformats.org/drawingml/2006/main" noGrp="1"/>
          </p:cNvSpPr>
          <p:nvPr/>
        </p:nvSpPr>
        <p:spPr>
          <a:xfrm xmlns:a="http://schemas.openxmlformats.org/drawingml/2006/main">
            <a:off x="2286000" y="1924050"/>
            <a:ext cx="285750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AC9E40D2-FFF0-498D-8195-4B8EEE80D6D1}"/>
              </a:ext>
            </a:extLst>
          </p:cNvPr>
          <p:cNvSpPr>
            <a:spLocks xmlns:a="http://schemas.openxmlformats.org/drawingml/2006/main" noGrp="1"/>
          </p:cNvSpPr>
          <p:nvPr/>
        </p:nvSpPr>
        <p:spPr>
          <a:xfrm xmlns:a="http://schemas.openxmlformats.org/drawingml/2006/main">
            <a:off x="2381250" y="20002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‏برد سریع</a:t>
            </a:r>
          </a:p>
        </p:txBody>
      </p:sp>
      <p:sp>
        <p:nvSpPr>
          <p:cNvPr id="9" name="">
            <a:extLst xmlns:a="http://schemas.openxmlformats.org/drawingml/2006/main">
              <a:ext uri="{FF2B5EF4-FFF2-40B4-BE49-F238E27FC236}">
                <a16:creationId xmlns:a16="http://schemas.microsoft.com/office/drawing/2014/main" id="{0D9DBACA-C2A0-450F-88BF-64A4E3DC545E}"/>
              </a:ext>
            </a:extLst>
          </p:cNvPr>
          <p:cNvSpPr>
            <a:spLocks xmlns:a="http://schemas.openxmlformats.org/drawingml/2006/main" noGrp="1"/>
          </p:cNvSpPr>
          <p:nvPr/>
        </p:nvSpPr>
        <p:spPr>
          <a:xfrm xmlns:a="http://schemas.openxmlformats.org/drawingml/2006/main">
            <a:off x="5143500" y="1924050"/>
            <a:ext cx="342900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9A4FB398-73BC-4AF0-ACFC-B365C77C1F5F}"/>
              </a:ext>
            </a:extLst>
          </p:cNvPr>
          <p:cNvSpPr>
            <a:spLocks xmlns:a="http://schemas.openxmlformats.org/drawingml/2006/main" noGrp="1"/>
          </p:cNvSpPr>
          <p:nvPr/>
        </p:nvSpPr>
        <p:spPr>
          <a:xfrm xmlns:a="http://schemas.openxmlformats.org/drawingml/2006/main">
            <a:off x="5238750" y="20002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‏فرصت بلندمدت AI</a:t>
            </a:r>
          </a:p>
        </p:txBody>
      </p:sp>
      <p:sp>
        <p:nvSpPr>
          <p:cNvPr id="11" name="">
            <a:extLst xmlns:a="http://schemas.openxmlformats.org/drawingml/2006/main">
              <a:ext uri="{FF2B5EF4-FFF2-40B4-BE49-F238E27FC236}">
                <a16:creationId xmlns:a16="http://schemas.microsoft.com/office/drawing/2014/main" id="{33BBCEC9-C77D-4D12-A43D-FA701476965F}"/>
              </a:ext>
            </a:extLst>
          </p:cNvPr>
          <p:cNvSpPr>
            <a:spLocks xmlns:a="http://schemas.openxmlformats.org/drawingml/2006/main" noGrp="1"/>
          </p:cNvSpPr>
          <p:nvPr/>
        </p:nvSpPr>
        <p:spPr>
          <a:xfrm xmlns:a="http://schemas.openxmlformats.org/drawingml/2006/main">
            <a:off x="8572500" y="1924050"/>
            <a:ext cx="1143000" cy="4000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2BBA4A6A-5573-49D2-AD3B-41044A496567}"/>
              </a:ext>
            </a:extLst>
          </p:cNvPr>
          <p:cNvSpPr>
            <a:spLocks xmlns:a="http://schemas.openxmlformats.org/drawingml/2006/main" noGrp="1"/>
          </p:cNvSpPr>
          <p:nvPr/>
        </p:nvSpPr>
        <p:spPr>
          <a:xfrm xmlns:a="http://schemas.openxmlformats.org/drawingml/2006/main">
            <a:off x="8667750" y="2000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‏شروع</a:t>
            </a:r>
          </a:p>
        </p:txBody>
      </p:sp>
      <p:sp>
        <p:nvSpPr>
          <p:cNvPr id="13" name="">
            <a:extLst xmlns:a="http://schemas.openxmlformats.org/drawingml/2006/main">
              <a:ext uri="{FF2B5EF4-FFF2-40B4-BE49-F238E27FC236}">
                <a16:creationId xmlns:a16="http://schemas.microsoft.com/office/drawing/2014/main" id="{410D6736-DD4C-4A2D-88D6-360482DB9742}"/>
              </a:ext>
            </a:extLst>
          </p:cNvPr>
          <p:cNvSpPr>
            <a:spLocks xmlns:a="http://schemas.openxmlformats.org/drawingml/2006/main" noGrp="1"/>
          </p:cNvSpPr>
          <p:nvPr/>
        </p:nvSpPr>
        <p:spPr>
          <a:xfrm xmlns:a="http://schemas.openxmlformats.org/drawingml/2006/main">
            <a:off x="666750" y="23241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EC5A5A96-1448-41DA-A7D6-430FBA7D1714}"/>
              </a:ext>
            </a:extLst>
          </p:cNvPr>
          <p:cNvSpPr>
            <a:spLocks xmlns:a="http://schemas.openxmlformats.org/drawingml/2006/main" noGrp="1"/>
          </p:cNvSpPr>
          <p:nvPr/>
        </p:nvSpPr>
        <p:spPr>
          <a:xfrm xmlns:a="http://schemas.openxmlformats.org/drawingml/2006/main">
            <a:off x="762000" y="2400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‏تحقیق‌وتوسعه</a:t>
            </a:r>
          </a:p>
        </p:txBody>
      </p:sp>
      <p:sp>
        <p:nvSpPr>
          <p:cNvPr id="15" name="">
            <a:extLst xmlns:a="http://schemas.openxmlformats.org/drawingml/2006/main">
              <a:ext uri="{FF2B5EF4-FFF2-40B4-BE49-F238E27FC236}">
                <a16:creationId xmlns:a16="http://schemas.microsoft.com/office/drawing/2014/main" id="{4A36AF73-7588-4EBF-969F-811E4A0045BE}"/>
              </a:ext>
            </a:extLst>
          </p:cNvPr>
          <p:cNvSpPr>
            <a:spLocks xmlns:a="http://schemas.openxmlformats.org/drawingml/2006/main" noGrp="1"/>
          </p:cNvSpPr>
          <p:nvPr/>
        </p:nvSpPr>
        <p:spPr>
          <a:xfrm xmlns:a="http://schemas.openxmlformats.org/drawingml/2006/main">
            <a:off x="2286000" y="23241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FB813E17-0F8E-45D9-8F55-178BA960F76E}"/>
              </a:ext>
            </a:extLst>
          </p:cNvPr>
          <p:cNvSpPr>
            <a:spLocks xmlns:a="http://schemas.openxmlformats.org/drawingml/2006/main" noGrp="1"/>
          </p:cNvSpPr>
          <p:nvPr/>
        </p:nvSpPr>
        <p:spPr>
          <a:xfrm xmlns:a="http://schemas.openxmlformats.org/drawingml/2006/main">
            <a:off x="2381250" y="2400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‏گراف دانش</a:t>
            </a:r>
          </a:p>
        </p:txBody>
      </p:sp>
      <p:sp>
        <p:nvSpPr>
          <p:cNvPr id="17" name="">
            <a:extLst xmlns:a="http://schemas.openxmlformats.org/drawingml/2006/main">
              <a:ext uri="{FF2B5EF4-FFF2-40B4-BE49-F238E27FC236}">
                <a16:creationId xmlns:a16="http://schemas.microsoft.com/office/drawing/2014/main" id="{2E85E3C5-A252-4533-B50A-4FDC5F0D2A4B}"/>
              </a:ext>
            </a:extLst>
          </p:cNvPr>
          <p:cNvSpPr>
            <a:spLocks xmlns:a="http://schemas.openxmlformats.org/drawingml/2006/main" noGrp="1"/>
          </p:cNvSpPr>
          <p:nvPr/>
        </p:nvSpPr>
        <p:spPr>
          <a:xfrm xmlns:a="http://schemas.openxmlformats.org/drawingml/2006/main">
            <a:off x="5143500" y="23241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E1277D1E-780A-4258-B4F3-6FD68DD0FBC0}"/>
              </a:ext>
            </a:extLst>
          </p:cNvPr>
          <p:cNvSpPr>
            <a:spLocks xmlns:a="http://schemas.openxmlformats.org/drawingml/2006/main" noGrp="1"/>
          </p:cNvSpPr>
          <p:nvPr/>
        </p:nvSpPr>
        <p:spPr>
          <a:xfrm xmlns:a="http://schemas.openxmlformats.org/drawingml/2006/main">
            <a:off x="5238750" y="2400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‏بهینه‌ساز فرمولاسیون</a:t>
            </a:r>
          </a:p>
        </p:txBody>
      </p:sp>
      <p:sp>
        <p:nvSpPr>
          <p:cNvPr id="19" name="">
            <a:extLst xmlns:a="http://schemas.openxmlformats.org/drawingml/2006/main">
              <a:ext uri="{FF2B5EF4-FFF2-40B4-BE49-F238E27FC236}">
                <a16:creationId xmlns:a16="http://schemas.microsoft.com/office/drawing/2014/main" id="{DE887477-47AC-4AD5-A0DC-B2DA19BF906C}"/>
              </a:ext>
            </a:extLst>
          </p:cNvPr>
          <p:cNvSpPr>
            <a:spLocks xmlns:a="http://schemas.openxmlformats.org/drawingml/2006/main" noGrp="1"/>
          </p:cNvSpPr>
          <p:nvPr/>
        </p:nvSpPr>
        <p:spPr>
          <a:xfrm xmlns:a="http://schemas.openxmlformats.org/drawingml/2006/main">
            <a:off x="8572500" y="23241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C219AD5F-3CB9-4FD5-B7A9-A5922BB1D591}"/>
              </a:ext>
            </a:extLst>
          </p:cNvPr>
          <p:cNvSpPr>
            <a:spLocks xmlns:a="http://schemas.openxmlformats.org/drawingml/2006/main" noGrp="1"/>
          </p:cNvSpPr>
          <p:nvPr/>
        </p:nvSpPr>
        <p:spPr>
          <a:xfrm xmlns:a="http://schemas.openxmlformats.org/drawingml/2006/main">
            <a:off x="8667750" y="24003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‏اکنون</a:t>
            </a:r>
          </a:p>
        </p:txBody>
      </p:sp>
      <p:sp>
        <p:nvSpPr>
          <p:cNvPr id="21" name="">
            <a:extLst xmlns:a="http://schemas.openxmlformats.org/drawingml/2006/main">
              <a:ext uri="{FF2B5EF4-FFF2-40B4-BE49-F238E27FC236}">
                <a16:creationId xmlns:a16="http://schemas.microsoft.com/office/drawing/2014/main" id="{334A1FA3-447A-4E7F-81F0-EEB06E9F2276}"/>
              </a:ext>
            </a:extLst>
          </p:cNvPr>
          <p:cNvSpPr>
            <a:spLocks xmlns:a="http://schemas.openxmlformats.org/drawingml/2006/main" noGrp="1"/>
          </p:cNvSpPr>
          <p:nvPr/>
        </p:nvSpPr>
        <p:spPr>
          <a:xfrm xmlns:a="http://schemas.openxmlformats.org/drawingml/2006/main">
            <a:off x="666750" y="27241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3983C7BC-EB58-460E-A8EF-2418F3F37B5E}"/>
              </a:ext>
            </a:extLst>
          </p:cNvPr>
          <p:cNvSpPr>
            <a:spLocks xmlns:a="http://schemas.openxmlformats.org/drawingml/2006/main" noGrp="1"/>
          </p:cNvSpPr>
          <p:nvPr/>
        </p:nvSpPr>
        <p:spPr>
          <a:xfrm xmlns:a="http://schemas.openxmlformats.org/drawingml/2006/main">
            <a:off x="762000" y="2800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‏تولید</a:t>
            </a:r>
          </a:p>
        </p:txBody>
      </p:sp>
      <p:sp>
        <p:nvSpPr>
          <p:cNvPr id="23" name="">
            <a:extLst xmlns:a="http://schemas.openxmlformats.org/drawingml/2006/main">
              <a:ext uri="{FF2B5EF4-FFF2-40B4-BE49-F238E27FC236}">
                <a16:creationId xmlns:a16="http://schemas.microsoft.com/office/drawing/2014/main" id="{ECE5D0D7-98EC-4861-A4C6-8D2BC9325C43}"/>
              </a:ext>
            </a:extLst>
          </p:cNvPr>
          <p:cNvSpPr>
            <a:spLocks xmlns:a="http://schemas.openxmlformats.org/drawingml/2006/main" noGrp="1"/>
          </p:cNvSpPr>
          <p:nvPr/>
        </p:nvSpPr>
        <p:spPr>
          <a:xfrm xmlns:a="http://schemas.openxmlformats.org/drawingml/2006/main">
            <a:off x="2286000" y="27241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F4E4E4C6-98EB-4E48-ACBE-14643BCAE50F}"/>
              </a:ext>
            </a:extLst>
          </p:cNvPr>
          <p:cNvSpPr>
            <a:spLocks xmlns:a="http://schemas.openxmlformats.org/drawingml/2006/main" noGrp="1"/>
          </p:cNvSpPr>
          <p:nvPr/>
        </p:nvSpPr>
        <p:spPr>
          <a:xfrm xmlns:a="http://schemas.openxmlformats.org/drawingml/2006/main">
            <a:off x="2381250" y="28003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‏هوشمندی فرایند فقط خواندنی</a:t>
            </a:r>
          </a:p>
        </p:txBody>
      </p:sp>
      <p:sp>
        <p:nvSpPr>
          <p:cNvPr id="25" name="">
            <a:extLst xmlns:a="http://schemas.openxmlformats.org/drawingml/2006/main">
              <a:ext uri="{FF2B5EF4-FFF2-40B4-BE49-F238E27FC236}">
                <a16:creationId xmlns:a16="http://schemas.microsoft.com/office/drawing/2014/main" id="{D11C0822-9DB6-45EB-B9E6-F73B73445244}"/>
              </a:ext>
            </a:extLst>
          </p:cNvPr>
          <p:cNvSpPr>
            <a:spLocks xmlns:a="http://schemas.openxmlformats.org/drawingml/2006/main" noGrp="1"/>
          </p:cNvSpPr>
          <p:nvPr/>
        </p:nvSpPr>
        <p:spPr>
          <a:xfrm xmlns:a="http://schemas.openxmlformats.org/drawingml/2006/main">
            <a:off x="5143500" y="27241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2EF0CCA3-4BB3-4864-B479-BF44345A6028}"/>
              </a:ext>
            </a:extLst>
          </p:cNvPr>
          <p:cNvSpPr>
            <a:spLocks xmlns:a="http://schemas.openxmlformats.org/drawingml/2006/main" noGrp="1"/>
          </p:cNvSpPr>
          <p:nvPr/>
        </p:nvSpPr>
        <p:spPr>
          <a:xfrm xmlns:a="http://schemas.openxmlformats.org/drawingml/2006/main">
            <a:off x="5238750" y="2800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‏دوقلوی دیجیتال</a:t>
            </a:r>
          </a:p>
        </p:txBody>
      </p:sp>
      <p:sp>
        <p:nvSpPr>
          <p:cNvPr id="27" name="">
            <a:extLst xmlns:a="http://schemas.openxmlformats.org/drawingml/2006/main">
              <a:ext uri="{FF2B5EF4-FFF2-40B4-BE49-F238E27FC236}">
                <a16:creationId xmlns:a16="http://schemas.microsoft.com/office/drawing/2014/main" id="{3F2C62B6-213A-43EF-A2EC-ED2EA99480EE}"/>
              </a:ext>
            </a:extLst>
          </p:cNvPr>
          <p:cNvSpPr>
            <a:spLocks xmlns:a="http://schemas.openxmlformats.org/drawingml/2006/main" noGrp="1"/>
          </p:cNvSpPr>
          <p:nvPr/>
        </p:nvSpPr>
        <p:spPr>
          <a:xfrm xmlns:a="http://schemas.openxmlformats.org/drawingml/2006/main">
            <a:off x="8572500" y="27241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2D22989E-9088-400E-8E40-EDCF66425493}"/>
              </a:ext>
            </a:extLst>
          </p:cNvPr>
          <p:cNvSpPr>
            <a:spLocks xmlns:a="http://schemas.openxmlformats.org/drawingml/2006/main" noGrp="1"/>
          </p:cNvSpPr>
          <p:nvPr/>
        </p:nvSpPr>
        <p:spPr>
          <a:xfrm xmlns:a="http://schemas.openxmlformats.org/drawingml/2006/main">
            <a:off x="8667750" y="2800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‏اکنون</a:t>
            </a:r>
          </a:p>
        </p:txBody>
      </p:sp>
      <p:sp>
        <p:nvSpPr>
          <p:cNvPr id="29" name="">
            <a:extLst xmlns:a="http://schemas.openxmlformats.org/drawingml/2006/main">
              <a:ext uri="{FF2B5EF4-FFF2-40B4-BE49-F238E27FC236}">
                <a16:creationId xmlns:a16="http://schemas.microsoft.com/office/drawing/2014/main" id="{7FF5507D-7938-47D7-B938-844586375AC2}"/>
              </a:ext>
            </a:extLst>
          </p:cNvPr>
          <p:cNvSpPr>
            <a:spLocks xmlns:a="http://schemas.openxmlformats.org/drawingml/2006/main" noGrp="1"/>
          </p:cNvSpPr>
          <p:nvPr/>
        </p:nvSpPr>
        <p:spPr>
          <a:xfrm xmlns:a="http://schemas.openxmlformats.org/drawingml/2006/main">
            <a:off x="666750" y="31242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3A62D630-0B00-4E05-8976-0E080FEB29CD}"/>
              </a:ext>
            </a:extLst>
          </p:cNvPr>
          <p:cNvSpPr>
            <a:spLocks xmlns:a="http://schemas.openxmlformats.org/drawingml/2006/main" noGrp="1"/>
          </p:cNvSpPr>
          <p:nvPr/>
        </p:nvSpPr>
        <p:spPr>
          <a:xfrm xmlns:a="http://schemas.openxmlformats.org/drawingml/2006/main">
            <a:off x="762000" y="32004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‏کیفیت</a:t>
            </a:r>
          </a:p>
        </p:txBody>
      </p:sp>
      <p:sp>
        <p:nvSpPr>
          <p:cNvPr id="31" name="">
            <a:extLst xmlns:a="http://schemas.openxmlformats.org/drawingml/2006/main">
              <a:ext uri="{FF2B5EF4-FFF2-40B4-BE49-F238E27FC236}">
                <a16:creationId xmlns:a16="http://schemas.microsoft.com/office/drawing/2014/main" id="{18884C5E-F443-4350-8165-7235F31930D2}"/>
              </a:ext>
            </a:extLst>
          </p:cNvPr>
          <p:cNvSpPr>
            <a:spLocks xmlns:a="http://schemas.openxmlformats.org/drawingml/2006/main" noGrp="1"/>
          </p:cNvSpPr>
          <p:nvPr/>
        </p:nvSpPr>
        <p:spPr>
          <a:xfrm xmlns:a="http://schemas.openxmlformats.org/drawingml/2006/main">
            <a:off x="2286000" y="31242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8C5997B2-376A-4EBB-AED1-C5872A7BD914}"/>
              </a:ext>
            </a:extLst>
          </p:cNvPr>
          <p:cNvSpPr>
            <a:spLocks xmlns:a="http://schemas.openxmlformats.org/drawingml/2006/main" noGrp="1"/>
          </p:cNvSpPr>
          <p:nvPr/>
        </p:nvSpPr>
        <p:spPr>
          <a:xfrm xmlns:a="http://schemas.openxmlformats.org/drawingml/2006/main">
            <a:off x="2381250" y="32004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‏پاسپورت رول + AI ریشه‌یابی</a:t>
            </a:r>
          </a:p>
        </p:txBody>
      </p:sp>
      <p:sp>
        <p:nvSpPr>
          <p:cNvPr id="33" name="">
            <a:extLst xmlns:a="http://schemas.openxmlformats.org/drawingml/2006/main">
              <a:ext uri="{FF2B5EF4-FFF2-40B4-BE49-F238E27FC236}">
                <a16:creationId xmlns:a16="http://schemas.microsoft.com/office/drawing/2014/main" id="{E4FBF214-6BFF-4E6F-B18F-C327CA2BF5FC}"/>
              </a:ext>
            </a:extLst>
          </p:cNvPr>
          <p:cNvSpPr>
            <a:spLocks xmlns:a="http://schemas.openxmlformats.org/drawingml/2006/main" noGrp="1"/>
          </p:cNvSpPr>
          <p:nvPr/>
        </p:nvSpPr>
        <p:spPr>
          <a:xfrm xmlns:a="http://schemas.openxmlformats.org/drawingml/2006/main">
            <a:off x="5143500" y="31242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DD7332F3-00F8-488B-A65A-4F45547E1AE6}"/>
              </a:ext>
            </a:extLst>
          </p:cNvPr>
          <p:cNvSpPr>
            <a:spLocks xmlns:a="http://schemas.openxmlformats.org/drawingml/2006/main" noGrp="1"/>
          </p:cNvSpPr>
          <p:nvPr/>
        </p:nvSpPr>
        <p:spPr>
          <a:xfrm xmlns:a="http://schemas.openxmlformats.org/drawingml/2006/main">
            <a:off x="5238750" y="32004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‏رهاسازی پیش‌بینانه</a:t>
            </a:r>
          </a:p>
        </p:txBody>
      </p:sp>
      <p:sp>
        <p:nvSpPr>
          <p:cNvPr id="35" name="">
            <a:extLst xmlns:a="http://schemas.openxmlformats.org/drawingml/2006/main">
              <a:ext uri="{FF2B5EF4-FFF2-40B4-BE49-F238E27FC236}">
                <a16:creationId xmlns:a16="http://schemas.microsoft.com/office/drawing/2014/main" id="{7F65E2B4-8346-4529-86BD-83B575A1E025}"/>
              </a:ext>
            </a:extLst>
          </p:cNvPr>
          <p:cNvSpPr>
            <a:spLocks xmlns:a="http://schemas.openxmlformats.org/drawingml/2006/main" noGrp="1"/>
          </p:cNvSpPr>
          <p:nvPr/>
        </p:nvSpPr>
        <p:spPr>
          <a:xfrm xmlns:a="http://schemas.openxmlformats.org/drawingml/2006/main">
            <a:off x="8572500" y="31242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B96D7099-55FA-4E53-B457-C7F27EAEF6BB}"/>
              </a:ext>
            </a:extLst>
          </p:cNvPr>
          <p:cNvSpPr>
            <a:spLocks xmlns:a="http://schemas.openxmlformats.org/drawingml/2006/main" noGrp="1"/>
          </p:cNvSpPr>
          <p:nvPr/>
        </p:nvSpPr>
        <p:spPr>
          <a:xfrm xmlns:a="http://schemas.openxmlformats.org/drawingml/2006/main">
            <a:off x="8667750" y="32004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‏اکنون</a:t>
            </a:r>
          </a:p>
        </p:txBody>
      </p:sp>
      <p:sp>
        <p:nvSpPr>
          <p:cNvPr id="37" name="">
            <a:extLst xmlns:a="http://schemas.openxmlformats.org/drawingml/2006/main">
              <a:ext uri="{FF2B5EF4-FFF2-40B4-BE49-F238E27FC236}">
                <a16:creationId xmlns:a16="http://schemas.microsoft.com/office/drawing/2014/main" id="{F1F97157-AF9E-4F40-B88B-46097D0FB3FB}"/>
              </a:ext>
            </a:extLst>
          </p:cNvPr>
          <p:cNvSpPr>
            <a:spLocks xmlns:a="http://schemas.openxmlformats.org/drawingml/2006/main" noGrp="1"/>
          </p:cNvSpPr>
          <p:nvPr/>
        </p:nvSpPr>
        <p:spPr>
          <a:xfrm xmlns:a="http://schemas.openxmlformats.org/drawingml/2006/main">
            <a:off x="666750" y="35242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9A272C0F-C789-4A90-9E71-AFE9C835A9D0}"/>
              </a:ext>
            </a:extLst>
          </p:cNvPr>
          <p:cNvSpPr>
            <a:spLocks xmlns:a="http://schemas.openxmlformats.org/drawingml/2006/main" noGrp="1"/>
          </p:cNvSpPr>
          <p:nvPr/>
        </p:nvSpPr>
        <p:spPr>
          <a:xfrm xmlns:a="http://schemas.openxmlformats.org/drawingml/2006/main">
            <a:off x="762000" y="3600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‏بسته‌بندی</a:t>
            </a:r>
          </a:p>
        </p:txBody>
      </p:sp>
      <p:sp>
        <p:nvSpPr>
          <p:cNvPr id="39" name="">
            <a:extLst xmlns:a="http://schemas.openxmlformats.org/drawingml/2006/main">
              <a:ext uri="{FF2B5EF4-FFF2-40B4-BE49-F238E27FC236}">
                <a16:creationId xmlns:a16="http://schemas.microsoft.com/office/drawing/2014/main" id="{5050252F-310C-45FD-92E8-5D767C11EAA0}"/>
              </a:ext>
            </a:extLst>
          </p:cNvPr>
          <p:cNvSpPr>
            <a:spLocks xmlns:a="http://schemas.openxmlformats.org/drawingml/2006/main" noGrp="1"/>
          </p:cNvSpPr>
          <p:nvPr/>
        </p:nvSpPr>
        <p:spPr>
          <a:xfrm xmlns:a="http://schemas.openxmlformats.org/drawingml/2006/main">
            <a:off x="2286000" y="35242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9B1A3576-3EBB-4A20-B910-AF5E097EF1F3}"/>
              </a:ext>
            </a:extLst>
          </p:cNvPr>
          <p:cNvSpPr>
            <a:spLocks xmlns:a="http://schemas.openxmlformats.org/drawingml/2006/main" noGrp="1"/>
          </p:cNvSpPr>
          <p:nvPr/>
        </p:nvSpPr>
        <p:spPr>
          <a:xfrm xmlns:a="http://schemas.openxmlformats.org/drawingml/2006/main">
            <a:off x="2381250" y="3600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‏استخراج عیوب</a:t>
            </a:r>
          </a:p>
        </p:txBody>
      </p:sp>
      <p:sp>
        <p:nvSpPr>
          <p:cNvPr id="41" name="">
            <a:extLst xmlns:a="http://schemas.openxmlformats.org/drawingml/2006/main">
              <a:ext uri="{FF2B5EF4-FFF2-40B4-BE49-F238E27FC236}">
                <a16:creationId xmlns:a16="http://schemas.microsoft.com/office/drawing/2014/main" id="{F7A1CBC5-9466-4AD8-8195-F78186AB0673}"/>
              </a:ext>
            </a:extLst>
          </p:cNvPr>
          <p:cNvSpPr>
            <a:spLocks xmlns:a="http://schemas.openxmlformats.org/drawingml/2006/main" noGrp="1"/>
          </p:cNvSpPr>
          <p:nvPr/>
        </p:nvSpPr>
        <p:spPr>
          <a:xfrm xmlns:a="http://schemas.openxmlformats.org/drawingml/2006/main">
            <a:off x="5143500" y="35242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02348D48-9DF8-4465-B3F4-3E72B88C8030}"/>
              </a:ext>
            </a:extLst>
          </p:cNvPr>
          <p:cNvSpPr>
            <a:spLocks xmlns:a="http://schemas.openxmlformats.org/drawingml/2006/main" noGrp="1"/>
          </p:cNvSpPr>
          <p:nvPr/>
        </p:nvSpPr>
        <p:spPr>
          <a:xfrm xmlns:a="http://schemas.openxmlformats.org/drawingml/2006/main">
            <a:off x="5238750" y="36004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‏حلقه بازخورد بینایی/فرایند</a:t>
            </a:r>
          </a:p>
        </p:txBody>
      </p:sp>
      <p:sp>
        <p:nvSpPr>
          <p:cNvPr id="43" name="">
            <a:extLst xmlns:a="http://schemas.openxmlformats.org/drawingml/2006/main">
              <a:ext uri="{FF2B5EF4-FFF2-40B4-BE49-F238E27FC236}">
                <a16:creationId xmlns:a16="http://schemas.microsoft.com/office/drawing/2014/main" id="{D4BB4BE9-A151-4767-9715-C58F472E52F6}"/>
              </a:ext>
            </a:extLst>
          </p:cNvPr>
          <p:cNvSpPr>
            <a:spLocks xmlns:a="http://schemas.openxmlformats.org/drawingml/2006/main" noGrp="1"/>
          </p:cNvSpPr>
          <p:nvPr/>
        </p:nvSpPr>
        <p:spPr>
          <a:xfrm xmlns:a="http://schemas.openxmlformats.org/drawingml/2006/main">
            <a:off x="8572500" y="35242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8A2E48DF-CDC5-4088-BA51-550F565EAAA3}"/>
              </a:ext>
            </a:extLst>
          </p:cNvPr>
          <p:cNvSpPr>
            <a:spLocks xmlns:a="http://schemas.openxmlformats.org/drawingml/2006/main" noGrp="1"/>
          </p:cNvSpPr>
          <p:nvPr/>
        </p:nvSpPr>
        <p:spPr>
          <a:xfrm xmlns:a="http://schemas.openxmlformats.org/drawingml/2006/main">
            <a:off x="8667750" y="36004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‏اکنون</a:t>
            </a:r>
          </a:p>
        </p:txBody>
      </p:sp>
      <p:sp>
        <p:nvSpPr>
          <p:cNvPr id="45" name="">
            <a:extLst xmlns:a="http://schemas.openxmlformats.org/drawingml/2006/main">
              <a:ext uri="{FF2B5EF4-FFF2-40B4-BE49-F238E27FC236}">
                <a16:creationId xmlns:a16="http://schemas.microsoft.com/office/drawing/2014/main" id="{C25CE256-BFF8-48F2-A69C-FA9B18828A10}"/>
              </a:ext>
            </a:extLst>
          </p:cNvPr>
          <p:cNvSpPr>
            <a:spLocks xmlns:a="http://schemas.openxmlformats.org/drawingml/2006/main" noGrp="1"/>
          </p:cNvSpPr>
          <p:nvPr/>
        </p:nvSpPr>
        <p:spPr>
          <a:xfrm xmlns:a="http://schemas.openxmlformats.org/drawingml/2006/main">
            <a:off x="666750" y="39243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4B77D029-7CDD-4BC8-A257-156B831DD880}"/>
              </a:ext>
            </a:extLst>
          </p:cNvPr>
          <p:cNvSpPr>
            <a:spLocks xmlns:a="http://schemas.openxmlformats.org/drawingml/2006/main" noGrp="1"/>
          </p:cNvSpPr>
          <p:nvPr/>
        </p:nvSpPr>
        <p:spPr>
          <a:xfrm xmlns:a="http://schemas.openxmlformats.org/drawingml/2006/main">
            <a:off x="762000" y="4000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‏فروش</a:t>
            </a:r>
          </a:p>
        </p:txBody>
      </p:sp>
      <p:sp>
        <p:nvSpPr>
          <p:cNvPr id="47" name="">
            <a:extLst xmlns:a="http://schemas.openxmlformats.org/drawingml/2006/main">
              <a:ext uri="{FF2B5EF4-FFF2-40B4-BE49-F238E27FC236}">
                <a16:creationId xmlns:a16="http://schemas.microsoft.com/office/drawing/2014/main" id="{AE7B9BCA-CE70-4996-AAE2-056BA52C36CB}"/>
              </a:ext>
            </a:extLst>
          </p:cNvPr>
          <p:cNvSpPr>
            <a:spLocks xmlns:a="http://schemas.openxmlformats.org/drawingml/2006/main" noGrp="1"/>
          </p:cNvSpPr>
          <p:nvPr/>
        </p:nvSpPr>
        <p:spPr>
          <a:xfrm xmlns:a="http://schemas.openxmlformats.org/drawingml/2006/main">
            <a:off x="2286000" y="39243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20D78557-BA48-444C-A6AD-B362DB57EE5A}"/>
              </a:ext>
            </a:extLst>
          </p:cNvPr>
          <p:cNvSpPr>
            <a:spLocks xmlns:a="http://schemas.openxmlformats.org/drawingml/2006/main" noGrp="1"/>
          </p:cNvSpPr>
          <p:nvPr/>
        </p:nvSpPr>
        <p:spPr>
          <a:xfrm xmlns:a="http://schemas.openxmlformats.org/drawingml/2006/main">
            <a:off x="2381250" y="40005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‏جست‌وجوی مشخصات به محصول</a:t>
            </a:r>
          </a:p>
        </p:txBody>
      </p:sp>
      <p:sp>
        <p:nvSpPr>
          <p:cNvPr id="49" name="">
            <a:extLst xmlns:a="http://schemas.openxmlformats.org/drawingml/2006/main">
              <a:ext uri="{FF2B5EF4-FFF2-40B4-BE49-F238E27FC236}">
                <a16:creationId xmlns:a16="http://schemas.microsoft.com/office/drawing/2014/main" id="{F2589526-C26D-45B5-A4D6-A9CD3E485432}"/>
              </a:ext>
            </a:extLst>
          </p:cNvPr>
          <p:cNvSpPr>
            <a:spLocks xmlns:a="http://schemas.openxmlformats.org/drawingml/2006/main" noGrp="1"/>
          </p:cNvSpPr>
          <p:nvPr/>
        </p:nvSpPr>
        <p:spPr>
          <a:xfrm xmlns:a="http://schemas.openxmlformats.org/drawingml/2006/main">
            <a:off x="5143500" y="39243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0" name="">
            <a:extLst xmlns:a="http://schemas.openxmlformats.org/drawingml/2006/main">
              <a:ext uri="{FF2B5EF4-FFF2-40B4-BE49-F238E27FC236}">
                <a16:creationId xmlns:a16="http://schemas.microsoft.com/office/drawing/2014/main" id="{7C4BC477-1DFB-47AC-BC39-B6695AA24C48}"/>
              </a:ext>
            </a:extLst>
          </p:cNvPr>
          <p:cNvSpPr>
            <a:spLocks xmlns:a="http://schemas.openxmlformats.org/drawingml/2006/main" noGrp="1"/>
          </p:cNvSpPr>
          <p:nvPr/>
        </p:nvSpPr>
        <p:spPr>
          <a:xfrm xmlns:a="http://schemas.openxmlformats.org/drawingml/2006/main">
            <a:off x="5238750" y="40005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‏مهندس فروش AI</a:t>
            </a:r>
          </a:p>
        </p:txBody>
      </p:sp>
      <p:sp>
        <p:nvSpPr>
          <p:cNvPr id="51" name="">
            <a:extLst xmlns:a="http://schemas.openxmlformats.org/drawingml/2006/main">
              <a:ext uri="{FF2B5EF4-FFF2-40B4-BE49-F238E27FC236}">
                <a16:creationId xmlns:a16="http://schemas.microsoft.com/office/drawing/2014/main" id="{6B40642D-E2A4-47AC-A722-7D6DFC7AA45F}"/>
              </a:ext>
            </a:extLst>
          </p:cNvPr>
          <p:cNvSpPr>
            <a:spLocks xmlns:a="http://schemas.openxmlformats.org/drawingml/2006/main" noGrp="1"/>
          </p:cNvSpPr>
          <p:nvPr/>
        </p:nvSpPr>
        <p:spPr>
          <a:xfrm xmlns:a="http://schemas.openxmlformats.org/drawingml/2006/main">
            <a:off x="8572500" y="39243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2" name="">
            <a:extLst xmlns:a="http://schemas.openxmlformats.org/drawingml/2006/main">
              <a:ext uri="{FF2B5EF4-FFF2-40B4-BE49-F238E27FC236}">
                <a16:creationId xmlns:a16="http://schemas.microsoft.com/office/drawing/2014/main" id="{C3B99592-7598-495F-BD74-1E431E0086A5}"/>
              </a:ext>
            </a:extLst>
          </p:cNvPr>
          <p:cNvSpPr>
            <a:spLocks xmlns:a="http://schemas.openxmlformats.org/drawingml/2006/main" noGrp="1"/>
          </p:cNvSpPr>
          <p:nvPr/>
        </p:nvSpPr>
        <p:spPr>
          <a:xfrm xmlns:a="http://schemas.openxmlformats.org/drawingml/2006/main">
            <a:off x="8667750" y="4000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‏فاز ۲</a:t>
            </a:r>
          </a:p>
        </p:txBody>
      </p:sp>
      <p:sp>
        <p:nvSpPr>
          <p:cNvPr id="53" name="">
            <a:extLst xmlns:a="http://schemas.openxmlformats.org/drawingml/2006/main">
              <a:ext uri="{FF2B5EF4-FFF2-40B4-BE49-F238E27FC236}">
                <a16:creationId xmlns:a16="http://schemas.microsoft.com/office/drawing/2014/main" id="{39263B86-AB04-4188-A3CB-9C8127FB1A38}"/>
              </a:ext>
            </a:extLst>
          </p:cNvPr>
          <p:cNvSpPr>
            <a:spLocks xmlns:a="http://schemas.openxmlformats.org/drawingml/2006/main" noGrp="1"/>
          </p:cNvSpPr>
          <p:nvPr/>
        </p:nvSpPr>
        <p:spPr>
          <a:xfrm xmlns:a="http://schemas.openxmlformats.org/drawingml/2006/main">
            <a:off x="666750" y="43243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4" name="">
            <a:extLst xmlns:a="http://schemas.openxmlformats.org/drawingml/2006/main">
              <a:ext uri="{FF2B5EF4-FFF2-40B4-BE49-F238E27FC236}">
                <a16:creationId xmlns:a16="http://schemas.microsoft.com/office/drawing/2014/main" id="{BDA4DF1F-9F3C-4D20-A716-D9934C843B2A}"/>
              </a:ext>
            </a:extLst>
          </p:cNvPr>
          <p:cNvSpPr>
            <a:spLocks xmlns:a="http://schemas.openxmlformats.org/drawingml/2006/main" noGrp="1"/>
          </p:cNvSpPr>
          <p:nvPr/>
        </p:nvSpPr>
        <p:spPr>
          <a:xfrm xmlns:a="http://schemas.openxmlformats.org/drawingml/2006/main">
            <a:off x="762000" y="44005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‏خرید</a:t>
            </a:r>
          </a:p>
        </p:txBody>
      </p:sp>
      <p:sp>
        <p:nvSpPr>
          <p:cNvPr id="55" name="">
            <a:extLst xmlns:a="http://schemas.openxmlformats.org/drawingml/2006/main">
              <a:ext uri="{FF2B5EF4-FFF2-40B4-BE49-F238E27FC236}">
                <a16:creationId xmlns:a16="http://schemas.microsoft.com/office/drawing/2014/main" id="{28F5B4B9-024D-4C86-9CCC-F14C54B6BF49}"/>
              </a:ext>
            </a:extLst>
          </p:cNvPr>
          <p:cNvSpPr>
            <a:spLocks xmlns:a="http://schemas.openxmlformats.org/drawingml/2006/main" noGrp="1"/>
          </p:cNvSpPr>
          <p:nvPr/>
        </p:nvSpPr>
        <p:spPr>
          <a:xfrm xmlns:a="http://schemas.openxmlformats.org/drawingml/2006/main">
            <a:off x="2286000" y="43243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6" name="">
            <a:extLst xmlns:a="http://schemas.openxmlformats.org/drawingml/2006/main">
              <a:ext uri="{FF2B5EF4-FFF2-40B4-BE49-F238E27FC236}">
                <a16:creationId xmlns:a16="http://schemas.microsoft.com/office/drawing/2014/main" id="{E8AF0A96-FAF0-4EB9-9249-B54F9D482DDA}"/>
              </a:ext>
            </a:extLst>
          </p:cNvPr>
          <p:cNvSpPr>
            <a:spLocks xmlns:a="http://schemas.openxmlformats.org/drawingml/2006/main" noGrp="1"/>
          </p:cNvSpPr>
          <p:nvPr/>
        </p:nvSpPr>
        <p:spPr>
          <a:xfrm xmlns:a="http://schemas.openxmlformats.org/drawingml/2006/main">
            <a:off x="2381250" y="44005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‏هوشمندی اسناد تامین‌کننده</a:t>
            </a:r>
          </a:p>
        </p:txBody>
      </p:sp>
      <p:sp>
        <p:nvSpPr>
          <p:cNvPr id="57" name="">
            <a:extLst xmlns:a="http://schemas.openxmlformats.org/drawingml/2006/main">
              <a:ext uri="{FF2B5EF4-FFF2-40B4-BE49-F238E27FC236}">
                <a16:creationId xmlns:a16="http://schemas.microsoft.com/office/drawing/2014/main" id="{BCB5FCA5-87FF-4FDB-8DAB-686F671AA338}"/>
              </a:ext>
            </a:extLst>
          </p:cNvPr>
          <p:cNvSpPr>
            <a:spLocks xmlns:a="http://schemas.openxmlformats.org/drawingml/2006/main" noGrp="1"/>
          </p:cNvSpPr>
          <p:nvPr/>
        </p:nvSpPr>
        <p:spPr>
          <a:xfrm xmlns:a="http://schemas.openxmlformats.org/drawingml/2006/main">
            <a:off x="5143500" y="43243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8" name="">
            <a:extLst xmlns:a="http://schemas.openxmlformats.org/drawingml/2006/main">
              <a:ext uri="{FF2B5EF4-FFF2-40B4-BE49-F238E27FC236}">
                <a16:creationId xmlns:a16="http://schemas.microsoft.com/office/drawing/2014/main" id="{F7500D46-8592-4602-B462-E92404FB6B42}"/>
              </a:ext>
            </a:extLst>
          </p:cNvPr>
          <p:cNvSpPr>
            <a:spLocks xmlns:a="http://schemas.openxmlformats.org/drawingml/2006/main" noGrp="1"/>
          </p:cNvSpPr>
          <p:nvPr/>
        </p:nvSpPr>
        <p:spPr>
          <a:xfrm xmlns:a="http://schemas.openxmlformats.org/drawingml/2006/main">
            <a:off x="5238750" y="44005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‏پیشنهاد جایگزین</a:t>
            </a:r>
          </a:p>
        </p:txBody>
      </p:sp>
      <p:sp>
        <p:nvSpPr>
          <p:cNvPr id="59" name="">
            <a:extLst xmlns:a="http://schemas.openxmlformats.org/drawingml/2006/main">
              <a:ext uri="{FF2B5EF4-FFF2-40B4-BE49-F238E27FC236}">
                <a16:creationId xmlns:a16="http://schemas.microsoft.com/office/drawing/2014/main" id="{212C7D1E-5F1B-4B0C-8144-BB3FC4D8A5AF}"/>
              </a:ext>
            </a:extLst>
          </p:cNvPr>
          <p:cNvSpPr>
            <a:spLocks xmlns:a="http://schemas.openxmlformats.org/drawingml/2006/main" noGrp="1"/>
          </p:cNvSpPr>
          <p:nvPr/>
        </p:nvSpPr>
        <p:spPr>
          <a:xfrm xmlns:a="http://schemas.openxmlformats.org/drawingml/2006/main">
            <a:off x="8572500" y="43243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0" name="">
            <a:extLst xmlns:a="http://schemas.openxmlformats.org/drawingml/2006/main">
              <a:ext uri="{FF2B5EF4-FFF2-40B4-BE49-F238E27FC236}">
                <a16:creationId xmlns:a16="http://schemas.microsoft.com/office/drawing/2014/main" id="{3DC31EA8-38F7-4E21-9A26-EB5790755549}"/>
              </a:ext>
            </a:extLst>
          </p:cNvPr>
          <p:cNvSpPr>
            <a:spLocks xmlns:a="http://schemas.openxmlformats.org/drawingml/2006/main" noGrp="1"/>
          </p:cNvSpPr>
          <p:nvPr/>
        </p:nvSpPr>
        <p:spPr>
          <a:xfrm xmlns:a="http://schemas.openxmlformats.org/drawingml/2006/main">
            <a:off x="8667750" y="4400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‏فاز ۲</a:t>
            </a:r>
          </a:p>
        </p:txBody>
      </p:sp>
      <p:sp>
        <p:nvSpPr>
          <p:cNvPr id="61" name="">
            <a:extLst xmlns:a="http://schemas.openxmlformats.org/drawingml/2006/main">
              <a:ext uri="{FF2B5EF4-FFF2-40B4-BE49-F238E27FC236}">
                <a16:creationId xmlns:a16="http://schemas.microsoft.com/office/drawing/2014/main" id="{471D2012-E98D-47E7-8445-632345B9C0B4}"/>
              </a:ext>
            </a:extLst>
          </p:cNvPr>
          <p:cNvSpPr>
            <a:spLocks xmlns:a="http://schemas.openxmlformats.org/drawingml/2006/main" noGrp="1"/>
          </p:cNvSpPr>
          <p:nvPr/>
        </p:nvSpPr>
        <p:spPr>
          <a:xfrm xmlns:a="http://schemas.openxmlformats.org/drawingml/2006/main">
            <a:off x="666750" y="4724400"/>
            <a:ext cx="16192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2" name="">
            <a:extLst xmlns:a="http://schemas.openxmlformats.org/drawingml/2006/main">
              <a:ext uri="{FF2B5EF4-FFF2-40B4-BE49-F238E27FC236}">
                <a16:creationId xmlns:a16="http://schemas.microsoft.com/office/drawing/2014/main" id="{A8FFA01C-D6B4-4D2A-A08C-C213991EB04E}"/>
              </a:ext>
            </a:extLst>
          </p:cNvPr>
          <p:cNvSpPr>
            <a:spLocks xmlns:a="http://schemas.openxmlformats.org/drawingml/2006/main" noGrp="1"/>
          </p:cNvSpPr>
          <p:nvPr/>
        </p:nvSpPr>
        <p:spPr>
          <a:xfrm xmlns:a="http://schemas.openxmlformats.org/drawingml/2006/main">
            <a:off x="762000" y="4800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‏نگهداری</a:t>
            </a:r>
          </a:p>
        </p:txBody>
      </p:sp>
      <p:sp>
        <p:nvSpPr>
          <p:cNvPr id="63" name="">
            <a:extLst xmlns:a="http://schemas.openxmlformats.org/drawingml/2006/main">
              <a:ext uri="{FF2B5EF4-FFF2-40B4-BE49-F238E27FC236}">
                <a16:creationId xmlns:a16="http://schemas.microsoft.com/office/drawing/2014/main" id="{014DCBD7-A6E0-4EDD-A5B1-8EE7484F1395}"/>
              </a:ext>
            </a:extLst>
          </p:cNvPr>
          <p:cNvSpPr>
            <a:spLocks xmlns:a="http://schemas.openxmlformats.org/drawingml/2006/main" noGrp="1"/>
          </p:cNvSpPr>
          <p:nvPr/>
        </p:nvSpPr>
        <p:spPr>
          <a:xfrm xmlns:a="http://schemas.openxmlformats.org/drawingml/2006/main">
            <a:off x="2286000" y="4724400"/>
            <a:ext cx="2857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4" name="">
            <a:extLst xmlns:a="http://schemas.openxmlformats.org/drawingml/2006/main">
              <a:ext uri="{FF2B5EF4-FFF2-40B4-BE49-F238E27FC236}">
                <a16:creationId xmlns:a16="http://schemas.microsoft.com/office/drawing/2014/main" id="{00984161-7E8C-4597-8665-8FA9F2097D5E}"/>
              </a:ext>
            </a:extLst>
          </p:cNvPr>
          <p:cNvSpPr>
            <a:spLocks xmlns:a="http://schemas.openxmlformats.org/drawingml/2006/main" noGrp="1"/>
          </p:cNvSpPr>
          <p:nvPr/>
        </p:nvSpPr>
        <p:spPr>
          <a:xfrm xmlns:a="http://schemas.openxmlformats.org/drawingml/2006/main">
            <a:off x="2381250" y="4800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‏دستیار لاگ خرابی</a:t>
            </a:r>
          </a:p>
        </p:txBody>
      </p:sp>
      <p:sp>
        <p:nvSpPr>
          <p:cNvPr id="65" name="">
            <a:extLst xmlns:a="http://schemas.openxmlformats.org/drawingml/2006/main">
              <a:ext uri="{FF2B5EF4-FFF2-40B4-BE49-F238E27FC236}">
                <a16:creationId xmlns:a16="http://schemas.microsoft.com/office/drawing/2014/main" id="{AD1F3D7B-57A9-42E1-AD1C-C992946A0FD0}"/>
              </a:ext>
            </a:extLst>
          </p:cNvPr>
          <p:cNvSpPr>
            <a:spLocks xmlns:a="http://schemas.openxmlformats.org/drawingml/2006/main" noGrp="1"/>
          </p:cNvSpPr>
          <p:nvPr/>
        </p:nvSpPr>
        <p:spPr>
          <a:xfrm xmlns:a="http://schemas.openxmlformats.org/drawingml/2006/main">
            <a:off x="5143500" y="4724400"/>
            <a:ext cx="3429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6" name="">
            <a:extLst xmlns:a="http://schemas.openxmlformats.org/drawingml/2006/main">
              <a:ext uri="{FF2B5EF4-FFF2-40B4-BE49-F238E27FC236}">
                <a16:creationId xmlns:a16="http://schemas.microsoft.com/office/drawing/2014/main" id="{E47EFDF7-F601-4230-83AD-E66F896B1612}"/>
              </a:ext>
            </a:extLst>
          </p:cNvPr>
          <p:cNvSpPr>
            <a:spLocks xmlns:a="http://schemas.openxmlformats.org/drawingml/2006/main" noGrp="1"/>
          </p:cNvSpPr>
          <p:nvPr/>
        </p:nvSpPr>
        <p:spPr>
          <a:xfrm xmlns:a="http://schemas.openxmlformats.org/drawingml/2006/main">
            <a:off x="5238750" y="4800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‏نگهداری پیش‌بینانه</a:t>
            </a:r>
          </a:p>
        </p:txBody>
      </p:sp>
      <p:sp>
        <p:nvSpPr>
          <p:cNvPr id="67" name="">
            <a:extLst xmlns:a="http://schemas.openxmlformats.org/drawingml/2006/main">
              <a:ext uri="{FF2B5EF4-FFF2-40B4-BE49-F238E27FC236}">
                <a16:creationId xmlns:a16="http://schemas.microsoft.com/office/drawing/2014/main" id="{819ED652-0BDD-4688-9790-428CC9779F66}"/>
              </a:ext>
            </a:extLst>
          </p:cNvPr>
          <p:cNvSpPr>
            <a:spLocks xmlns:a="http://schemas.openxmlformats.org/drawingml/2006/main" noGrp="1"/>
          </p:cNvSpPr>
          <p:nvPr/>
        </p:nvSpPr>
        <p:spPr>
          <a:xfrm xmlns:a="http://schemas.openxmlformats.org/drawingml/2006/main">
            <a:off x="8572500" y="4724400"/>
            <a:ext cx="1143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68" name="">
            <a:extLst xmlns:a="http://schemas.openxmlformats.org/drawingml/2006/main">
              <a:ext uri="{FF2B5EF4-FFF2-40B4-BE49-F238E27FC236}">
                <a16:creationId xmlns:a16="http://schemas.microsoft.com/office/drawing/2014/main" id="{F12658EC-DE19-4DF3-B2F1-A9BCECF744A4}"/>
              </a:ext>
            </a:extLst>
          </p:cNvPr>
          <p:cNvSpPr>
            <a:spLocks xmlns:a="http://schemas.openxmlformats.org/drawingml/2006/main" noGrp="1"/>
          </p:cNvSpPr>
          <p:nvPr/>
        </p:nvSpPr>
        <p:spPr>
          <a:xfrm xmlns:a="http://schemas.openxmlformats.org/drawingml/2006/main">
            <a:off x="8667750" y="48006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‏فاز ۲</a:t>
            </a:r>
          </a:p>
        </p:txBody>
      </p:sp>
      <p:sp>
        <p:nvSpPr>
          <p:cNvPr id="69" name="">
            <a:extLst xmlns:a="http://schemas.openxmlformats.org/drawingml/2006/main">
              <a:ext uri="{FF2B5EF4-FFF2-40B4-BE49-F238E27FC236}">
                <a16:creationId xmlns:a16="http://schemas.microsoft.com/office/drawing/2014/main" id="{DE54D59B-D961-47ED-98AB-24AEBCAD23C1}"/>
              </a:ext>
            </a:extLst>
          </p:cNvPr>
          <p:cNvSpPr>
            <a:spLocks xmlns:a="http://schemas.openxmlformats.org/drawingml/2006/main" noGrp="1"/>
          </p:cNvSpPr>
          <p:nvPr/>
        </p:nvSpPr>
        <p:spPr>
          <a:xfrm xmlns:a="http://schemas.openxmlformats.org/drawingml/2006/main">
            <a:off x="666750" y="5124450"/>
            <a:ext cx="161925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0" name="">
            <a:extLst xmlns:a="http://schemas.openxmlformats.org/drawingml/2006/main">
              <a:ext uri="{FF2B5EF4-FFF2-40B4-BE49-F238E27FC236}">
                <a16:creationId xmlns:a16="http://schemas.microsoft.com/office/drawing/2014/main" id="{7AA18C9C-8098-4520-B13E-6BE40916F36F}"/>
              </a:ext>
            </a:extLst>
          </p:cNvPr>
          <p:cNvSpPr>
            <a:spLocks xmlns:a="http://schemas.openxmlformats.org/drawingml/2006/main" noGrp="1"/>
          </p:cNvSpPr>
          <p:nvPr/>
        </p:nvSpPr>
        <p:spPr>
          <a:xfrm xmlns:a="http://schemas.openxmlformats.org/drawingml/2006/main">
            <a:off x="762000" y="52006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‏مالی</a:t>
            </a:r>
          </a:p>
        </p:txBody>
      </p:sp>
      <p:sp>
        <p:nvSpPr>
          <p:cNvPr id="71" name="">
            <a:extLst xmlns:a="http://schemas.openxmlformats.org/drawingml/2006/main">
              <a:ext uri="{FF2B5EF4-FFF2-40B4-BE49-F238E27FC236}">
                <a16:creationId xmlns:a16="http://schemas.microsoft.com/office/drawing/2014/main" id="{D1089F93-B57C-447F-8D17-4DAAED2378F3}"/>
              </a:ext>
            </a:extLst>
          </p:cNvPr>
          <p:cNvSpPr>
            <a:spLocks xmlns:a="http://schemas.openxmlformats.org/drawingml/2006/main" noGrp="1"/>
          </p:cNvSpPr>
          <p:nvPr/>
        </p:nvSpPr>
        <p:spPr>
          <a:xfrm xmlns:a="http://schemas.openxmlformats.org/drawingml/2006/main">
            <a:off x="2286000" y="5124450"/>
            <a:ext cx="28575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2" name="">
            <a:extLst xmlns:a="http://schemas.openxmlformats.org/drawingml/2006/main">
              <a:ext uri="{FF2B5EF4-FFF2-40B4-BE49-F238E27FC236}">
                <a16:creationId xmlns:a16="http://schemas.microsoft.com/office/drawing/2014/main" id="{6D6059F7-BDE3-4276-A2E3-86962BD0C460}"/>
              </a:ext>
            </a:extLst>
          </p:cNvPr>
          <p:cNvSpPr>
            <a:spLocks xmlns:a="http://schemas.openxmlformats.org/drawingml/2006/main" noGrp="1"/>
          </p:cNvSpPr>
          <p:nvPr/>
        </p:nvSpPr>
        <p:spPr>
          <a:xfrm xmlns:a="http://schemas.openxmlformats.org/drawingml/2006/main">
            <a:off x="2381250" y="52006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‏داشبورد نشت حاشیه سود</a:t>
            </a:r>
          </a:p>
        </p:txBody>
      </p:sp>
      <p:sp>
        <p:nvSpPr>
          <p:cNvPr id="73" name="">
            <a:extLst xmlns:a="http://schemas.openxmlformats.org/drawingml/2006/main">
              <a:ext uri="{FF2B5EF4-FFF2-40B4-BE49-F238E27FC236}">
                <a16:creationId xmlns:a16="http://schemas.microsoft.com/office/drawing/2014/main" id="{92ED9DB8-A012-4B51-A11B-7F80C0BE479A}"/>
              </a:ext>
            </a:extLst>
          </p:cNvPr>
          <p:cNvSpPr>
            <a:spLocks xmlns:a="http://schemas.openxmlformats.org/drawingml/2006/main" noGrp="1"/>
          </p:cNvSpPr>
          <p:nvPr/>
        </p:nvSpPr>
        <p:spPr>
          <a:xfrm xmlns:a="http://schemas.openxmlformats.org/drawingml/2006/main">
            <a:off x="5143500" y="5124450"/>
            <a:ext cx="3429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4" name="">
            <a:extLst xmlns:a="http://schemas.openxmlformats.org/drawingml/2006/main">
              <a:ext uri="{FF2B5EF4-FFF2-40B4-BE49-F238E27FC236}">
                <a16:creationId xmlns:a16="http://schemas.microsoft.com/office/drawing/2014/main" id="{996A4070-F567-4324-98AE-F5D0559883E8}"/>
              </a:ext>
            </a:extLst>
          </p:cNvPr>
          <p:cNvSpPr>
            <a:spLocks xmlns:a="http://schemas.openxmlformats.org/drawingml/2006/main" noGrp="1"/>
          </p:cNvSpPr>
          <p:nvPr/>
        </p:nvSpPr>
        <p:spPr>
          <a:xfrm xmlns:a="http://schemas.openxmlformats.org/drawingml/2006/main">
            <a:off x="5238750" y="52006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‏AI قیمت تا حاشیه</a:t>
            </a:r>
          </a:p>
        </p:txBody>
      </p:sp>
      <p:sp>
        <p:nvSpPr>
          <p:cNvPr id="75" name="">
            <a:extLst xmlns:a="http://schemas.openxmlformats.org/drawingml/2006/main">
              <a:ext uri="{FF2B5EF4-FFF2-40B4-BE49-F238E27FC236}">
                <a16:creationId xmlns:a16="http://schemas.microsoft.com/office/drawing/2014/main" id="{611BC432-E4B8-4635-AD9F-F8FEAE63C78D}"/>
              </a:ext>
            </a:extLst>
          </p:cNvPr>
          <p:cNvSpPr>
            <a:spLocks xmlns:a="http://schemas.openxmlformats.org/drawingml/2006/main" noGrp="1"/>
          </p:cNvSpPr>
          <p:nvPr/>
        </p:nvSpPr>
        <p:spPr>
          <a:xfrm xmlns:a="http://schemas.openxmlformats.org/drawingml/2006/main">
            <a:off x="8572500" y="5124450"/>
            <a:ext cx="1143000" cy="4000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6" name="">
            <a:extLst xmlns:a="http://schemas.openxmlformats.org/drawingml/2006/main">
              <a:ext uri="{FF2B5EF4-FFF2-40B4-BE49-F238E27FC236}">
                <a16:creationId xmlns:a16="http://schemas.microsoft.com/office/drawing/2014/main" id="{19CA4DF3-8EDC-4B74-BF9B-82A14BF0FF2A}"/>
              </a:ext>
            </a:extLst>
          </p:cNvPr>
          <p:cNvSpPr>
            <a:spLocks xmlns:a="http://schemas.openxmlformats.org/drawingml/2006/main" noGrp="1"/>
          </p:cNvSpPr>
          <p:nvPr/>
        </p:nvSpPr>
        <p:spPr>
          <a:xfrm xmlns:a="http://schemas.openxmlformats.org/drawingml/2006/main">
            <a:off x="8667750" y="52006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111111"/>
                </a:solidFill>
                <a:latin typeface="Tahoma"/>
                <a:ea typeface="Tahoma"/>
                <a:cs typeface="Tahoma"/>
              </a:defRPr>
            </a:pPr>
            <a:r>
              <a:rPr sz="900" b="0">
                <a:solidFill>
                  <a:srgbClr val="111111"/>
                </a:solidFill>
                <a:latin typeface="Tahoma"/>
                <a:ea typeface="Tahoma"/>
                <a:cs typeface="Tahoma"/>
              </a:rPr>
              <a:t>‏فاز ۲</a:t>
            </a:r>
          </a:p>
        </p:txBody>
      </p:sp>
      <p:sp>
        <p:nvSpPr>
          <p:cNvPr id="77" name="">
            <a:extLst xmlns:a="http://schemas.openxmlformats.org/drawingml/2006/main">
              <a:ext uri="{FF2B5EF4-FFF2-40B4-BE49-F238E27FC236}">
                <a16:creationId xmlns:a16="http://schemas.microsoft.com/office/drawing/2014/main" id="{37412CFB-E074-4632-A4AE-3D891809C1CB}"/>
              </a:ext>
            </a:extLst>
          </p:cNvPr>
          <p:cNvSpPr>
            <a:spLocks xmlns:a="http://schemas.openxmlformats.org/drawingml/2006/main" noGrp="1"/>
          </p:cNvSpPr>
          <p:nvPr/>
        </p:nvSpPr>
        <p:spPr>
          <a:xfrm xmlns:a="http://schemas.openxmlformats.org/drawingml/2006/main">
            <a:off x="666750" y="1924050"/>
            <a:ext cx="9048750" cy="360045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78" name="">
            <a:extLst xmlns:a="http://schemas.openxmlformats.org/drawingml/2006/main">
              <a:ext uri="{FF2B5EF4-FFF2-40B4-BE49-F238E27FC236}">
                <a16:creationId xmlns:a16="http://schemas.microsoft.com/office/drawing/2014/main" id="{6FE08C22-243F-4EE5-A8BF-1FE0E31F3586}"/>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79" name="">
            <a:extLst xmlns:a="http://schemas.openxmlformats.org/drawingml/2006/main">
              <a:ext uri="{FF2B5EF4-FFF2-40B4-BE49-F238E27FC236}">
                <a16:creationId xmlns:a16="http://schemas.microsoft.com/office/drawing/2014/main" id="{8E541DCB-2796-4D83-AB4B-F2B892AA3EB3}"/>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06</a:t>
            </a:r>
          </a:p>
        </p:txBody>
      </p:sp>
    </p:spTree>
    <p:extLst>
      <p:ext uri="{BB962C8B-B14F-4D97-AF65-F5344CB8AC3E}">
        <p14:creationId xmlns:p14="http://schemas.microsoft.com/office/powerpoint/2010/main" val="12889484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2F2B79-0F70-4BC4-B8BF-8BE3A2C836CC}"/>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‏پایلوت</a:t>
            </a:r>
          </a:p>
        </p:txBody>
      </p:sp>
      <p:sp>
        <p:nvSpPr>
          <p:cNvPr id="2" name="">
            <a:extLst xmlns:a="http://schemas.openxmlformats.org/drawingml/2006/main">
              <a:ext uri="{FF2B5EF4-FFF2-40B4-BE49-F238E27FC236}">
                <a16:creationId xmlns:a16="http://schemas.microsoft.com/office/drawing/2014/main" id="{0D14370D-1B8C-4C92-A796-5DB4FFEB6C95}"/>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‏پایلوت پیشنهادی: هوشمندی کیفیت</a:t>
            </a:r>
          </a:p>
        </p:txBody>
      </p:sp>
      <p:sp>
        <p:nvSpPr>
          <p:cNvPr id="3" name="">
            <a:extLst xmlns:a="http://schemas.openxmlformats.org/drawingml/2006/main">
              <a:ext uri="{FF2B5EF4-FFF2-40B4-BE49-F238E27FC236}">
                <a16:creationId xmlns:a16="http://schemas.microsoft.com/office/drawing/2014/main" id="{9B75B52E-6C89-413F-BC50-5FA62C0D59D7}"/>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‏یک پایلوت فقط خواندنی که شواهد موجود را به بینش ریشه‌یابی و رهگیری تبدیل می‌کند.</a:t>
            </a:r>
          </a:p>
        </p:txBody>
      </p:sp>
      <p:sp>
        <p:nvSpPr>
          <p:cNvPr id="4" name="">
            <a:extLst xmlns:a="http://schemas.openxmlformats.org/drawingml/2006/main">
              <a:ext uri="{FF2B5EF4-FFF2-40B4-BE49-F238E27FC236}">
                <a16:creationId xmlns:a16="http://schemas.microsoft.com/office/drawing/2014/main" id="{21C079F2-6B0F-4930-A512-F6EAB19EF61F}"/>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DB22D2AE-B859-4B15-8D26-E0305D382B2F}"/>
              </a:ext>
            </a:extLst>
          </p:cNvPr>
          <p:cNvSpPr>
            <a:spLocks xmlns:a="http://schemas.openxmlformats.org/drawingml/2006/main" noGrp="1"/>
          </p:cNvSpPr>
          <p:nvPr/>
        </p:nvSpPr>
        <p:spPr>
          <a:xfrm xmlns:a="http://schemas.openxmlformats.org/drawingml/2006/main">
            <a:off x="762000" y="2095500"/>
            <a:ext cx="3143250" cy="285750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816C24E-F5EC-4972-AB28-77307B17E061}"/>
              </a:ext>
            </a:extLst>
          </p:cNvPr>
          <p:cNvSpPr>
            <a:spLocks xmlns:a="http://schemas.openxmlformats.org/drawingml/2006/main" noGrp="1"/>
          </p:cNvSpPr>
          <p:nvPr/>
        </p:nvSpPr>
        <p:spPr>
          <a:xfrm xmlns:a="http://schemas.openxmlformats.org/drawingml/2006/main">
            <a:off x="1047750" y="24003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FFFFFF"/>
                </a:solidFill>
                <a:latin typeface="Tahoma"/>
                <a:ea typeface="Tahoma"/>
                <a:cs typeface="Tahoma"/>
              </a:defRPr>
            </a:pPr>
            <a:r>
              <a:rPr sz="1950" b="1">
                <a:solidFill>
                  <a:srgbClr val="FFFFFF"/>
                </a:solidFill>
                <a:latin typeface="Tahoma"/>
                <a:ea typeface="Tahoma"/>
                <a:cs typeface="Tahoma"/>
              </a:rPr>
              <a:t>‏دامنه پایلوت</a:t>
            </a:r>
          </a:p>
        </p:txBody>
      </p:sp>
      <p:sp>
        <p:nvSpPr>
          <p:cNvPr id="7" name="">
            <a:extLst xmlns:a="http://schemas.openxmlformats.org/drawingml/2006/main">
              <a:ext uri="{FF2B5EF4-FFF2-40B4-BE49-F238E27FC236}">
                <a16:creationId xmlns:a16="http://schemas.microsoft.com/office/drawing/2014/main" id="{E33CBFC8-738E-4656-83B5-8401E88CBDD8}"/>
              </a:ext>
            </a:extLst>
          </p:cNvPr>
          <p:cNvSpPr>
            <a:spLocks xmlns:a="http://schemas.openxmlformats.org/drawingml/2006/main" noGrp="1"/>
          </p:cNvSpPr>
          <p:nvPr/>
        </p:nvSpPr>
        <p:spPr>
          <a:xfrm xmlns:a="http://schemas.openxmlformats.org/drawingml/2006/main">
            <a:off x="1047750" y="295275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FFFFFF"/>
                </a:solidFill>
                <a:latin typeface="Tahoma"/>
                <a:ea typeface="Tahoma"/>
                <a:cs typeface="Tahoma"/>
              </a:defRPr>
            </a:pPr>
            <a:r>
              <a:rPr sz="1350" b="0">
                <a:solidFill>
                  <a:srgbClr val="FFFFFF"/>
                </a:solidFill>
                <a:latin typeface="Tahoma"/>
                <a:ea typeface="Tahoma"/>
                <a:cs typeface="Tahoma"/>
              </a:rPr>
              <a:t>‏• یک خانواده محصول یا خط</a:t>
            </a:r>
          </a:p>
          <a:p xmlns:a="http://schemas.openxmlformats.org/drawingml/2006/main">
            <a:pPr algn="r">
              <a:defRPr sz="1350" b="0">
                <a:solidFill>
                  <a:srgbClr val="FFFFFF"/>
                </a:solidFill>
                <a:latin typeface="Tahoma"/>
                <a:ea typeface="Tahoma"/>
                <a:cs typeface="Tahoma"/>
              </a:defRPr>
            </a:pPr>
            <a:r>
              <a:rPr sz="1350" b="0">
                <a:solidFill>
                  <a:srgbClr val="FFFFFF"/>
                </a:solidFill>
                <a:latin typeface="Tahoma"/>
                <a:ea typeface="Tahoma"/>
                <a:cs typeface="Tahoma"/>
              </a:rPr>
              <a:t>‏• زمینه ERP و سفارش</a:t>
            </a:r>
          </a:p>
          <a:p xmlns:a="http://schemas.openxmlformats.org/drawingml/2006/main">
            <a:pPr algn="r">
              <a:defRPr sz="1350" b="0">
                <a:solidFill>
                  <a:srgbClr val="FFFFFF"/>
                </a:solidFill>
                <a:latin typeface="Tahoma"/>
                <a:ea typeface="Tahoma"/>
                <a:cs typeface="Tahoma"/>
              </a:defRPr>
            </a:pPr>
            <a:r>
              <a:rPr sz="1350" b="0">
                <a:solidFill>
                  <a:srgbClr val="FFFFFF"/>
                </a:solidFill>
                <a:latin typeface="Tahoma"/>
                <a:ea typeface="Tahoma"/>
                <a:cs typeface="Tahoma"/>
              </a:rPr>
              <a:t>‏• شواهد بازرسی و عیب</a:t>
            </a:r>
          </a:p>
          <a:p xmlns:a="http://schemas.openxmlformats.org/drawingml/2006/main">
            <a:pPr algn="r">
              <a:defRPr sz="1350" b="0">
                <a:solidFill>
                  <a:srgbClr val="FFFFFF"/>
                </a:solidFill>
                <a:latin typeface="Tahoma"/>
                <a:ea typeface="Tahoma"/>
                <a:cs typeface="Tahoma"/>
              </a:defRPr>
            </a:pPr>
            <a:r>
              <a:rPr sz="1350" b="0">
                <a:solidFill>
                  <a:srgbClr val="FFFFFF"/>
                </a:solidFill>
                <a:latin typeface="Tahoma"/>
                <a:ea typeface="Tahoma"/>
                <a:cs typeface="Tahoma"/>
              </a:rPr>
              <a:t>‏• نتایج QC و آزمایشگاه</a:t>
            </a:r>
          </a:p>
          <a:p xmlns:a="http://schemas.openxmlformats.org/drawingml/2006/main">
            <a:pPr algn="r">
              <a:defRPr sz="1350" b="0">
                <a:solidFill>
                  <a:srgbClr val="FFFFFF"/>
                </a:solidFill>
                <a:latin typeface="Tahoma"/>
                <a:ea typeface="Tahoma"/>
                <a:cs typeface="Tahoma"/>
              </a:defRPr>
            </a:pPr>
            <a:r>
              <a:rPr sz="1350" b="0">
                <a:solidFill>
                  <a:srgbClr val="FFFFFF"/>
                </a:solidFill>
                <a:latin typeface="Tahoma"/>
                <a:ea typeface="Tahoma"/>
                <a:cs typeface="Tahoma"/>
              </a:rPr>
              <a:t>‏• یادداشت اپراتور و شکایت</a:t>
            </a:r>
          </a:p>
        </p:txBody>
      </p:sp>
      <p:sp>
        <p:nvSpPr>
          <p:cNvPr id="8" name="">
            <a:extLst xmlns:a="http://schemas.openxmlformats.org/drawingml/2006/main">
              <a:ext uri="{FF2B5EF4-FFF2-40B4-BE49-F238E27FC236}">
                <a16:creationId xmlns:a16="http://schemas.microsoft.com/office/drawing/2014/main" id="{67A8818B-ECAD-4FAD-9C18-E7DFAC87B37F}"/>
              </a:ext>
            </a:extLst>
          </p:cNvPr>
          <p:cNvSpPr>
            <a:spLocks xmlns:a="http://schemas.openxmlformats.org/drawingml/2006/main" noGrp="1"/>
          </p:cNvSpPr>
          <p:nvPr/>
        </p:nvSpPr>
        <p:spPr>
          <a:xfrm xmlns:a="http://schemas.openxmlformats.org/drawingml/2006/main">
            <a:off x="4476750" y="2095500"/>
            <a:ext cx="3143250" cy="28575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9" name="">
            <a:extLst xmlns:a="http://schemas.openxmlformats.org/drawingml/2006/main">
              <a:ext uri="{FF2B5EF4-FFF2-40B4-BE49-F238E27FC236}">
                <a16:creationId xmlns:a16="http://schemas.microsoft.com/office/drawing/2014/main" id="{B8C98E71-A6CC-4F97-8C73-F939C3456047}"/>
              </a:ext>
            </a:extLst>
          </p:cNvPr>
          <p:cNvSpPr>
            <a:spLocks xmlns:a="http://schemas.openxmlformats.org/drawingml/2006/main" noGrp="1"/>
          </p:cNvSpPr>
          <p:nvPr/>
        </p:nvSpPr>
        <p:spPr>
          <a:xfrm xmlns:a="http://schemas.openxmlformats.org/drawingml/2006/main">
            <a:off x="4762500" y="24003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111111"/>
                </a:solidFill>
                <a:latin typeface="Tahoma"/>
                <a:ea typeface="Tahoma"/>
                <a:cs typeface="Tahoma"/>
              </a:defRPr>
            </a:pPr>
            <a:r>
              <a:rPr sz="1950" b="1">
                <a:solidFill>
                  <a:srgbClr val="111111"/>
                </a:solidFill>
                <a:latin typeface="Tahoma"/>
                <a:ea typeface="Tahoma"/>
                <a:cs typeface="Tahoma"/>
              </a:rPr>
              <a:t>‏خروجی‌های پایلوت</a:t>
            </a:r>
          </a:p>
        </p:txBody>
      </p:sp>
      <p:sp>
        <p:nvSpPr>
          <p:cNvPr id="10" name="">
            <a:extLst xmlns:a="http://schemas.openxmlformats.org/drawingml/2006/main">
              <a:ext uri="{FF2B5EF4-FFF2-40B4-BE49-F238E27FC236}">
                <a16:creationId xmlns:a16="http://schemas.microsoft.com/office/drawing/2014/main" id="{2941F147-7548-4EB1-9760-7530B0633F6B}"/>
              </a:ext>
            </a:extLst>
          </p:cNvPr>
          <p:cNvSpPr>
            <a:spLocks xmlns:a="http://schemas.openxmlformats.org/drawingml/2006/main" noGrp="1"/>
          </p:cNvSpPr>
          <p:nvPr/>
        </p:nvSpPr>
        <p:spPr>
          <a:xfrm xmlns:a="http://schemas.openxmlformats.org/drawingml/2006/main">
            <a:off x="4762500" y="295275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پارتوی عیب بر اساس رول/محصول</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همبستگی فرایند و کیفیت</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پاسپورت کیفیت رول</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فهرست کوتاه ریشه‌ها</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نیازهای داده برای مقیاس‌دادن</a:t>
            </a:r>
          </a:p>
        </p:txBody>
      </p:sp>
      <p:sp>
        <p:nvSpPr>
          <p:cNvPr id="11" name="">
            <a:extLst xmlns:a="http://schemas.openxmlformats.org/drawingml/2006/main">
              <a:ext uri="{FF2B5EF4-FFF2-40B4-BE49-F238E27FC236}">
                <a16:creationId xmlns:a16="http://schemas.microsoft.com/office/drawing/2014/main" id="{9A626104-A918-4F6B-9AC6-690158068F3E}"/>
              </a:ext>
            </a:extLst>
          </p:cNvPr>
          <p:cNvSpPr>
            <a:spLocks xmlns:a="http://schemas.openxmlformats.org/drawingml/2006/main" noGrp="1"/>
          </p:cNvSpPr>
          <p:nvPr/>
        </p:nvSpPr>
        <p:spPr>
          <a:xfrm xmlns:a="http://schemas.openxmlformats.org/drawingml/2006/main">
            <a:off x="8191500" y="2095500"/>
            <a:ext cx="3143250" cy="2857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20A83F8E-5D34-4B77-B232-17DD6F36EF5C}"/>
              </a:ext>
            </a:extLst>
          </p:cNvPr>
          <p:cNvSpPr>
            <a:spLocks xmlns:a="http://schemas.openxmlformats.org/drawingml/2006/main" noGrp="1"/>
          </p:cNvSpPr>
          <p:nvPr/>
        </p:nvSpPr>
        <p:spPr>
          <a:xfrm xmlns:a="http://schemas.openxmlformats.org/drawingml/2006/main">
            <a:off x="8477250" y="24003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111111"/>
                </a:solidFill>
                <a:latin typeface="Tahoma"/>
                <a:ea typeface="Tahoma"/>
                <a:cs typeface="Tahoma"/>
              </a:defRPr>
            </a:pPr>
            <a:r>
              <a:rPr sz="1950" b="1">
                <a:solidFill>
                  <a:srgbClr val="111111"/>
                </a:solidFill>
                <a:latin typeface="Tahoma"/>
                <a:ea typeface="Tahoma"/>
                <a:cs typeface="Tahoma"/>
              </a:rPr>
              <a:t>‏چرا این مسیر برنده است</a:t>
            </a:r>
          </a:p>
        </p:txBody>
      </p:sp>
      <p:sp>
        <p:nvSpPr>
          <p:cNvPr id="13" name="">
            <a:extLst xmlns:a="http://schemas.openxmlformats.org/drawingml/2006/main">
              <a:ext uri="{FF2B5EF4-FFF2-40B4-BE49-F238E27FC236}">
                <a16:creationId xmlns:a16="http://schemas.microsoft.com/office/drawing/2014/main" id="{231F475F-360C-4F01-A14E-504F29A65C8F}"/>
              </a:ext>
            </a:extLst>
          </p:cNvPr>
          <p:cNvSpPr>
            <a:spLocks xmlns:a="http://schemas.openxmlformats.org/drawingml/2006/main" noGrp="1"/>
          </p:cNvSpPr>
          <p:nvPr/>
        </p:nvSpPr>
        <p:spPr>
          <a:xfrm xmlns:a="http://schemas.openxmlformats.org/drawingml/2006/main">
            <a:off x="8477250" y="2952750"/>
            <a:ext cx="238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در ۱۲ هفته قابل اندازه‌گیری</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کم‌ریسک: بدون حلقه کنترل</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مفید برای کیفیت، تحقیق‌وتوسعه و تولید</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ستون داده پلتفرم را می‌سازد</a:t>
            </a:r>
          </a:p>
        </p:txBody>
      </p:sp>
      <p:sp>
        <p:nvSpPr>
          <p:cNvPr id="14" name="">
            <a:extLst xmlns:a="http://schemas.openxmlformats.org/drawingml/2006/main">
              <a:ext uri="{FF2B5EF4-FFF2-40B4-BE49-F238E27FC236}">
                <a16:creationId xmlns:a16="http://schemas.microsoft.com/office/drawing/2014/main" id="{B7CEC2F8-BF60-411E-B86A-BF17552D484B}"/>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15" name="">
            <a:extLst xmlns:a="http://schemas.openxmlformats.org/drawingml/2006/main">
              <a:ext uri="{FF2B5EF4-FFF2-40B4-BE49-F238E27FC236}">
                <a16:creationId xmlns:a16="http://schemas.microsoft.com/office/drawing/2014/main" id="{4725A630-B638-490B-9425-3AF8C85FBF26}"/>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07</a:t>
            </a:r>
          </a:p>
        </p:txBody>
      </p:sp>
    </p:spTree>
    <p:extLst>
      <p:ext uri="{BB962C8B-B14F-4D97-AF65-F5344CB8AC3E}">
        <p14:creationId xmlns:p14="http://schemas.microsoft.com/office/powerpoint/2010/main" val="18672551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901C7E-7993-444B-B47A-065962C15146}"/>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‏معماری پایلوت</a:t>
            </a:r>
          </a:p>
        </p:txBody>
      </p:sp>
      <p:sp>
        <p:nvSpPr>
          <p:cNvPr id="2" name="">
            <a:extLst xmlns:a="http://schemas.openxmlformats.org/drawingml/2006/main">
              <a:ext uri="{FF2B5EF4-FFF2-40B4-BE49-F238E27FC236}">
                <a16:creationId xmlns:a16="http://schemas.microsoft.com/office/drawing/2014/main" id="{01BE72AE-45CD-48BB-B496-B760732ACB0E}"/>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‏معماری پایلوت ساده و قابل مقیاس است</a:t>
            </a:r>
          </a:p>
        </p:txBody>
      </p:sp>
      <p:sp>
        <p:nvSpPr>
          <p:cNvPr id="3" name="">
            <a:extLst xmlns:a="http://schemas.openxmlformats.org/drawingml/2006/main">
              <a:ext uri="{FF2B5EF4-FFF2-40B4-BE49-F238E27FC236}">
                <a16:creationId xmlns:a16="http://schemas.microsoft.com/office/drawing/2014/main" id="{81F0F5C8-1123-41C4-ADF0-E73E3B056C25}"/>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‏اتصال‌گرهای فقط خواندنی یک مدل کیفیت قابل رهگیری را تغذیه می‌کنند.</a:t>
            </a:r>
          </a:p>
        </p:txBody>
      </p:sp>
      <p:sp>
        <p:nvSpPr>
          <p:cNvPr id="4" name="">
            <a:extLst xmlns:a="http://schemas.openxmlformats.org/drawingml/2006/main">
              <a:ext uri="{FF2B5EF4-FFF2-40B4-BE49-F238E27FC236}">
                <a16:creationId xmlns:a16="http://schemas.microsoft.com/office/drawing/2014/main" id="{E785AECD-E6FC-4EE6-A4D4-CD972B639B6F}"/>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FC89B49C-C622-48E2-946C-157E463D3774}"/>
              </a:ext>
            </a:extLst>
          </p:cNvPr>
          <p:cNvSpPr>
            <a:spLocks xmlns:a="http://schemas.openxmlformats.org/drawingml/2006/main" noGrp="1"/>
          </p:cNvSpPr>
          <p:nvPr/>
        </p:nvSpPr>
        <p:spPr>
          <a:xfrm xmlns:a="http://schemas.openxmlformats.org/drawingml/2006/main">
            <a:off x="66675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1C15897A-55DC-4A8E-909F-FDF21A866BED}"/>
              </a:ext>
            </a:extLst>
          </p:cNvPr>
          <p:cNvSpPr>
            <a:spLocks xmlns:a="http://schemas.openxmlformats.org/drawingml/2006/main" noGrp="1"/>
          </p:cNvSpPr>
          <p:nvPr/>
        </p:nvSpPr>
        <p:spPr>
          <a:xfrm xmlns:a="http://schemas.openxmlformats.org/drawingml/2006/main">
            <a:off x="80010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‏ERP / سفارش</a:t>
            </a:r>
          </a:p>
        </p:txBody>
      </p:sp>
      <p:sp>
        <p:nvSpPr>
          <p:cNvPr id="7" name="">
            <a:extLst xmlns:a="http://schemas.openxmlformats.org/drawingml/2006/main">
              <a:ext uri="{FF2B5EF4-FFF2-40B4-BE49-F238E27FC236}">
                <a16:creationId xmlns:a16="http://schemas.microsoft.com/office/drawing/2014/main" id="{7F669CB4-6B81-4BF8-872F-FAEC7FE027D6}"/>
              </a:ext>
            </a:extLst>
          </p:cNvPr>
          <p:cNvSpPr>
            <a:spLocks xmlns:a="http://schemas.openxmlformats.org/drawingml/2006/main" noGrp="1"/>
          </p:cNvSpPr>
          <p:nvPr/>
        </p:nvSpPr>
        <p:spPr>
          <a:xfrm xmlns:a="http://schemas.openxmlformats.org/drawingml/2006/main">
            <a:off x="80010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‏مشتری، محصول، مسیر، رول</a:t>
            </a:r>
          </a:p>
        </p:txBody>
      </p:sp>
      <p:sp>
        <p:nvSpPr>
          <p:cNvPr id="8" name="">
            <a:extLst xmlns:a="http://schemas.openxmlformats.org/drawingml/2006/main">
              <a:ext uri="{FF2B5EF4-FFF2-40B4-BE49-F238E27FC236}">
                <a16:creationId xmlns:a16="http://schemas.microsoft.com/office/drawing/2014/main" id="{5ACE3F03-2E9A-4D2E-8C4B-16E6B69AE262}"/>
              </a:ext>
            </a:extLst>
          </p:cNvPr>
          <p:cNvSpPr>
            <a:spLocks xmlns:a="http://schemas.openxmlformats.org/drawingml/2006/main" noGrp="1"/>
          </p:cNvSpPr>
          <p:nvPr/>
        </p:nvSpPr>
        <p:spPr>
          <a:xfrm xmlns:a="http://schemas.openxmlformats.org/drawingml/2006/main">
            <a:off x="262890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9" name="">
            <a:extLst xmlns:a="http://schemas.openxmlformats.org/drawingml/2006/main">
              <a:ext uri="{FF2B5EF4-FFF2-40B4-BE49-F238E27FC236}">
                <a16:creationId xmlns:a16="http://schemas.microsoft.com/office/drawing/2014/main" id="{8114DE7E-B499-4B5D-A1FD-0B1E23F5DB25}"/>
              </a:ext>
            </a:extLst>
          </p:cNvPr>
          <p:cNvSpPr>
            <a:spLocks xmlns:a="http://schemas.openxmlformats.org/drawingml/2006/main" noGrp="1"/>
          </p:cNvSpPr>
          <p:nvPr/>
        </p:nvSpPr>
        <p:spPr>
          <a:xfrm xmlns:a="http://schemas.openxmlformats.org/drawingml/2006/main">
            <a:off x="276225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‏تولید</a:t>
            </a:r>
          </a:p>
        </p:txBody>
      </p:sp>
      <p:sp>
        <p:nvSpPr>
          <p:cNvPr id="10" name="">
            <a:extLst xmlns:a="http://schemas.openxmlformats.org/drawingml/2006/main">
              <a:ext uri="{FF2B5EF4-FFF2-40B4-BE49-F238E27FC236}">
                <a16:creationId xmlns:a16="http://schemas.microsoft.com/office/drawing/2014/main" id="{C634667A-1EAE-41A5-917E-DC7201063344}"/>
              </a:ext>
            </a:extLst>
          </p:cNvPr>
          <p:cNvSpPr>
            <a:spLocks xmlns:a="http://schemas.openxmlformats.org/drawingml/2006/main" noGrp="1"/>
          </p:cNvSpPr>
          <p:nvPr/>
        </p:nvSpPr>
        <p:spPr>
          <a:xfrm xmlns:a="http://schemas.openxmlformats.org/drawingml/2006/main">
            <a:off x="276225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‏دستور، تنظیمات، خط، زمان</a:t>
            </a:r>
          </a:p>
        </p:txBody>
      </p:sp>
      <p:sp>
        <p:nvSpPr>
          <p:cNvPr id="11" name="">
            <a:extLst xmlns:a="http://schemas.openxmlformats.org/drawingml/2006/main">
              <a:ext uri="{FF2B5EF4-FFF2-40B4-BE49-F238E27FC236}">
                <a16:creationId xmlns:a16="http://schemas.microsoft.com/office/drawing/2014/main" id="{63B0500B-81F8-4974-ABA6-B9E09F83FDE3}"/>
              </a:ext>
            </a:extLst>
          </p:cNvPr>
          <p:cNvSpPr>
            <a:spLocks xmlns:a="http://schemas.openxmlformats.org/drawingml/2006/main" noGrp="1"/>
          </p:cNvSpPr>
          <p:nvPr/>
        </p:nvSpPr>
        <p:spPr>
          <a:xfrm xmlns:a="http://schemas.openxmlformats.org/drawingml/2006/main">
            <a:off x="459105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E24FBA31-4F49-4E97-A250-FD2013404AD1}"/>
              </a:ext>
            </a:extLst>
          </p:cNvPr>
          <p:cNvSpPr>
            <a:spLocks xmlns:a="http://schemas.openxmlformats.org/drawingml/2006/main" noGrp="1"/>
          </p:cNvSpPr>
          <p:nvPr/>
        </p:nvSpPr>
        <p:spPr>
          <a:xfrm xmlns:a="http://schemas.openxmlformats.org/drawingml/2006/main">
            <a:off x="472440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‏بازرسی</a:t>
            </a:r>
          </a:p>
        </p:txBody>
      </p:sp>
      <p:sp>
        <p:nvSpPr>
          <p:cNvPr id="13" name="">
            <a:extLst xmlns:a="http://schemas.openxmlformats.org/drawingml/2006/main">
              <a:ext uri="{FF2B5EF4-FFF2-40B4-BE49-F238E27FC236}">
                <a16:creationId xmlns:a16="http://schemas.microsoft.com/office/drawing/2014/main" id="{F929DADA-1AE6-49AC-8D6E-4EB9736AFC42}"/>
              </a:ext>
            </a:extLst>
          </p:cNvPr>
          <p:cNvSpPr>
            <a:spLocks xmlns:a="http://schemas.openxmlformats.org/drawingml/2006/main" noGrp="1"/>
          </p:cNvSpPr>
          <p:nvPr/>
        </p:nvSpPr>
        <p:spPr>
          <a:xfrm xmlns:a="http://schemas.openxmlformats.org/drawingml/2006/main">
            <a:off x="472440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‏تصاویر، برچسب‌ها، عیوب</a:t>
            </a:r>
          </a:p>
        </p:txBody>
      </p:sp>
      <p:sp>
        <p:nvSpPr>
          <p:cNvPr id="14" name="">
            <a:extLst xmlns:a="http://schemas.openxmlformats.org/drawingml/2006/main">
              <a:ext uri="{FF2B5EF4-FFF2-40B4-BE49-F238E27FC236}">
                <a16:creationId xmlns:a16="http://schemas.microsoft.com/office/drawing/2014/main" id="{8B968D97-DC1E-4D68-9CBE-7C6E7680D106}"/>
              </a:ext>
            </a:extLst>
          </p:cNvPr>
          <p:cNvSpPr>
            <a:spLocks xmlns:a="http://schemas.openxmlformats.org/drawingml/2006/main" noGrp="1"/>
          </p:cNvSpPr>
          <p:nvPr/>
        </p:nvSpPr>
        <p:spPr>
          <a:xfrm xmlns:a="http://schemas.openxmlformats.org/drawingml/2006/main">
            <a:off x="655320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5" name="">
            <a:extLst xmlns:a="http://schemas.openxmlformats.org/drawingml/2006/main">
              <a:ext uri="{FF2B5EF4-FFF2-40B4-BE49-F238E27FC236}">
                <a16:creationId xmlns:a16="http://schemas.microsoft.com/office/drawing/2014/main" id="{8C7152B1-A169-46E3-9FAB-AE753953E091}"/>
              </a:ext>
            </a:extLst>
          </p:cNvPr>
          <p:cNvSpPr>
            <a:spLocks xmlns:a="http://schemas.openxmlformats.org/drawingml/2006/main" noGrp="1"/>
          </p:cNvSpPr>
          <p:nvPr/>
        </p:nvSpPr>
        <p:spPr>
          <a:xfrm xmlns:a="http://schemas.openxmlformats.org/drawingml/2006/main">
            <a:off x="668655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‏QC / آزمایشگاه</a:t>
            </a:r>
          </a:p>
        </p:txBody>
      </p:sp>
      <p:sp>
        <p:nvSpPr>
          <p:cNvPr id="16" name="">
            <a:extLst xmlns:a="http://schemas.openxmlformats.org/drawingml/2006/main">
              <a:ext uri="{FF2B5EF4-FFF2-40B4-BE49-F238E27FC236}">
                <a16:creationId xmlns:a16="http://schemas.microsoft.com/office/drawing/2014/main" id="{19410C39-25D0-4FF0-848A-58E315C73E5A}"/>
              </a:ext>
            </a:extLst>
          </p:cNvPr>
          <p:cNvSpPr>
            <a:spLocks xmlns:a="http://schemas.openxmlformats.org/drawingml/2006/main" noGrp="1"/>
          </p:cNvSpPr>
          <p:nvPr/>
        </p:nvSpPr>
        <p:spPr>
          <a:xfrm xmlns:a="http://schemas.openxmlformats.org/drawingml/2006/main">
            <a:off x="668655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‏آزمون‌ها، رهاسازی، گواهی‌ها</a:t>
            </a:r>
          </a:p>
        </p:txBody>
      </p:sp>
      <p:sp>
        <p:nvSpPr>
          <p:cNvPr id="17" name="">
            <a:extLst xmlns:a="http://schemas.openxmlformats.org/drawingml/2006/main">
              <a:ext uri="{FF2B5EF4-FFF2-40B4-BE49-F238E27FC236}">
                <a16:creationId xmlns:a16="http://schemas.microsoft.com/office/drawing/2014/main" id="{825181EF-58D8-4282-9FD3-3C22F11BF1F5}"/>
              </a:ext>
            </a:extLst>
          </p:cNvPr>
          <p:cNvSpPr>
            <a:spLocks xmlns:a="http://schemas.openxmlformats.org/drawingml/2006/main" noGrp="1"/>
          </p:cNvSpPr>
          <p:nvPr/>
        </p:nvSpPr>
        <p:spPr>
          <a:xfrm xmlns:a="http://schemas.openxmlformats.org/drawingml/2006/main">
            <a:off x="8515350" y="2238375"/>
            <a:ext cx="1714500" cy="1047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12069E99-2A0B-4B95-8BF4-5A91EB770B09}"/>
              </a:ext>
            </a:extLst>
          </p:cNvPr>
          <p:cNvSpPr>
            <a:spLocks xmlns:a="http://schemas.openxmlformats.org/drawingml/2006/main" noGrp="1"/>
          </p:cNvSpPr>
          <p:nvPr/>
        </p:nvSpPr>
        <p:spPr>
          <a:xfrm xmlns:a="http://schemas.openxmlformats.org/drawingml/2006/main">
            <a:off x="8648700" y="24384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‏شکایات</a:t>
            </a:r>
          </a:p>
        </p:txBody>
      </p:sp>
      <p:sp>
        <p:nvSpPr>
          <p:cNvPr id="19" name="">
            <a:extLst xmlns:a="http://schemas.openxmlformats.org/drawingml/2006/main">
              <a:ext uri="{FF2B5EF4-FFF2-40B4-BE49-F238E27FC236}">
                <a16:creationId xmlns:a16="http://schemas.microsoft.com/office/drawing/2014/main" id="{AFA29234-DC55-46FD-9B3F-8F8C09D19345}"/>
              </a:ext>
            </a:extLst>
          </p:cNvPr>
          <p:cNvSpPr>
            <a:spLocks xmlns:a="http://schemas.openxmlformats.org/drawingml/2006/main" noGrp="1"/>
          </p:cNvSpPr>
          <p:nvPr/>
        </p:nvSpPr>
        <p:spPr>
          <a:xfrm xmlns:a="http://schemas.openxmlformats.org/drawingml/2006/main">
            <a:off x="8648700" y="27813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latin typeface="Tahoma"/>
                <a:ea typeface="Tahoma"/>
                <a:cs typeface="Tahoma"/>
              </a:defRPr>
            </a:pPr>
            <a:r>
              <a:rPr sz="975" b="0">
                <a:solidFill>
                  <a:srgbClr val="555555"/>
                </a:solidFill>
                <a:latin typeface="Tahoma"/>
                <a:ea typeface="Tahoma"/>
                <a:cs typeface="Tahoma"/>
              </a:rPr>
              <a:t>‏بازخورد مشتری، CAPA</a:t>
            </a:r>
          </a:p>
        </p:txBody>
      </p:sp>
      <p:sp>
        <p:nvSpPr>
          <p:cNvPr id="20" name="">
            <a:extLst xmlns:a="http://schemas.openxmlformats.org/drawingml/2006/main">
              <a:ext uri="{FF2B5EF4-FFF2-40B4-BE49-F238E27FC236}">
                <a16:creationId xmlns:a16="http://schemas.microsoft.com/office/drawing/2014/main" id="{94F5D694-6647-4E0B-83B4-1DBCAC3FCB45}"/>
              </a:ext>
            </a:extLst>
          </p:cNvPr>
          <p:cNvSpPr>
            <a:spLocks xmlns:a="http://schemas.openxmlformats.org/drawingml/2006/main" noGrp="1"/>
          </p:cNvSpPr>
          <p:nvPr/>
        </p:nvSpPr>
        <p:spPr>
          <a:xfrm xmlns:a="http://schemas.openxmlformats.org/drawingml/2006/main">
            <a:off x="5695950" y="342900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39200"/>
                </a:solidFill>
                <a:latin typeface="Tahoma"/>
                <a:ea typeface="Tahoma"/>
                <a:cs typeface="Tahoma"/>
              </a:defRPr>
            </a:pPr>
            <a:r>
              <a:rPr sz="2550" b="1">
                <a:solidFill>
                  <a:srgbClr val="F39200"/>
                </a:solidFill>
                <a:latin typeface="Tahoma"/>
                <a:ea typeface="Tahoma"/>
                <a:cs typeface="Tahoma"/>
              </a:rPr>
              <a:t>v</a:t>
            </a:r>
          </a:p>
        </p:txBody>
      </p:sp>
      <p:sp>
        <p:nvSpPr>
          <p:cNvPr id="21" name="">
            <a:extLst xmlns:a="http://schemas.openxmlformats.org/drawingml/2006/main">
              <a:ext uri="{FF2B5EF4-FFF2-40B4-BE49-F238E27FC236}">
                <a16:creationId xmlns:a16="http://schemas.microsoft.com/office/drawing/2014/main" id="{1F43EFA2-AC71-4EB8-98C6-4C770E386791}"/>
              </a:ext>
            </a:extLst>
          </p:cNvPr>
          <p:cNvSpPr>
            <a:spLocks xmlns:a="http://schemas.openxmlformats.org/drawingml/2006/main" noGrp="1"/>
          </p:cNvSpPr>
          <p:nvPr/>
        </p:nvSpPr>
        <p:spPr>
          <a:xfrm xmlns:a="http://schemas.openxmlformats.org/drawingml/2006/main">
            <a:off x="3095625" y="4000500"/>
            <a:ext cx="5905500" cy="8953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22" name="">
            <a:extLst xmlns:a="http://schemas.openxmlformats.org/drawingml/2006/main">
              <a:ext uri="{FF2B5EF4-FFF2-40B4-BE49-F238E27FC236}">
                <a16:creationId xmlns:a16="http://schemas.microsoft.com/office/drawing/2014/main" id="{2C9FB548-9BC9-4042-A4C4-DCFD514E34A6}"/>
              </a:ext>
            </a:extLst>
          </p:cNvPr>
          <p:cNvSpPr>
            <a:spLocks xmlns:a="http://schemas.openxmlformats.org/drawingml/2006/main" noGrp="1"/>
          </p:cNvSpPr>
          <p:nvPr/>
        </p:nvSpPr>
        <p:spPr>
          <a:xfrm xmlns:a="http://schemas.openxmlformats.org/drawingml/2006/main">
            <a:off x="3429000" y="42672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111111"/>
                </a:solidFill>
                <a:latin typeface="Tahoma"/>
                <a:ea typeface="Tahoma"/>
                <a:cs typeface="Tahoma"/>
              </a:defRPr>
            </a:pPr>
            <a:r>
              <a:rPr sz="2025" b="1">
                <a:solidFill>
                  <a:srgbClr val="111111"/>
                </a:solidFill>
                <a:latin typeface="Tahoma"/>
                <a:ea typeface="Tahoma"/>
                <a:cs typeface="Tahoma"/>
              </a:rPr>
              <a:t>‏پاسپورت کیفیت سطح رول + داشبورد تحلیلی</a:t>
            </a:r>
          </a:p>
        </p:txBody>
      </p:sp>
      <p:sp>
        <p:nvSpPr>
          <p:cNvPr id="23" name="">
            <a:extLst xmlns:a="http://schemas.openxmlformats.org/drawingml/2006/main">
              <a:ext uri="{FF2B5EF4-FFF2-40B4-BE49-F238E27FC236}">
                <a16:creationId xmlns:a16="http://schemas.microsoft.com/office/drawing/2014/main" id="{6D4E2E0B-A241-40F8-A184-F6201C89F037}"/>
              </a:ext>
            </a:extLst>
          </p:cNvPr>
          <p:cNvSpPr>
            <a:spLocks xmlns:a="http://schemas.openxmlformats.org/drawingml/2006/main" noGrp="1"/>
          </p:cNvSpPr>
          <p:nvPr/>
        </p:nvSpPr>
        <p:spPr>
          <a:xfrm xmlns:a="http://schemas.openxmlformats.org/drawingml/2006/main">
            <a:off x="3467100" y="46291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55555"/>
                </a:solidFill>
                <a:latin typeface="Tahoma"/>
                <a:ea typeface="Tahoma"/>
                <a:cs typeface="Tahoma"/>
              </a:defRPr>
            </a:pPr>
            <a:r>
              <a:rPr sz="1200" b="0">
                <a:solidFill>
                  <a:srgbClr val="555555"/>
                </a:solidFill>
                <a:latin typeface="Tahoma"/>
                <a:ea typeface="Tahoma"/>
                <a:cs typeface="Tahoma"/>
              </a:rPr>
              <a:t>‏بدون کنترل ماشین. بدون نوشتن در ERP. فقط پیشنهادهای بازبینی‌شده توسط انسان.</a:t>
            </a:r>
          </a:p>
        </p:txBody>
      </p:sp>
      <p:sp>
        <p:nvSpPr>
          <p:cNvPr id="24" name="">
            <a:extLst xmlns:a="http://schemas.openxmlformats.org/drawingml/2006/main">
              <a:ext uri="{FF2B5EF4-FFF2-40B4-BE49-F238E27FC236}">
                <a16:creationId xmlns:a16="http://schemas.microsoft.com/office/drawing/2014/main" id="{F6922F20-E131-4007-861D-E87F8469DBBE}"/>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25" name="">
            <a:extLst xmlns:a="http://schemas.openxmlformats.org/drawingml/2006/main">
              <a:ext uri="{FF2B5EF4-FFF2-40B4-BE49-F238E27FC236}">
                <a16:creationId xmlns:a16="http://schemas.microsoft.com/office/drawing/2014/main" id="{DF64E621-86F3-4215-AA7B-BFC3D917A617}"/>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08</a:t>
            </a:r>
          </a:p>
        </p:txBody>
      </p:sp>
    </p:spTree>
    <p:extLst>
      <p:ext uri="{BB962C8B-B14F-4D97-AF65-F5344CB8AC3E}">
        <p14:creationId xmlns:p14="http://schemas.microsoft.com/office/powerpoint/2010/main" val="47657689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CDFA71-9EA5-4ECE-A46D-765B73F949EA}"/>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‏تحقیق‌وتوسعه</a:t>
            </a:r>
          </a:p>
        </p:txBody>
      </p:sp>
      <p:sp>
        <p:nvSpPr>
          <p:cNvPr id="2" name="">
            <a:extLst xmlns:a="http://schemas.openxmlformats.org/drawingml/2006/main">
              <a:ext uri="{FF2B5EF4-FFF2-40B4-BE49-F238E27FC236}">
                <a16:creationId xmlns:a16="http://schemas.microsoft.com/office/drawing/2014/main" id="{DD59162A-9CFD-47FB-A6DA-772635A11188}"/>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‏تحقیق‌وتوسعه موتور راهبردی بلندمدت می‌شود</a:t>
            </a:r>
          </a:p>
        </p:txBody>
      </p:sp>
      <p:sp>
        <p:nvSpPr>
          <p:cNvPr id="3" name="">
            <a:extLst xmlns:a="http://schemas.openxmlformats.org/drawingml/2006/main">
              <a:ext uri="{FF2B5EF4-FFF2-40B4-BE49-F238E27FC236}">
                <a16:creationId xmlns:a16="http://schemas.microsoft.com/office/drawing/2014/main" id="{0A3F1561-52A2-4FD0-80CA-8808E3ED5F40}"/>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‏هدف، سیستم هوشمندی مواد است، نه یک چت‌بات اسناد.</a:t>
            </a:r>
          </a:p>
        </p:txBody>
      </p:sp>
      <p:sp>
        <p:nvSpPr>
          <p:cNvPr id="4" name="">
            <a:extLst xmlns:a="http://schemas.openxmlformats.org/drawingml/2006/main">
              <a:ext uri="{FF2B5EF4-FFF2-40B4-BE49-F238E27FC236}">
                <a16:creationId xmlns:a16="http://schemas.microsoft.com/office/drawing/2014/main" id="{1E24191F-D7F6-49BF-87F5-328313D23AD2}"/>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4e2a424819b42a8"/>
          <a:srcRect xmlns:a="http://schemas.openxmlformats.org/drawingml/2006/main" l="4627" t="0" r="4627" b="0"/>
          <a:stretch xmlns:a="http://schemas.openxmlformats.org/drawingml/2006/main">
            <a:fillRect l="0" t="0" r="0" b="0"/>
          </a:stretch>
        </p:blipFill>
        <p:spPr>
          <a:xfrm xmlns:a="http://schemas.openxmlformats.org/drawingml/2006/main">
            <a:off x="666750" y="2047875"/>
            <a:ext cx="4000500" cy="2952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5D7DACF-0CFF-4FA4-900B-C075A3941345}"/>
              </a:ext>
            </a:extLst>
          </p:cNvPr>
          <p:cNvSpPr>
            <a:spLocks xmlns:a="http://schemas.openxmlformats.org/drawingml/2006/main" noGrp="1"/>
          </p:cNvSpPr>
          <p:nvPr/>
        </p:nvSpPr>
        <p:spPr>
          <a:xfrm xmlns:a="http://schemas.openxmlformats.org/drawingml/2006/main">
            <a:off x="5191125" y="2047875"/>
            <a:ext cx="5810250" cy="2952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 name="">
            <a:extLst xmlns:a="http://schemas.openxmlformats.org/drawingml/2006/main">
              <a:ext uri="{FF2B5EF4-FFF2-40B4-BE49-F238E27FC236}">
                <a16:creationId xmlns:a16="http://schemas.microsoft.com/office/drawing/2014/main" id="{CBB67E30-25F4-470D-A960-D471991B7132}"/>
              </a:ext>
            </a:extLst>
          </p:cNvPr>
          <p:cNvSpPr>
            <a:spLocks xmlns:a="http://schemas.openxmlformats.org/drawingml/2006/main" noGrp="1"/>
          </p:cNvSpPr>
          <p:nvPr/>
        </p:nvSpPr>
        <p:spPr>
          <a:xfrm xmlns:a="http://schemas.openxmlformats.org/drawingml/2006/main">
            <a:off x="5476875" y="23336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111111"/>
                </a:solidFill>
                <a:latin typeface="Tahoma"/>
                <a:ea typeface="Tahoma"/>
                <a:cs typeface="Tahoma"/>
              </a:defRPr>
            </a:pPr>
            <a:r>
              <a:rPr sz="1950" b="1">
                <a:solidFill>
                  <a:srgbClr val="111111"/>
                </a:solidFill>
                <a:latin typeface="Tahoma"/>
                <a:ea typeface="Tahoma"/>
                <a:cs typeface="Tahoma"/>
              </a:rPr>
              <a:t>‏کاربردهای AI مواد</a:t>
            </a:r>
          </a:p>
        </p:txBody>
      </p:sp>
      <p:sp>
        <p:nvSpPr>
          <p:cNvPr id="8" name="">
            <a:extLst xmlns:a="http://schemas.openxmlformats.org/drawingml/2006/main">
              <a:ext uri="{FF2B5EF4-FFF2-40B4-BE49-F238E27FC236}">
                <a16:creationId xmlns:a16="http://schemas.microsoft.com/office/drawing/2014/main" id="{5360530C-4A61-4DC0-A3F1-5CEA6D1C9484}"/>
              </a:ext>
            </a:extLst>
          </p:cNvPr>
          <p:cNvSpPr>
            <a:spLocks xmlns:a="http://schemas.openxmlformats.org/drawingml/2006/main" noGrp="1"/>
          </p:cNvSpPr>
          <p:nvPr/>
        </p:nvSpPr>
        <p:spPr>
          <a:xfrm xmlns:a="http://schemas.openxmlformats.org/drawingml/2006/main">
            <a:off x="5476875" y="2876550"/>
            <a:ext cx="4857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425" b="0">
                <a:solidFill>
                  <a:srgbClr val="111111"/>
                </a:solidFill>
                <a:latin typeface="Tahoma"/>
                <a:ea typeface="Tahoma"/>
                <a:cs typeface="Tahoma"/>
              </a:defRPr>
            </a:pPr>
            <a:r>
              <a:rPr sz="1425" b="0">
                <a:solidFill>
                  <a:srgbClr val="111111"/>
                </a:solidFill>
                <a:latin typeface="Tahoma"/>
                <a:ea typeface="Tahoma"/>
                <a:cs typeface="Tahoma"/>
              </a:rPr>
              <a:t>‏• بهینه‌سازی فرمولاسیون و دستور</a:t>
            </a:r>
          </a:p>
          <a:p xmlns:a="http://schemas.openxmlformats.org/drawingml/2006/main">
            <a:pPr algn="r">
              <a:defRPr sz="1425" b="0">
                <a:solidFill>
                  <a:srgbClr val="111111"/>
                </a:solidFill>
                <a:latin typeface="Tahoma"/>
                <a:ea typeface="Tahoma"/>
                <a:cs typeface="Tahoma"/>
              </a:defRPr>
            </a:pPr>
            <a:r>
              <a:rPr sz="1425" b="0">
                <a:solidFill>
                  <a:srgbClr val="111111"/>
                </a:solidFill>
                <a:latin typeface="Tahoma"/>
                <a:ea typeface="Tahoma"/>
                <a:cs typeface="Tahoma"/>
              </a:rPr>
              <a:t>‏• پیشنهاد آزمایش و برنامه‌ریزی DOE</a:t>
            </a:r>
          </a:p>
          <a:p xmlns:a="http://schemas.openxmlformats.org/drawingml/2006/main">
            <a:pPr algn="r">
              <a:defRPr sz="1425" b="0">
                <a:solidFill>
                  <a:srgbClr val="111111"/>
                </a:solidFill>
                <a:latin typeface="Tahoma"/>
                <a:ea typeface="Tahoma"/>
                <a:cs typeface="Tahoma"/>
              </a:defRPr>
            </a:pPr>
            <a:r>
              <a:rPr sz="1425" b="0">
                <a:solidFill>
                  <a:srgbClr val="111111"/>
                </a:solidFill>
                <a:latin typeface="Tahoma"/>
                <a:ea typeface="Tahoma"/>
                <a:cs typeface="Tahoma"/>
              </a:rPr>
              <a:t>‏• جست‌وجوی جایگزین مواد خام</a:t>
            </a:r>
          </a:p>
          <a:p xmlns:a="http://schemas.openxmlformats.org/drawingml/2006/main">
            <a:pPr algn="r">
              <a:defRPr sz="1425" b="0">
                <a:solidFill>
                  <a:srgbClr val="111111"/>
                </a:solidFill>
                <a:latin typeface="Tahoma"/>
                <a:ea typeface="Tahoma"/>
                <a:cs typeface="Tahoma"/>
              </a:defRPr>
            </a:pPr>
            <a:r>
              <a:rPr sz="1425" b="0">
                <a:solidFill>
                  <a:srgbClr val="111111"/>
                </a:solidFill>
                <a:latin typeface="Tahoma"/>
                <a:ea typeface="Tahoma"/>
                <a:cs typeface="Tahoma"/>
              </a:rPr>
              <a:t>‏• هوشمندی تامین‌کننده، پتنت و ادبیات علمی</a:t>
            </a:r>
          </a:p>
          <a:p xmlns:a="http://schemas.openxmlformats.org/drawingml/2006/main">
            <a:pPr algn="r">
              <a:defRPr sz="1425" b="0">
                <a:solidFill>
                  <a:srgbClr val="111111"/>
                </a:solidFill>
                <a:latin typeface="Tahoma"/>
                <a:ea typeface="Tahoma"/>
                <a:cs typeface="Tahoma"/>
              </a:defRPr>
            </a:pPr>
            <a:r>
              <a:rPr sz="1425" b="0">
                <a:solidFill>
                  <a:srgbClr val="111111"/>
                </a:solidFill>
                <a:latin typeface="Tahoma"/>
                <a:ea typeface="Tahoma"/>
                <a:cs typeface="Tahoma"/>
              </a:rPr>
              <a:t>‏• تحلیل خرابی و یادگیری مقیاس‌دادن</a:t>
            </a:r>
          </a:p>
          <a:p xmlns:a="http://schemas.openxmlformats.org/drawingml/2006/main">
            <a:pPr algn="r">
              <a:defRPr sz="1425" b="0">
                <a:solidFill>
                  <a:srgbClr val="111111"/>
                </a:solidFill>
                <a:latin typeface="Tahoma"/>
                <a:ea typeface="Tahoma"/>
                <a:cs typeface="Tahoma"/>
              </a:defRPr>
            </a:pPr>
            <a:r>
              <a:rPr sz="1425" b="0">
                <a:solidFill>
                  <a:srgbClr val="111111"/>
                </a:solidFill>
                <a:latin typeface="Tahoma"/>
                <a:ea typeface="Tahoma"/>
                <a:cs typeface="Tahoma"/>
              </a:rPr>
              <a:t>‏• دفترچه آزمایشگاه دیجیتال و عامل‌های علمی</a:t>
            </a:r>
          </a:p>
        </p:txBody>
      </p:sp>
      <p:sp>
        <p:nvSpPr>
          <p:cNvPr id="9" name="">
            <a:extLst xmlns:a="http://schemas.openxmlformats.org/drawingml/2006/main">
              <a:ext uri="{FF2B5EF4-FFF2-40B4-BE49-F238E27FC236}">
                <a16:creationId xmlns:a16="http://schemas.microsoft.com/office/drawing/2014/main" id="{27FFFD9B-362C-43EA-84F8-0EA3D738EFD4}"/>
              </a:ext>
            </a:extLst>
          </p:cNvPr>
          <p:cNvSpPr>
            <a:spLocks xmlns:a="http://schemas.openxmlformats.org/drawingml/2006/main" noGrp="1"/>
          </p:cNvSpPr>
          <p:nvPr/>
        </p:nvSpPr>
        <p:spPr>
          <a:xfrm xmlns:a="http://schemas.openxmlformats.org/drawingml/2006/main">
            <a:off x="5476875" y="45720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F39200"/>
                </a:solidFill>
                <a:latin typeface="Tahoma"/>
                <a:ea typeface="Tahoma"/>
                <a:cs typeface="Tahoma"/>
              </a:defRPr>
            </a:pPr>
            <a:r>
              <a:rPr sz="1200" b="1">
                <a:solidFill>
                  <a:srgbClr val="F39200"/>
                </a:solidFill>
                <a:latin typeface="Tahoma"/>
                <a:ea typeface="Tahoma"/>
                <a:cs typeface="Tahoma"/>
              </a:rPr>
              <a:t>‏گام اول: ثبت آزمایش‌های تاریخی، آزمون‌های آزمایشگاه، مشخصات مشتری و تلاش‌های ناموفق در یک گراف دانش.</a:t>
            </a:r>
          </a:p>
        </p:txBody>
      </p:sp>
      <p:sp>
        <p:nvSpPr>
          <p:cNvPr id="10" name="">
            <a:extLst xmlns:a="http://schemas.openxmlformats.org/drawingml/2006/main">
              <a:ext uri="{FF2B5EF4-FFF2-40B4-BE49-F238E27FC236}">
                <a16:creationId xmlns:a16="http://schemas.microsoft.com/office/drawing/2014/main" id="{5D57D613-0577-4409-AF9B-32466A793F76}"/>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11" name="">
            <a:extLst xmlns:a="http://schemas.openxmlformats.org/drawingml/2006/main">
              <a:ext uri="{FF2B5EF4-FFF2-40B4-BE49-F238E27FC236}">
                <a16:creationId xmlns:a16="http://schemas.microsoft.com/office/drawing/2014/main" id="{0DA2D8D2-5F7B-4E79-ADA6-4D1F69C4114E}"/>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latin typeface="Tahoma"/>
                <a:ea typeface="Tahoma"/>
                <a:cs typeface="Tahoma"/>
              </a:defRPr>
            </a:pPr>
            <a:r>
              <a:rPr sz="675" b="0">
                <a:solidFill>
                  <a:srgbClr val="777777"/>
                </a:solidFill>
                <a:latin typeface="Tahoma"/>
                <a:ea typeface="Tahoma"/>
                <a:cs typeface="Tahoma"/>
              </a:rPr>
              <a:t>‏منبع: Darmstaedter Entwicklung؛ Klevers Projekte</a:t>
            </a:r>
          </a:p>
        </p:txBody>
      </p:sp>
      <p:sp>
        <p:nvSpPr>
          <p:cNvPr id="12" name="">
            <a:extLst xmlns:a="http://schemas.openxmlformats.org/drawingml/2006/main">
              <a:ext uri="{FF2B5EF4-FFF2-40B4-BE49-F238E27FC236}">
                <a16:creationId xmlns:a16="http://schemas.microsoft.com/office/drawing/2014/main" id="{7A2BE8E2-6874-4DEB-B17B-413F4C2B06E0}"/>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09</a:t>
            </a:r>
          </a:p>
        </p:txBody>
      </p:sp>
    </p:spTree>
    <p:extLst>
      <p:ext uri="{BB962C8B-B14F-4D97-AF65-F5344CB8AC3E}">
        <p14:creationId xmlns:p14="http://schemas.microsoft.com/office/powerpoint/2010/main" val="7438878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4062F8-B110-4B6D-B7AF-404E148D681B}"/>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‏تولید</a:t>
            </a:r>
          </a:p>
        </p:txBody>
      </p:sp>
      <p:sp>
        <p:nvSpPr>
          <p:cNvPr id="2" name="">
            <a:extLst xmlns:a="http://schemas.openxmlformats.org/drawingml/2006/main">
              <a:ext uri="{FF2B5EF4-FFF2-40B4-BE49-F238E27FC236}">
                <a16:creationId xmlns:a16="http://schemas.microsoft.com/office/drawing/2014/main" id="{A91F127F-9D02-480E-BCEF-023796435388}"/>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‏AI در تولید باید مرحله‌به‌مرحله اعتماد بسازد</a:t>
            </a:r>
          </a:p>
        </p:txBody>
      </p:sp>
      <p:sp>
        <p:nvSpPr>
          <p:cNvPr id="3" name="">
            <a:extLst xmlns:a="http://schemas.openxmlformats.org/drawingml/2006/main">
              <a:ext uri="{FF2B5EF4-FFF2-40B4-BE49-F238E27FC236}">
                <a16:creationId xmlns:a16="http://schemas.microsoft.com/office/drawing/2014/main" id="{2B77BC75-9170-4AD2-940E-15CC873B871B}"/>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‏این توالی، عملیات را محافظت می‌کند و هم‌زمان اعتماد می‌سازد.</a:t>
            </a:r>
          </a:p>
        </p:txBody>
      </p:sp>
      <p:sp>
        <p:nvSpPr>
          <p:cNvPr id="4" name="">
            <a:extLst xmlns:a="http://schemas.openxmlformats.org/drawingml/2006/main">
              <a:ext uri="{FF2B5EF4-FFF2-40B4-BE49-F238E27FC236}">
                <a16:creationId xmlns:a16="http://schemas.microsoft.com/office/drawing/2014/main" id="{6C6DA500-629D-4970-A02D-15D6C814E0AD}"/>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40CC7AE1-98E0-43C2-B9CD-61393A168082}"/>
              </a:ext>
            </a:extLst>
          </p:cNvPr>
          <p:cNvSpPr>
            <a:spLocks xmlns:a="http://schemas.openxmlformats.org/drawingml/2006/main" noGrp="1"/>
          </p:cNvSpPr>
          <p:nvPr/>
        </p:nvSpPr>
        <p:spPr>
          <a:xfrm xmlns:a="http://schemas.openxmlformats.org/drawingml/2006/main">
            <a:off x="857250" y="2095500"/>
            <a:ext cx="1476375"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352B63B3-341B-482C-8F91-AA0E8187F290}"/>
              </a:ext>
            </a:extLst>
          </p:cNvPr>
          <p:cNvSpPr>
            <a:spLocks xmlns:a="http://schemas.openxmlformats.org/drawingml/2006/main" noGrp="1"/>
          </p:cNvSpPr>
          <p:nvPr/>
        </p:nvSpPr>
        <p:spPr>
          <a:xfrm xmlns:a="http://schemas.openxmlformats.org/drawingml/2006/main">
            <a:off x="952500" y="21717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‏مرحله</a:t>
            </a:r>
          </a:p>
        </p:txBody>
      </p:sp>
      <p:sp>
        <p:nvSpPr>
          <p:cNvPr id="7" name="">
            <a:extLst xmlns:a="http://schemas.openxmlformats.org/drawingml/2006/main">
              <a:ext uri="{FF2B5EF4-FFF2-40B4-BE49-F238E27FC236}">
                <a16:creationId xmlns:a16="http://schemas.microsoft.com/office/drawing/2014/main" id="{53C1F5B8-53CB-4D41-AA76-5530A073887F}"/>
              </a:ext>
            </a:extLst>
          </p:cNvPr>
          <p:cNvSpPr>
            <a:spLocks xmlns:a="http://schemas.openxmlformats.org/drawingml/2006/main" noGrp="1"/>
          </p:cNvSpPr>
          <p:nvPr/>
        </p:nvSpPr>
        <p:spPr>
          <a:xfrm xmlns:a="http://schemas.openxmlformats.org/drawingml/2006/main">
            <a:off x="2333625" y="2095500"/>
            <a:ext cx="5334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32E4910B-5EBD-4EA4-94CD-2F9845F02153}"/>
              </a:ext>
            </a:extLst>
          </p:cNvPr>
          <p:cNvSpPr>
            <a:spLocks xmlns:a="http://schemas.openxmlformats.org/drawingml/2006/main" noGrp="1"/>
          </p:cNvSpPr>
          <p:nvPr/>
        </p:nvSpPr>
        <p:spPr>
          <a:xfrm xmlns:a="http://schemas.openxmlformats.org/drawingml/2006/main">
            <a:off x="2428875" y="21717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‏کار AI</a:t>
            </a:r>
          </a:p>
        </p:txBody>
      </p:sp>
      <p:sp>
        <p:nvSpPr>
          <p:cNvPr id="9" name="">
            <a:extLst xmlns:a="http://schemas.openxmlformats.org/drawingml/2006/main">
              <a:ext uri="{FF2B5EF4-FFF2-40B4-BE49-F238E27FC236}">
                <a16:creationId xmlns:a16="http://schemas.microsoft.com/office/drawing/2014/main" id="{DE12CBD2-2A75-40EA-A2D2-DA65FFCF4EE3}"/>
              </a:ext>
            </a:extLst>
          </p:cNvPr>
          <p:cNvSpPr>
            <a:spLocks xmlns:a="http://schemas.openxmlformats.org/drawingml/2006/main" noGrp="1"/>
          </p:cNvSpPr>
          <p:nvPr/>
        </p:nvSpPr>
        <p:spPr>
          <a:xfrm xmlns:a="http://schemas.openxmlformats.org/drawingml/2006/main">
            <a:off x="7667625" y="2095500"/>
            <a:ext cx="123825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861DD829-AAD0-4AB1-A809-A2FC0C37AFA1}"/>
              </a:ext>
            </a:extLst>
          </p:cNvPr>
          <p:cNvSpPr>
            <a:spLocks xmlns:a="http://schemas.openxmlformats.org/drawingml/2006/main" noGrp="1"/>
          </p:cNvSpPr>
          <p:nvPr/>
        </p:nvSpPr>
        <p:spPr>
          <a:xfrm xmlns:a="http://schemas.openxmlformats.org/drawingml/2006/main">
            <a:off x="7762875" y="21717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‏ریسک</a:t>
            </a:r>
          </a:p>
        </p:txBody>
      </p:sp>
      <p:sp>
        <p:nvSpPr>
          <p:cNvPr id="11" name="">
            <a:extLst xmlns:a="http://schemas.openxmlformats.org/drawingml/2006/main">
              <a:ext uri="{FF2B5EF4-FFF2-40B4-BE49-F238E27FC236}">
                <a16:creationId xmlns:a16="http://schemas.microsoft.com/office/drawing/2014/main" id="{409E9F15-610D-4322-9EC6-229B43A47226}"/>
              </a:ext>
            </a:extLst>
          </p:cNvPr>
          <p:cNvSpPr>
            <a:spLocks xmlns:a="http://schemas.openxmlformats.org/drawingml/2006/main" noGrp="1"/>
          </p:cNvSpPr>
          <p:nvPr/>
        </p:nvSpPr>
        <p:spPr>
          <a:xfrm xmlns:a="http://schemas.openxmlformats.org/drawingml/2006/main">
            <a:off x="8905875" y="2095500"/>
            <a:ext cx="1524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40C6E9D0-E9CD-48DF-910D-E8C940514567}"/>
              </a:ext>
            </a:extLst>
          </p:cNvPr>
          <p:cNvSpPr>
            <a:spLocks xmlns:a="http://schemas.openxmlformats.org/drawingml/2006/main" noGrp="1"/>
          </p:cNvSpPr>
          <p:nvPr/>
        </p:nvSpPr>
        <p:spPr>
          <a:xfrm xmlns:a="http://schemas.openxmlformats.org/drawingml/2006/main">
            <a:off x="9001125" y="21717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‏زمان</a:t>
            </a:r>
          </a:p>
        </p:txBody>
      </p:sp>
      <p:sp>
        <p:nvSpPr>
          <p:cNvPr id="13" name="">
            <a:extLst xmlns:a="http://schemas.openxmlformats.org/drawingml/2006/main">
              <a:ext uri="{FF2B5EF4-FFF2-40B4-BE49-F238E27FC236}">
                <a16:creationId xmlns:a16="http://schemas.microsoft.com/office/drawing/2014/main" id="{3FA78546-0633-4FBD-A665-5F4872A451B1}"/>
              </a:ext>
            </a:extLst>
          </p:cNvPr>
          <p:cNvSpPr>
            <a:spLocks xmlns:a="http://schemas.openxmlformats.org/drawingml/2006/main" noGrp="1"/>
          </p:cNvSpPr>
          <p:nvPr/>
        </p:nvSpPr>
        <p:spPr>
          <a:xfrm xmlns:a="http://schemas.openxmlformats.org/drawingml/2006/main">
            <a:off x="857250" y="2628900"/>
            <a:ext cx="1476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F5C63145-239C-4557-8310-FE1D10D7CA68}"/>
              </a:ext>
            </a:extLst>
          </p:cNvPr>
          <p:cNvSpPr>
            <a:spLocks xmlns:a="http://schemas.openxmlformats.org/drawingml/2006/main" noGrp="1"/>
          </p:cNvSpPr>
          <p:nvPr/>
        </p:nvSpPr>
        <p:spPr>
          <a:xfrm xmlns:a="http://schemas.openxmlformats.org/drawingml/2006/main">
            <a:off x="952500" y="27051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‏مشاهده</a:t>
            </a:r>
          </a:p>
        </p:txBody>
      </p:sp>
      <p:sp>
        <p:nvSpPr>
          <p:cNvPr id="15" name="">
            <a:extLst xmlns:a="http://schemas.openxmlformats.org/drawingml/2006/main">
              <a:ext uri="{FF2B5EF4-FFF2-40B4-BE49-F238E27FC236}">
                <a16:creationId xmlns:a16="http://schemas.microsoft.com/office/drawing/2014/main" id="{05044E82-AAF3-4A24-BA4C-ADB6FAC66E3E}"/>
              </a:ext>
            </a:extLst>
          </p:cNvPr>
          <p:cNvSpPr>
            <a:spLocks xmlns:a="http://schemas.openxmlformats.org/drawingml/2006/main" noGrp="1"/>
          </p:cNvSpPr>
          <p:nvPr/>
        </p:nvSpPr>
        <p:spPr>
          <a:xfrm xmlns:a="http://schemas.openxmlformats.org/drawingml/2006/main">
            <a:off x="2333625" y="2628900"/>
            <a:ext cx="533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C204FB8D-735B-48C5-A043-0C74044E5681}"/>
              </a:ext>
            </a:extLst>
          </p:cNvPr>
          <p:cNvSpPr>
            <a:spLocks xmlns:a="http://schemas.openxmlformats.org/drawingml/2006/main" noGrp="1"/>
          </p:cNvSpPr>
          <p:nvPr/>
        </p:nvSpPr>
        <p:spPr>
          <a:xfrm xmlns:a="http://schemas.openxmlformats.org/drawingml/2006/main">
            <a:off x="2428875" y="27051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‏جمع‌آوری شواهد سفارش، فرایند، بازرسی، QC، انرژی و اپراتور</a:t>
            </a:r>
          </a:p>
        </p:txBody>
      </p:sp>
      <p:sp>
        <p:nvSpPr>
          <p:cNvPr id="17" name="">
            <a:extLst xmlns:a="http://schemas.openxmlformats.org/drawingml/2006/main">
              <a:ext uri="{FF2B5EF4-FFF2-40B4-BE49-F238E27FC236}">
                <a16:creationId xmlns:a16="http://schemas.microsoft.com/office/drawing/2014/main" id="{02D84D4B-37F5-4517-8F45-81FD08A16ECE}"/>
              </a:ext>
            </a:extLst>
          </p:cNvPr>
          <p:cNvSpPr>
            <a:spLocks xmlns:a="http://schemas.openxmlformats.org/drawingml/2006/main" noGrp="1"/>
          </p:cNvSpPr>
          <p:nvPr/>
        </p:nvSpPr>
        <p:spPr>
          <a:xfrm xmlns:a="http://schemas.openxmlformats.org/drawingml/2006/main">
            <a:off x="7667625" y="2628900"/>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3A77B6B7-80FB-47B4-8127-3760C1C8635C}"/>
              </a:ext>
            </a:extLst>
          </p:cNvPr>
          <p:cNvSpPr>
            <a:spLocks xmlns:a="http://schemas.openxmlformats.org/drawingml/2006/main" noGrp="1"/>
          </p:cNvSpPr>
          <p:nvPr/>
        </p:nvSpPr>
        <p:spPr>
          <a:xfrm xmlns:a="http://schemas.openxmlformats.org/drawingml/2006/main">
            <a:off x="7762875" y="27051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‏کم</a:t>
            </a:r>
          </a:p>
        </p:txBody>
      </p:sp>
      <p:sp>
        <p:nvSpPr>
          <p:cNvPr id="19" name="">
            <a:extLst xmlns:a="http://schemas.openxmlformats.org/drawingml/2006/main">
              <a:ext uri="{FF2B5EF4-FFF2-40B4-BE49-F238E27FC236}">
                <a16:creationId xmlns:a16="http://schemas.microsoft.com/office/drawing/2014/main" id="{41CCCC60-C854-4B14-AA12-E2012BA0589A}"/>
              </a:ext>
            </a:extLst>
          </p:cNvPr>
          <p:cNvSpPr>
            <a:spLocks xmlns:a="http://schemas.openxmlformats.org/drawingml/2006/main" noGrp="1"/>
          </p:cNvSpPr>
          <p:nvPr/>
        </p:nvSpPr>
        <p:spPr>
          <a:xfrm xmlns:a="http://schemas.openxmlformats.org/drawingml/2006/main">
            <a:off x="8905875" y="26289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5B53537B-C2F8-4A6A-B194-D1E2788C14C3}"/>
              </a:ext>
            </a:extLst>
          </p:cNvPr>
          <p:cNvSpPr>
            <a:spLocks xmlns:a="http://schemas.openxmlformats.org/drawingml/2006/main" noGrp="1"/>
          </p:cNvSpPr>
          <p:nvPr/>
        </p:nvSpPr>
        <p:spPr>
          <a:xfrm xmlns:a="http://schemas.openxmlformats.org/drawingml/2006/main">
            <a:off x="9001125" y="27051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‏اکنون</a:t>
            </a:r>
          </a:p>
        </p:txBody>
      </p:sp>
      <p:sp>
        <p:nvSpPr>
          <p:cNvPr id="21" name="">
            <a:extLst xmlns:a="http://schemas.openxmlformats.org/drawingml/2006/main">
              <a:ext uri="{FF2B5EF4-FFF2-40B4-BE49-F238E27FC236}">
                <a16:creationId xmlns:a16="http://schemas.microsoft.com/office/drawing/2014/main" id="{71DC9EC4-699D-4B21-878D-FD3E5AE057F9}"/>
              </a:ext>
            </a:extLst>
          </p:cNvPr>
          <p:cNvSpPr>
            <a:spLocks xmlns:a="http://schemas.openxmlformats.org/drawingml/2006/main" noGrp="1"/>
          </p:cNvSpPr>
          <p:nvPr/>
        </p:nvSpPr>
        <p:spPr>
          <a:xfrm xmlns:a="http://schemas.openxmlformats.org/drawingml/2006/main">
            <a:off x="857250" y="3162300"/>
            <a:ext cx="1476375"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38AC5E70-72F9-4F47-B519-89C51D8773EA}"/>
              </a:ext>
            </a:extLst>
          </p:cNvPr>
          <p:cNvSpPr>
            <a:spLocks xmlns:a="http://schemas.openxmlformats.org/drawingml/2006/main" noGrp="1"/>
          </p:cNvSpPr>
          <p:nvPr/>
        </p:nvSpPr>
        <p:spPr>
          <a:xfrm xmlns:a="http://schemas.openxmlformats.org/drawingml/2006/main">
            <a:off x="952500" y="32385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‏توضیح</a:t>
            </a:r>
          </a:p>
        </p:txBody>
      </p:sp>
      <p:sp>
        <p:nvSpPr>
          <p:cNvPr id="23" name="">
            <a:extLst xmlns:a="http://schemas.openxmlformats.org/drawingml/2006/main">
              <a:ext uri="{FF2B5EF4-FFF2-40B4-BE49-F238E27FC236}">
                <a16:creationId xmlns:a16="http://schemas.microsoft.com/office/drawing/2014/main" id="{7CC70B29-FD05-40A3-939A-3918EB862812}"/>
              </a:ext>
            </a:extLst>
          </p:cNvPr>
          <p:cNvSpPr>
            <a:spLocks xmlns:a="http://schemas.openxmlformats.org/drawingml/2006/main" noGrp="1"/>
          </p:cNvSpPr>
          <p:nvPr/>
        </p:nvSpPr>
        <p:spPr>
          <a:xfrm xmlns:a="http://schemas.openxmlformats.org/drawingml/2006/main">
            <a:off x="2333625" y="3162300"/>
            <a:ext cx="533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56ABAB7F-462B-445D-93FA-ED5D8AF78E0C}"/>
              </a:ext>
            </a:extLst>
          </p:cNvPr>
          <p:cNvSpPr>
            <a:spLocks xmlns:a="http://schemas.openxmlformats.org/drawingml/2006/main" noGrp="1"/>
          </p:cNvSpPr>
          <p:nvPr/>
        </p:nvSpPr>
        <p:spPr>
          <a:xfrm xmlns:a="http://schemas.openxmlformats.org/drawingml/2006/main">
            <a:off x="2428875" y="32385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‏نمایش محرک‌های عیب، رانش، ریشه‌های تکراری و گلوگاه‌ها</a:t>
            </a:r>
          </a:p>
        </p:txBody>
      </p:sp>
      <p:sp>
        <p:nvSpPr>
          <p:cNvPr id="25" name="">
            <a:extLst xmlns:a="http://schemas.openxmlformats.org/drawingml/2006/main">
              <a:ext uri="{FF2B5EF4-FFF2-40B4-BE49-F238E27FC236}">
                <a16:creationId xmlns:a16="http://schemas.microsoft.com/office/drawing/2014/main" id="{80A3A0B8-0C11-4250-B363-3C84E17866DB}"/>
              </a:ext>
            </a:extLst>
          </p:cNvPr>
          <p:cNvSpPr>
            <a:spLocks xmlns:a="http://schemas.openxmlformats.org/drawingml/2006/main" noGrp="1"/>
          </p:cNvSpPr>
          <p:nvPr/>
        </p:nvSpPr>
        <p:spPr>
          <a:xfrm xmlns:a="http://schemas.openxmlformats.org/drawingml/2006/main">
            <a:off x="7667625" y="3162300"/>
            <a:ext cx="123825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DB4A82FA-4A77-44AD-86FC-18B29CF10242}"/>
              </a:ext>
            </a:extLst>
          </p:cNvPr>
          <p:cNvSpPr>
            <a:spLocks xmlns:a="http://schemas.openxmlformats.org/drawingml/2006/main" noGrp="1"/>
          </p:cNvSpPr>
          <p:nvPr/>
        </p:nvSpPr>
        <p:spPr>
          <a:xfrm xmlns:a="http://schemas.openxmlformats.org/drawingml/2006/main">
            <a:off x="7762875" y="32385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‏کم</a:t>
            </a:r>
          </a:p>
        </p:txBody>
      </p:sp>
      <p:sp>
        <p:nvSpPr>
          <p:cNvPr id="27" name="">
            <a:extLst xmlns:a="http://schemas.openxmlformats.org/drawingml/2006/main">
              <a:ext uri="{FF2B5EF4-FFF2-40B4-BE49-F238E27FC236}">
                <a16:creationId xmlns:a16="http://schemas.microsoft.com/office/drawing/2014/main" id="{68A9C19B-F6B8-4FA3-A0B6-278AC7255082}"/>
              </a:ext>
            </a:extLst>
          </p:cNvPr>
          <p:cNvSpPr>
            <a:spLocks xmlns:a="http://schemas.openxmlformats.org/drawingml/2006/main" noGrp="1"/>
          </p:cNvSpPr>
          <p:nvPr/>
        </p:nvSpPr>
        <p:spPr>
          <a:xfrm xmlns:a="http://schemas.openxmlformats.org/drawingml/2006/main">
            <a:off x="8905875" y="3162300"/>
            <a:ext cx="152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1505C3F3-8E92-42F8-935F-7DC30EC50E3A}"/>
              </a:ext>
            </a:extLst>
          </p:cNvPr>
          <p:cNvSpPr>
            <a:spLocks xmlns:a="http://schemas.openxmlformats.org/drawingml/2006/main" noGrp="1"/>
          </p:cNvSpPr>
          <p:nvPr/>
        </p:nvSpPr>
        <p:spPr>
          <a:xfrm xmlns:a="http://schemas.openxmlformats.org/drawingml/2006/main">
            <a:off x="9001125" y="32385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‏پایلوت</a:t>
            </a:r>
          </a:p>
        </p:txBody>
      </p:sp>
      <p:sp>
        <p:nvSpPr>
          <p:cNvPr id="29" name="">
            <a:extLst xmlns:a="http://schemas.openxmlformats.org/drawingml/2006/main">
              <a:ext uri="{FF2B5EF4-FFF2-40B4-BE49-F238E27FC236}">
                <a16:creationId xmlns:a16="http://schemas.microsoft.com/office/drawing/2014/main" id="{FD455D7D-6DB2-4181-A852-561A7449A07B}"/>
              </a:ext>
            </a:extLst>
          </p:cNvPr>
          <p:cNvSpPr>
            <a:spLocks xmlns:a="http://schemas.openxmlformats.org/drawingml/2006/main" noGrp="1"/>
          </p:cNvSpPr>
          <p:nvPr/>
        </p:nvSpPr>
        <p:spPr>
          <a:xfrm xmlns:a="http://schemas.openxmlformats.org/drawingml/2006/main">
            <a:off x="857250" y="3695700"/>
            <a:ext cx="1476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C81A3B33-88D4-4052-B705-3E821EB791EA}"/>
              </a:ext>
            </a:extLst>
          </p:cNvPr>
          <p:cNvSpPr>
            <a:spLocks xmlns:a="http://schemas.openxmlformats.org/drawingml/2006/main" noGrp="1"/>
          </p:cNvSpPr>
          <p:nvPr/>
        </p:nvSpPr>
        <p:spPr>
          <a:xfrm xmlns:a="http://schemas.openxmlformats.org/drawingml/2006/main">
            <a:off x="952500" y="37719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‏پیش‌بینی</a:t>
            </a:r>
          </a:p>
        </p:txBody>
      </p:sp>
      <p:sp>
        <p:nvSpPr>
          <p:cNvPr id="31" name="">
            <a:extLst xmlns:a="http://schemas.openxmlformats.org/drawingml/2006/main">
              <a:ext uri="{FF2B5EF4-FFF2-40B4-BE49-F238E27FC236}">
                <a16:creationId xmlns:a16="http://schemas.microsoft.com/office/drawing/2014/main" id="{7186698E-8777-466D-B1A4-AD903A0F18C4}"/>
              </a:ext>
            </a:extLst>
          </p:cNvPr>
          <p:cNvSpPr>
            <a:spLocks xmlns:a="http://schemas.openxmlformats.org/drawingml/2006/main" noGrp="1"/>
          </p:cNvSpPr>
          <p:nvPr/>
        </p:nvSpPr>
        <p:spPr>
          <a:xfrm xmlns:a="http://schemas.openxmlformats.org/drawingml/2006/main">
            <a:off x="2333625" y="3695700"/>
            <a:ext cx="533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E3FBA826-59D7-4DDA-9392-3BCBD8AD6FCA}"/>
              </a:ext>
            </a:extLst>
          </p:cNvPr>
          <p:cNvSpPr>
            <a:spLocks xmlns:a="http://schemas.openxmlformats.org/drawingml/2006/main" noGrp="1"/>
          </p:cNvSpPr>
          <p:nvPr/>
        </p:nvSpPr>
        <p:spPr>
          <a:xfrm xmlns:a="http://schemas.openxmlformats.org/drawingml/2006/main">
            <a:off x="2428875" y="37719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‏پرچم‌گذاری ریسک کیفیت پیش از رهاسازی یا اجرای بعدی</a:t>
            </a:r>
          </a:p>
        </p:txBody>
      </p:sp>
      <p:sp>
        <p:nvSpPr>
          <p:cNvPr id="33" name="">
            <a:extLst xmlns:a="http://schemas.openxmlformats.org/drawingml/2006/main">
              <a:ext uri="{FF2B5EF4-FFF2-40B4-BE49-F238E27FC236}">
                <a16:creationId xmlns:a16="http://schemas.microsoft.com/office/drawing/2014/main" id="{13F27AC1-E2FF-4A1F-B24B-542FAF704A23}"/>
              </a:ext>
            </a:extLst>
          </p:cNvPr>
          <p:cNvSpPr>
            <a:spLocks xmlns:a="http://schemas.openxmlformats.org/drawingml/2006/main" noGrp="1"/>
          </p:cNvSpPr>
          <p:nvPr/>
        </p:nvSpPr>
        <p:spPr>
          <a:xfrm xmlns:a="http://schemas.openxmlformats.org/drawingml/2006/main">
            <a:off x="7667625" y="3695700"/>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EEA5AA09-6F84-4FB3-B907-ADED166D279C}"/>
              </a:ext>
            </a:extLst>
          </p:cNvPr>
          <p:cNvSpPr>
            <a:spLocks xmlns:a="http://schemas.openxmlformats.org/drawingml/2006/main" noGrp="1"/>
          </p:cNvSpPr>
          <p:nvPr/>
        </p:nvSpPr>
        <p:spPr>
          <a:xfrm xmlns:a="http://schemas.openxmlformats.org/drawingml/2006/main">
            <a:off x="7762875" y="37719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‏متوسط</a:t>
            </a:r>
          </a:p>
        </p:txBody>
      </p:sp>
      <p:sp>
        <p:nvSpPr>
          <p:cNvPr id="35" name="">
            <a:extLst xmlns:a="http://schemas.openxmlformats.org/drawingml/2006/main">
              <a:ext uri="{FF2B5EF4-FFF2-40B4-BE49-F238E27FC236}">
                <a16:creationId xmlns:a16="http://schemas.microsoft.com/office/drawing/2014/main" id="{4684C03C-5BFD-4F5A-BE59-4796243947A2}"/>
              </a:ext>
            </a:extLst>
          </p:cNvPr>
          <p:cNvSpPr>
            <a:spLocks xmlns:a="http://schemas.openxmlformats.org/drawingml/2006/main" noGrp="1"/>
          </p:cNvSpPr>
          <p:nvPr/>
        </p:nvSpPr>
        <p:spPr>
          <a:xfrm xmlns:a="http://schemas.openxmlformats.org/drawingml/2006/main">
            <a:off x="8905875" y="36957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4909E651-4D6E-475E-A8F4-F1ED08725CDA}"/>
              </a:ext>
            </a:extLst>
          </p:cNvPr>
          <p:cNvSpPr>
            <a:spLocks xmlns:a="http://schemas.openxmlformats.org/drawingml/2006/main" noGrp="1"/>
          </p:cNvSpPr>
          <p:nvPr/>
        </p:nvSpPr>
        <p:spPr>
          <a:xfrm xmlns:a="http://schemas.openxmlformats.org/drawingml/2006/main">
            <a:off x="9001125" y="37719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‏۶-۱۲ ماه</a:t>
            </a:r>
          </a:p>
        </p:txBody>
      </p:sp>
      <p:sp>
        <p:nvSpPr>
          <p:cNvPr id="37" name="">
            <a:extLst xmlns:a="http://schemas.openxmlformats.org/drawingml/2006/main">
              <a:ext uri="{FF2B5EF4-FFF2-40B4-BE49-F238E27FC236}">
                <a16:creationId xmlns:a16="http://schemas.microsoft.com/office/drawing/2014/main" id="{F9D0244A-ECDA-420D-AE15-8080A93A3C79}"/>
              </a:ext>
            </a:extLst>
          </p:cNvPr>
          <p:cNvSpPr>
            <a:spLocks xmlns:a="http://schemas.openxmlformats.org/drawingml/2006/main" noGrp="1"/>
          </p:cNvSpPr>
          <p:nvPr/>
        </p:nvSpPr>
        <p:spPr>
          <a:xfrm xmlns:a="http://schemas.openxmlformats.org/drawingml/2006/main">
            <a:off x="857250" y="4229100"/>
            <a:ext cx="1476375"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910100AB-0482-4E88-83B9-A7A0A8C8D884}"/>
              </a:ext>
            </a:extLst>
          </p:cNvPr>
          <p:cNvSpPr>
            <a:spLocks xmlns:a="http://schemas.openxmlformats.org/drawingml/2006/main" noGrp="1"/>
          </p:cNvSpPr>
          <p:nvPr/>
        </p:nvSpPr>
        <p:spPr>
          <a:xfrm xmlns:a="http://schemas.openxmlformats.org/drawingml/2006/main">
            <a:off x="952500" y="43053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‏پیشنهاد</a:t>
            </a:r>
          </a:p>
        </p:txBody>
      </p:sp>
      <p:sp>
        <p:nvSpPr>
          <p:cNvPr id="39" name="">
            <a:extLst xmlns:a="http://schemas.openxmlformats.org/drawingml/2006/main">
              <a:ext uri="{FF2B5EF4-FFF2-40B4-BE49-F238E27FC236}">
                <a16:creationId xmlns:a16="http://schemas.microsoft.com/office/drawing/2014/main" id="{0A160647-B1C8-49FE-89BE-BDDACF21CD2F}"/>
              </a:ext>
            </a:extLst>
          </p:cNvPr>
          <p:cNvSpPr>
            <a:spLocks xmlns:a="http://schemas.openxmlformats.org/drawingml/2006/main" noGrp="1"/>
          </p:cNvSpPr>
          <p:nvPr/>
        </p:nvSpPr>
        <p:spPr>
          <a:xfrm xmlns:a="http://schemas.openxmlformats.org/drawingml/2006/main">
            <a:off x="2333625" y="4229100"/>
            <a:ext cx="533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417F2B95-AB83-4A02-B806-17F8B20FEF24}"/>
              </a:ext>
            </a:extLst>
          </p:cNvPr>
          <p:cNvSpPr>
            <a:spLocks xmlns:a="http://schemas.openxmlformats.org/drawingml/2006/main" noGrp="1"/>
          </p:cNvSpPr>
          <p:nvPr/>
        </p:nvSpPr>
        <p:spPr>
          <a:xfrm xmlns:a="http://schemas.openxmlformats.org/drawingml/2006/main">
            <a:off x="2428875" y="43053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‏پیشنهاد پنجره فرایند یا تغییر برنامه با تایید انسان</a:t>
            </a:r>
          </a:p>
        </p:txBody>
      </p:sp>
      <p:sp>
        <p:nvSpPr>
          <p:cNvPr id="41" name="">
            <a:extLst xmlns:a="http://schemas.openxmlformats.org/drawingml/2006/main">
              <a:ext uri="{FF2B5EF4-FFF2-40B4-BE49-F238E27FC236}">
                <a16:creationId xmlns:a16="http://schemas.microsoft.com/office/drawing/2014/main" id="{2842ADD6-71DC-445F-A3CC-F12D6CC33FAB}"/>
              </a:ext>
            </a:extLst>
          </p:cNvPr>
          <p:cNvSpPr>
            <a:spLocks xmlns:a="http://schemas.openxmlformats.org/drawingml/2006/main" noGrp="1"/>
          </p:cNvSpPr>
          <p:nvPr/>
        </p:nvSpPr>
        <p:spPr>
          <a:xfrm xmlns:a="http://schemas.openxmlformats.org/drawingml/2006/main">
            <a:off x="7667625" y="4229100"/>
            <a:ext cx="123825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D1F0C62C-0DEF-409A-9A94-FB7E241AA8B6}"/>
              </a:ext>
            </a:extLst>
          </p:cNvPr>
          <p:cNvSpPr>
            <a:spLocks xmlns:a="http://schemas.openxmlformats.org/drawingml/2006/main" noGrp="1"/>
          </p:cNvSpPr>
          <p:nvPr/>
        </p:nvSpPr>
        <p:spPr>
          <a:xfrm xmlns:a="http://schemas.openxmlformats.org/drawingml/2006/main">
            <a:off x="7762875" y="43053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‏متوسط</a:t>
            </a:r>
          </a:p>
        </p:txBody>
      </p:sp>
      <p:sp>
        <p:nvSpPr>
          <p:cNvPr id="43" name="">
            <a:extLst xmlns:a="http://schemas.openxmlformats.org/drawingml/2006/main">
              <a:ext uri="{FF2B5EF4-FFF2-40B4-BE49-F238E27FC236}">
                <a16:creationId xmlns:a16="http://schemas.microsoft.com/office/drawing/2014/main" id="{29CA2A3B-64E7-4D12-B933-F07A08720C08}"/>
              </a:ext>
            </a:extLst>
          </p:cNvPr>
          <p:cNvSpPr>
            <a:spLocks xmlns:a="http://schemas.openxmlformats.org/drawingml/2006/main" noGrp="1"/>
          </p:cNvSpPr>
          <p:nvPr/>
        </p:nvSpPr>
        <p:spPr>
          <a:xfrm xmlns:a="http://schemas.openxmlformats.org/drawingml/2006/main">
            <a:off x="8905875" y="4229100"/>
            <a:ext cx="1524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3AB8AFE2-45DF-42A3-950F-2B33D65EA7AD}"/>
              </a:ext>
            </a:extLst>
          </p:cNvPr>
          <p:cNvSpPr>
            <a:spLocks xmlns:a="http://schemas.openxmlformats.org/drawingml/2006/main" noGrp="1"/>
          </p:cNvSpPr>
          <p:nvPr/>
        </p:nvSpPr>
        <p:spPr>
          <a:xfrm xmlns:a="http://schemas.openxmlformats.org/drawingml/2006/main">
            <a:off x="9001125" y="43053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‏۱-۲ سال</a:t>
            </a:r>
          </a:p>
        </p:txBody>
      </p:sp>
      <p:sp>
        <p:nvSpPr>
          <p:cNvPr id="45" name="">
            <a:extLst xmlns:a="http://schemas.openxmlformats.org/drawingml/2006/main">
              <a:ext uri="{FF2B5EF4-FFF2-40B4-BE49-F238E27FC236}">
                <a16:creationId xmlns:a16="http://schemas.microsoft.com/office/drawing/2014/main" id="{FBD7DCFB-C126-412A-B1AE-4BEC14BF1312}"/>
              </a:ext>
            </a:extLst>
          </p:cNvPr>
          <p:cNvSpPr>
            <a:spLocks xmlns:a="http://schemas.openxmlformats.org/drawingml/2006/main" noGrp="1"/>
          </p:cNvSpPr>
          <p:nvPr/>
        </p:nvSpPr>
        <p:spPr>
          <a:xfrm xmlns:a="http://schemas.openxmlformats.org/drawingml/2006/main">
            <a:off x="857250" y="4762500"/>
            <a:ext cx="1476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16790D42-EB60-43FA-8E88-DA0978EF01EE}"/>
              </a:ext>
            </a:extLst>
          </p:cNvPr>
          <p:cNvSpPr>
            <a:spLocks xmlns:a="http://schemas.openxmlformats.org/drawingml/2006/main" noGrp="1"/>
          </p:cNvSpPr>
          <p:nvPr/>
        </p:nvSpPr>
        <p:spPr>
          <a:xfrm xmlns:a="http://schemas.openxmlformats.org/drawingml/2006/main">
            <a:off x="952500" y="4838700"/>
            <a:ext cx="128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‏کنترل</a:t>
            </a:r>
          </a:p>
        </p:txBody>
      </p:sp>
      <p:sp>
        <p:nvSpPr>
          <p:cNvPr id="47" name="">
            <a:extLst xmlns:a="http://schemas.openxmlformats.org/drawingml/2006/main">
              <a:ext uri="{FF2B5EF4-FFF2-40B4-BE49-F238E27FC236}">
                <a16:creationId xmlns:a16="http://schemas.microsoft.com/office/drawing/2014/main" id="{A57BF5C2-879D-45E8-B8EB-0AC5CCFB7132}"/>
              </a:ext>
            </a:extLst>
          </p:cNvPr>
          <p:cNvSpPr>
            <a:spLocks xmlns:a="http://schemas.openxmlformats.org/drawingml/2006/main" noGrp="1"/>
          </p:cNvSpPr>
          <p:nvPr/>
        </p:nvSpPr>
        <p:spPr>
          <a:xfrm xmlns:a="http://schemas.openxmlformats.org/drawingml/2006/main">
            <a:off x="2333625" y="4762500"/>
            <a:ext cx="533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E5B08860-9337-41B8-B9F7-F5C3316B8548}"/>
              </a:ext>
            </a:extLst>
          </p:cNvPr>
          <p:cNvSpPr>
            <a:spLocks xmlns:a="http://schemas.openxmlformats.org/drawingml/2006/main" noGrp="1"/>
          </p:cNvSpPr>
          <p:nvPr/>
        </p:nvSpPr>
        <p:spPr>
          <a:xfrm xmlns:a="http://schemas.openxmlformats.org/drawingml/2006/main">
            <a:off x="2428875" y="48387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‏تنظیم ماشین در حلقه بسته</a:t>
            </a:r>
          </a:p>
        </p:txBody>
      </p:sp>
      <p:sp>
        <p:nvSpPr>
          <p:cNvPr id="49" name="">
            <a:extLst xmlns:a="http://schemas.openxmlformats.org/drawingml/2006/main">
              <a:ext uri="{FF2B5EF4-FFF2-40B4-BE49-F238E27FC236}">
                <a16:creationId xmlns:a16="http://schemas.microsoft.com/office/drawing/2014/main" id="{35E0CDF1-1086-48AD-870C-CCC5F1BEB376}"/>
              </a:ext>
            </a:extLst>
          </p:cNvPr>
          <p:cNvSpPr>
            <a:spLocks xmlns:a="http://schemas.openxmlformats.org/drawingml/2006/main" noGrp="1"/>
          </p:cNvSpPr>
          <p:nvPr/>
        </p:nvSpPr>
        <p:spPr>
          <a:xfrm xmlns:a="http://schemas.openxmlformats.org/drawingml/2006/main">
            <a:off x="7667625" y="4762500"/>
            <a:ext cx="1238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0" name="">
            <a:extLst xmlns:a="http://schemas.openxmlformats.org/drawingml/2006/main">
              <a:ext uri="{FF2B5EF4-FFF2-40B4-BE49-F238E27FC236}">
                <a16:creationId xmlns:a16="http://schemas.microsoft.com/office/drawing/2014/main" id="{27538343-A4BE-49E9-94DD-EF79A8C5E183}"/>
              </a:ext>
            </a:extLst>
          </p:cNvPr>
          <p:cNvSpPr>
            <a:spLocks xmlns:a="http://schemas.openxmlformats.org/drawingml/2006/main" noGrp="1"/>
          </p:cNvSpPr>
          <p:nvPr/>
        </p:nvSpPr>
        <p:spPr>
          <a:xfrm xmlns:a="http://schemas.openxmlformats.org/drawingml/2006/main">
            <a:off x="7762875" y="48387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‏بالا</a:t>
            </a:r>
          </a:p>
        </p:txBody>
      </p:sp>
      <p:sp>
        <p:nvSpPr>
          <p:cNvPr id="51" name="">
            <a:extLst xmlns:a="http://schemas.openxmlformats.org/drawingml/2006/main">
              <a:ext uri="{FF2B5EF4-FFF2-40B4-BE49-F238E27FC236}">
                <a16:creationId xmlns:a16="http://schemas.microsoft.com/office/drawing/2014/main" id="{61864E5D-DBC6-49E8-99CD-C53F6A10C7EE}"/>
              </a:ext>
            </a:extLst>
          </p:cNvPr>
          <p:cNvSpPr>
            <a:spLocks xmlns:a="http://schemas.openxmlformats.org/drawingml/2006/main" noGrp="1"/>
          </p:cNvSpPr>
          <p:nvPr/>
        </p:nvSpPr>
        <p:spPr>
          <a:xfrm xmlns:a="http://schemas.openxmlformats.org/drawingml/2006/main">
            <a:off x="8905875" y="47625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2" name="">
            <a:extLst xmlns:a="http://schemas.openxmlformats.org/drawingml/2006/main">
              <a:ext uri="{FF2B5EF4-FFF2-40B4-BE49-F238E27FC236}">
                <a16:creationId xmlns:a16="http://schemas.microsoft.com/office/drawing/2014/main" id="{20E80389-EF65-4418-BE24-6F73C799EDDB}"/>
              </a:ext>
            </a:extLst>
          </p:cNvPr>
          <p:cNvSpPr>
            <a:spLocks xmlns:a="http://schemas.openxmlformats.org/drawingml/2006/main" noGrp="1"/>
          </p:cNvSpPr>
          <p:nvPr/>
        </p:nvSpPr>
        <p:spPr>
          <a:xfrm xmlns:a="http://schemas.openxmlformats.org/drawingml/2006/main">
            <a:off x="9001125" y="483870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‏فقط پس از اثبات</a:t>
            </a:r>
          </a:p>
        </p:txBody>
      </p:sp>
      <p:sp>
        <p:nvSpPr>
          <p:cNvPr id="53" name="">
            <a:extLst xmlns:a="http://schemas.openxmlformats.org/drawingml/2006/main">
              <a:ext uri="{FF2B5EF4-FFF2-40B4-BE49-F238E27FC236}">
                <a16:creationId xmlns:a16="http://schemas.microsoft.com/office/drawing/2014/main" id="{4E2C34A4-D024-4E2A-854A-F83EF3ABDBB1}"/>
              </a:ext>
            </a:extLst>
          </p:cNvPr>
          <p:cNvSpPr>
            <a:spLocks xmlns:a="http://schemas.openxmlformats.org/drawingml/2006/main" noGrp="1"/>
          </p:cNvSpPr>
          <p:nvPr/>
        </p:nvSpPr>
        <p:spPr>
          <a:xfrm xmlns:a="http://schemas.openxmlformats.org/drawingml/2006/main">
            <a:off x="857250" y="2095500"/>
            <a:ext cx="9572625" cy="32004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54" name="">
            <a:extLst xmlns:a="http://schemas.openxmlformats.org/drawingml/2006/main">
              <a:ext uri="{FF2B5EF4-FFF2-40B4-BE49-F238E27FC236}">
                <a16:creationId xmlns:a16="http://schemas.microsoft.com/office/drawing/2014/main" id="{62D3C299-D53B-49BA-98C3-3D9F155D7340}"/>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55" name="">
            <a:extLst xmlns:a="http://schemas.openxmlformats.org/drawingml/2006/main">
              <a:ext uri="{FF2B5EF4-FFF2-40B4-BE49-F238E27FC236}">
                <a16:creationId xmlns:a16="http://schemas.microsoft.com/office/drawing/2014/main" id="{F63AEB27-9299-4880-80A9-E1D4B33D039C}"/>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10</a:t>
            </a:r>
          </a:p>
        </p:txBody>
      </p:sp>
    </p:spTree>
    <p:extLst>
      <p:ext uri="{BB962C8B-B14F-4D97-AF65-F5344CB8AC3E}">
        <p14:creationId xmlns:p14="http://schemas.microsoft.com/office/powerpoint/2010/main" val="3550024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F5F723-14DC-44E7-AAB7-F178F85AB58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‏کیفیت</a:t>
            </a:r>
          </a:p>
        </p:txBody>
      </p:sp>
      <p:sp>
        <p:nvSpPr>
          <p:cNvPr id="2" name="">
            <a:extLst xmlns:a="http://schemas.openxmlformats.org/drawingml/2006/main">
              <a:ext uri="{FF2B5EF4-FFF2-40B4-BE49-F238E27FC236}">
                <a16:creationId xmlns:a16="http://schemas.microsoft.com/office/drawing/2014/main" id="{4E691B20-09D4-4C10-89A7-C45D43BCCD8E}"/>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‏کیفیت از بازرسی به پیشگیری تکامل می‌یابد</a:t>
            </a:r>
          </a:p>
        </p:txBody>
      </p:sp>
      <p:sp>
        <p:nvSpPr>
          <p:cNvPr id="3" name="">
            <a:extLst xmlns:a="http://schemas.openxmlformats.org/drawingml/2006/main">
              <a:ext uri="{FF2B5EF4-FFF2-40B4-BE49-F238E27FC236}">
                <a16:creationId xmlns:a16="http://schemas.microsoft.com/office/drawing/2014/main" id="{2BBADBAC-88B5-4161-A926-2318715F6F23}"/>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‏شرکت همین امروز شواهد تولید می‌کند. AI باید این شواهد را به علت و اقدام وصل کند.</a:t>
            </a:r>
          </a:p>
        </p:txBody>
      </p:sp>
      <p:sp>
        <p:nvSpPr>
          <p:cNvPr id="4" name="">
            <a:extLst xmlns:a="http://schemas.openxmlformats.org/drawingml/2006/main">
              <a:ext uri="{FF2B5EF4-FFF2-40B4-BE49-F238E27FC236}">
                <a16:creationId xmlns:a16="http://schemas.microsoft.com/office/drawing/2014/main" id="{06337D33-0899-4803-8B3B-503FDEBD3406}"/>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96B59121-18C3-4B97-A898-A1FE92ACBFAF}"/>
              </a:ext>
            </a:extLst>
          </p:cNvPr>
          <p:cNvSpPr>
            <a:spLocks xmlns:a="http://schemas.openxmlformats.org/drawingml/2006/main" noGrp="1"/>
          </p:cNvSpPr>
          <p:nvPr/>
        </p:nvSpPr>
        <p:spPr>
          <a:xfrm xmlns:a="http://schemas.openxmlformats.org/drawingml/2006/main">
            <a:off x="1000125" y="2190750"/>
            <a:ext cx="2238375" cy="2190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FDF45171-7E06-4460-9826-60FF79A16912}"/>
              </a:ext>
            </a:extLst>
          </p:cNvPr>
          <p:cNvSpPr>
            <a:spLocks xmlns:a="http://schemas.openxmlformats.org/drawingml/2006/main" noGrp="1"/>
          </p:cNvSpPr>
          <p:nvPr/>
        </p:nvSpPr>
        <p:spPr>
          <a:xfrm xmlns:a="http://schemas.openxmlformats.org/drawingml/2006/main">
            <a:off x="120967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800" b="1">
                <a:solidFill>
                  <a:srgbClr val="111111"/>
                </a:solidFill>
                <a:latin typeface="Tahoma"/>
                <a:ea typeface="Tahoma"/>
                <a:cs typeface="Tahoma"/>
              </a:defRPr>
            </a:pPr>
            <a:r>
              <a:rPr sz="1800" b="1">
                <a:solidFill>
                  <a:srgbClr val="111111"/>
                </a:solidFill>
                <a:latin typeface="Tahoma"/>
                <a:ea typeface="Tahoma"/>
                <a:cs typeface="Tahoma"/>
              </a:rPr>
              <a:t>‏بازرسی</a:t>
            </a:r>
          </a:p>
        </p:txBody>
      </p:sp>
      <p:sp>
        <p:nvSpPr>
          <p:cNvPr id="7" name="">
            <a:extLst xmlns:a="http://schemas.openxmlformats.org/drawingml/2006/main">
              <a:ext uri="{FF2B5EF4-FFF2-40B4-BE49-F238E27FC236}">
                <a16:creationId xmlns:a16="http://schemas.microsoft.com/office/drawing/2014/main" id="{6FFAEC85-BD93-488C-A581-23B8AAAFE27D}"/>
              </a:ext>
            </a:extLst>
          </p:cNvPr>
          <p:cNvSpPr>
            <a:spLocks xmlns:a="http://schemas.openxmlformats.org/drawingml/2006/main" noGrp="1"/>
          </p:cNvSpPr>
          <p:nvPr/>
        </p:nvSpPr>
        <p:spPr>
          <a:xfrm xmlns:a="http://schemas.openxmlformats.org/drawingml/2006/main">
            <a:off x="120967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555555"/>
                </a:solidFill>
                <a:latin typeface="Tahoma"/>
                <a:ea typeface="Tahoma"/>
                <a:cs typeface="Tahoma"/>
              </a:defRPr>
            </a:pPr>
            <a:r>
              <a:rPr sz="1350" b="0">
                <a:solidFill>
                  <a:srgbClr val="555555"/>
                </a:solidFill>
                <a:latin typeface="Tahoma"/>
                <a:ea typeface="Tahoma"/>
                <a:cs typeface="Tahoma"/>
              </a:rPr>
              <a:t>‏چه عیبی رخ داد؟</a:t>
            </a:r>
          </a:p>
        </p:txBody>
      </p:sp>
      <p:sp>
        <p:nvSpPr>
          <p:cNvPr id="8" name="">
            <a:extLst xmlns:a="http://schemas.openxmlformats.org/drawingml/2006/main">
              <a:ext uri="{FF2B5EF4-FFF2-40B4-BE49-F238E27FC236}">
                <a16:creationId xmlns:a16="http://schemas.microsoft.com/office/drawing/2014/main" id="{0B2F1E4C-6CF7-4A66-B579-EDAD6448A62A}"/>
              </a:ext>
            </a:extLst>
          </p:cNvPr>
          <p:cNvSpPr>
            <a:spLocks xmlns:a="http://schemas.openxmlformats.org/drawingml/2006/main" noGrp="1"/>
          </p:cNvSpPr>
          <p:nvPr/>
        </p:nvSpPr>
        <p:spPr>
          <a:xfrm xmlns:a="http://schemas.openxmlformats.org/drawingml/2006/main">
            <a:off x="3333750" y="30861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CFCFCF"/>
                </a:solidFill>
                <a:latin typeface="Tahoma"/>
                <a:ea typeface="Tahoma"/>
                <a:cs typeface="Tahoma"/>
              </a:defRPr>
            </a:pPr>
            <a:r>
              <a:rPr sz="2550" b="1">
                <a:solidFill>
                  <a:srgbClr val="CFCFCF"/>
                </a:solidFill>
                <a:latin typeface="Tahoma"/>
                <a:ea typeface="Tahoma"/>
                <a:cs typeface="Tahoma"/>
              </a:rPr>
              <a:t>&gt;</a:t>
            </a:r>
          </a:p>
        </p:txBody>
      </p:sp>
      <p:sp>
        <p:nvSpPr>
          <p:cNvPr id="9" name="">
            <a:extLst xmlns:a="http://schemas.openxmlformats.org/drawingml/2006/main">
              <a:ext uri="{FF2B5EF4-FFF2-40B4-BE49-F238E27FC236}">
                <a16:creationId xmlns:a16="http://schemas.microsoft.com/office/drawing/2014/main" id="{A83BF591-F365-4FA9-AC37-E5F78DC20F81}"/>
              </a:ext>
            </a:extLst>
          </p:cNvPr>
          <p:cNvSpPr>
            <a:spLocks xmlns:a="http://schemas.openxmlformats.org/drawingml/2006/main" noGrp="1"/>
          </p:cNvSpPr>
          <p:nvPr/>
        </p:nvSpPr>
        <p:spPr>
          <a:xfrm xmlns:a="http://schemas.openxmlformats.org/drawingml/2006/main">
            <a:off x="3571875" y="2190750"/>
            <a:ext cx="2238375" cy="2190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1C663431-B705-43DE-9491-B6CF23CE8E92}"/>
              </a:ext>
            </a:extLst>
          </p:cNvPr>
          <p:cNvSpPr>
            <a:spLocks xmlns:a="http://schemas.openxmlformats.org/drawingml/2006/main" noGrp="1"/>
          </p:cNvSpPr>
          <p:nvPr/>
        </p:nvSpPr>
        <p:spPr>
          <a:xfrm xmlns:a="http://schemas.openxmlformats.org/drawingml/2006/main">
            <a:off x="378142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800" b="1">
                <a:solidFill>
                  <a:srgbClr val="111111"/>
                </a:solidFill>
                <a:latin typeface="Tahoma"/>
                <a:ea typeface="Tahoma"/>
                <a:cs typeface="Tahoma"/>
              </a:defRPr>
            </a:pPr>
            <a:r>
              <a:rPr sz="1800" b="1">
                <a:solidFill>
                  <a:srgbClr val="111111"/>
                </a:solidFill>
                <a:latin typeface="Tahoma"/>
                <a:ea typeface="Tahoma"/>
                <a:cs typeface="Tahoma"/>
              </a:rPr>
              <a:t>‏رهگیری</a:t>
            </a:r>
          </a:p>
        </p:txBody>
      </p:sp>
      <p:sp>
        <p:nvSpPr>
          <p:cNvPr id="11" name="">
            <a:extLst xmlns:a="http://schemas.openxmlformats.org/drawingml/2006/main">
              <a:ext uri="{FF2B5EF4-FFF2-40B4-BE49-F238E27FC236}">
                <a16:creationId xmlns:a16="http://schemas.microsoft.com/office/drawing/2014/main" id="{E57B74EC-648A-43A2-B16E-6070190B8099}"/>
              </a:ext>
            </a:extLst>
          </p:cNvPr>
          <p:cNvSpPr>
            <a:spLocks xmlns:a="http://schemas.openxmlformats.org/drawingml/2006/main" noGrp="1"/>
          </p:cNvSpPr>
          <p:nvPr/>
        </p:nvSpPr>
        <p:spPr>
          <a:xfrm xmlns:a="http://schemas.openxmlformats.org/drawingml/2006/main">
            <a:off x="378142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555555"/>
                </a:solidFill>
                <a:latin typeface="Tahoma"/>
                <a:ea typeface="Tahoma"/>
                <a:cs typeface="Tahoma"/>
              </a:defRPr>
            </a:pPr>
            <a:r>
              <a:rPr sz="1350" b="0">
                <a:solidFill>
                  <a:srgbClr val="555555"/>
                </a:solidFill>
                <a:latin typeface="Tahoma"/>
                <a:ea typeface="Tahoma"/>
                <a:cs typeface="Tahoma"/>
              </a:rPr>
              <a:t>‏کدام رول، سفارش، دستور، خط و بچ تامین‌کننده؟</a:t>
            </a:r>
          </a:p>
        </p:txBody>
      </p:sp>
      <p:sp>
        <p:nvSpPr>
          <p:cNvPr id="12" name="">
            <a:extLst xmlns:a="http://schemas.openxmlformats.org/drawingml/2006/main">
              <a:ext uri="{FF2B5EF4-FFF2-40B4-BE49-F238E27FC236}">
                <a16:creationId xmlns:a16="http://schemas.microsoft.com/office/drawing/2014/main" id="{CA9B8A59-9E36-4153-A44A-E0987932E7E4}"/>
              </a:ext>
            </a:extLst>
          </p:cNvPr>
          <p:cNvSpPr>
            <a:spLocks xmlns:a="http://schemas.openxmlformats.org/drawingml/2006/main" noGrp="1"/>
          </p:cNvSpPr>
          <p:nvPr/>
        </p:nvSpPr>
        <p:spPr>
          <a:xfrm xmlns:a="http://schemas.openxmlformats.org/drawingml/2006/main">
            <a:off x="5905500" y="30861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CFCFCF"/>
                </a:solidFill>
                <a:latin typeface="Tahoma"/>
                <a:ea typeface="Tahoma"/>
                <a:cs typeface="Tahoma"/>
              </a:defRPr>
            </a:pPr>
            <a:r>
              <a:rPr sz="2550" b="1">
                <a:solidFill>
                  <a:srgbClr val="CFCFCF"/>
                </a:solidFill>
                <a:latin typeface="Tahoma"/>
                <a:ea typeface="Tahoma"/>
                <a:cs typeface="Tahoma"/>
              </a:rPr>
              <a:t>&gt;</a:t>
            </a:r>
          </a:p>
        </p:txBody>
      </p:sp>
      <p:sp>
        <p:nvSpPr>
          <p:cNvPr id="13" name="">
            <a:extLst xmlns:a="http://schemas.openxmlformats.org/drawingml/2006/main">
              <a:ext uri="{FF2B5EF4-FFF2-40B4-BE49-F238E27FC236}">
                <a16:creationId xmlns:a16="http://schemas.microsoft.com/office/drawing/2014/main" id="{48EB8E3C-7091-4149-9E38-34479A6CC4F3}"/>
              </a:ext>
            </a:extLst>
          </p:cNvPr>
          <p:cNvSpPr>
            <a:spLocks xmlns:a="http://schemas.openxmlformats.org/drawingml/2006/main" noGrp="1"/>
          </p:cNvSpPr>
          <p:nvPr/>
        </p:nvSpPr>
        <p:spPr>
          <a:xfrm xmlns:a="http://schemas.openxmlformats.org/drawingml/2006/main">
            <a:off x="6143625" y="2190750"/>
            <a:ext cx="2238375" cy="21907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49DEDE26-5E95-4CCC-A1E1-5A58CCCEB6BC}"/>
              </a:ext>
            </a:extLst>
          </p:cNvPr>
          <p:cNvSpPr>
            <a:spLocks xmlns:a="http://schemas.openxmlformats.org/drawingml/2006/main" noGrp="1"/>
          </p:cNvSpPr>
          <p:nvPr/>
        </p:nvSpPr>
        <p:spPr>
          <a:xfrm xmlns:a="http://schemas.openxmlformats.org/drawingml/2006/main">
            <a:off x="635317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800" b="1">
                <a:solidFill>
                  <a:srgbClr val="111111"/>
                </a:solidFill>
                <a:latin typeface="Tahoma"/>
                <a:ea typeface="Tahoma"/>
                <a:cs typeface="Tahoma"/>
              </a:defRPr>
            </a:pPr>
            <a:r>
              <a:rPr sz="1800" b="1">
                <a:solidFill>
                  <a:srgbClr val="111111"/>
                </a:solidFill>
                <a:latin typeface="Tahoma"/>
                <a:ea typeface="Tahoma"/>
                <a:cs typeface="Tahoma"/>
              </a:rPr>
              <a:t>‏پیش‌بینی</a:t>
            </a:r>
          </a:p>
        </p:txBody>
      </p:sp>
      <p:sp>
        <p:nvSpPr>
          <p:cNvPr id="15" name="">
            <a:extLst xmlns:a="http://schemas.openxmlformats.org/drawingml/2006/main">
              <a:ext uri="{FF2B5EF4-FFF2-40B4-BE49-F238E27FC236}">
                <a16:creationId xmlns:a16="http://schemas.microsoft.com/office/drawing/2014/main" id="{EBF5FF44-5789-4B47-9B6E-6901F9A329A1}"/>
              </a:ext>
            </a:extLst>
          </p:cNvPr>
          <p:cNvSpPr>
            <a:spLocks xmlns:a="http://schemas.openxmlformats.org/drawingml/2006/main" noGrp="1"/>
          </p:cNvSpPr>
          <p:nvPr/>
        </p:nvSpPr>
        <p:spPr>
          <a:xfrm xmlns:a="http://schemas.openxmlformats.org/drawingml/2006/main">
            <a:off x="635317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555555"/>
                </a:solidFill>
                <a:latin typeface="Tahoma"/>
                <a:ea typeface="Tahoma"/>
                <a:cs typeface="Tahoma"/>
              </a:defRPr>
            </a:pPr>
            <a:r>
              <a:rPr sz="1350" b="0">
                <a:solidFill>
                  <a:srgbClr val="555555"/>
                </a:solidFill>
                <a:latin typeface="Tahoma"/>
                <a:ea typeface="Tahoma"/>
                <a:cs typeface="Tahoma"/>
              </a:rPr>
              <a:t>‏کدام سفارش‌های آینده در معرض ریسک‌اند؟</a:t>
            </a:r>
          </a:p>
        </p:txBody>
      </p:sp>
      <p:sp>
        <p:nvSpPr>
          <p:cNvPr id="16" name="">
            <a:extLst xmlns:a="http://schemas.openxmlformats.org/drawingml/2006/main">
              <a:ext uri="{FF2B5EF4-FFF2-40B4-BE49-F238E27FC236}">
                <a16:creationId xmlns:a16="http://schemas.microsoft.com/office/drawing/2014/main" id="{28B12E1A-8C94-4518-BA5D-E8DC5590DE25}"/>
              </a:ext>
            </a:extLst>
          </p:cNvPr>
          <p:cNvSpPr>
            <a:spLocks xmlns:a="http://schemas.openxmlformats.org/drawingml/2006/main" noGrp="1"/>
          </p:cNvSpPr>
          <p:nvPr/>
        </p:nvSpPr>
        <p:spPr>
          <a:xfrm xmlns:a="http://schemas.openxmlformats.org/drawingml/2006/main">
            <a:off x="8477250" y="30861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CFCFCF"/>
                </a:solidFill>
                <a:latin typeface="Tahoma"/>
                <a:ea typeface="Tahoma"/>
                <a:cs typeface="Tahoma"/>
              </a:defRPr>
            </a:pPr>
            <a:r>
              <a:rPr sz="2550" b="1">
                <a:solidFill>
                  <a:srgbClr val="CFCFCF"/>
                </a:solidFill>
                <a:latin typeface="Tahoma"/>
                <a:ea typeface="Tahoma"/>
                <a:cs typeface="Tahoma"/>
              </a:rPr>
              <a:t>&gt;</a:t>
            </a:r>
          </a:p>
        </p:txBody>
      </p:sp>
      <p:sp>
        <p:nvSpPr>
          <p:cNvPr id="17" name="">
            <a:extLst xmlns:a="http://schemas.openxmlformats.org/drawingml/2006/main">
              <a:ext uri="{FF2B5EF4-FFF2-40B4-BE49-F238E27FC236}">
                <a16:creationId xmlns:a16="http://schemas.microsoft.com/office/drawing/2014/main" id="{590D2AB2-010F-43CF-8D5E-3A07556CC1F8}"/>
              </a:ext>
            </a:extLst>
          </p:cNvPr>
          <p:cNvSpPr>
            <a:spLocks xmlns:a="http://schemas.openxmlformats.org/drawingml/2006/main" noGrp="1"/>
          </p:cNvSpPr>
          <p:nvPr/>
        </p:nvSpPr>
        <p:spPr>
          <a:xfrm xmlns:a="http://schemas.openxmlformats.org/drawingml/2006/main">
            <a:off x="8715375" y="2190750"/>
            <a:ext cx="2238375" cy="21907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18" name="">
            <a:extLst xmlns:a="http://schemas.openxmlformats.org/drawingml/2006/main">
              <a:ext uri="{FF2B5EF4-FFF2-40B4-BE49-F238E27FC236}">
                <a16:creationId xmlns:a16="http://schemas.microsoft.com/office/drawing/2014/main" id="{0BD1CE26-3DBE-4AFC-B69C-30158BBE4DCF}"/>
              </a:ext>
            </a:extLst>
          </p:cNvPr>
          <p:cNvSpPr>
            <a:spLocks xmlns:a="http://schemas.openxmlformats.org/drawingml/2006/main" noGrp="1"/>
          </p:cNvSpPr>
          <p:nvPr/>
        </p:nvSpPr>
        <p:spPr>
          <a:xfrm xmlns:a="http://schemas.openxmlformats.org/drawingml/2006/main">
            <a:off x="8924925" y="2476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800" b="1">
                <a:solidFill>
                  <a:srgbClr val="111111"/>
                </a:solidFill>
                <a:latin typeface="Tahoma"/>
                <a:ea typeface="Tahoma"/>
                <a:cs typeface="Tahoma"/>
              </a:defRPr>
            </a:pPr>
            <a:r>
              <a:rPr sz="1800" b="1">
                <a:solidFill>
                  <a:srgbClr val="111111"/>
                </a:solidFill>
                <a:latin typeface="Tahoma"/>
                <a:ea typeface="Tahoma"/>
                <a:cs typeface="Tahoma"/>
              </a:rPr>
              <a:t>‏پیشگیری</a:t>
            </a:r>
          </a:p>
        </p:txBody>
      </p:sp>
      <p:sp>
        <p:nvSpPr>
          <p:cNvPr id="19" name="">
            <a:extLst xmlns:a="http://schemas.openxmlformats.org/drawingml/2006/main">
              <a:ext uri="{FF2B5EF4-FFF2-40B4-BE49-F238E27FC236}">
                <a16:creationId xmlns:a16="http://schemas.microsoft.com/office/drawing/2014/main" id="{1566DD71-50A0-4DA1-8831-F08A9B846E30}"/>
              </a:ext>
            </a:extLst>
          </p:cNvPr>
          <p:cNvSpPr>
            <a:spLocks xmlns:a="http://schemas.openxmlformats.org/drawingml/2006/main" noGrp="1"/>
          </p:cNvSpPr>
          <p:nvPr/>
        </p:nvSpPr>
        <p:spPr>
          <a:xfrm xmlns:a="http://schemas.openxmlformats.org/drawingml/2006/main">
            <a:off x="8924925" y="3048000"/>
            <a:ext cx="1762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555555"/>
                </a:solidFill>
                <a:latin typeface="Tahoma"/>
                <a:ea typeface="Tahoma"/>
                <a:cs typeface="Tahoma"/>
              </a:defRPr>
            </a:pPr>
            <a:r>
              <a:rPr sz="1350" b="0">
                <a:solidFill>
                  <a:srgbClr val="555555"/>
                </a:solidFill>
                <a:latin typeface="Tahoma"/>
                <a:ea typeface="Tahoma"/>
                <a:cs typeface="Tahoma"/>
              </a:rPr>
              <a:t>‏کدام تغییر فرایند یا ماده تکرار را کم می‌کند؟</a:t>
            </a:r>
          </a:p>
        </p:txBody>
      </p:sp>
      <p:sp>
        <p:nvSpPr>
          <p:cNvPr id="20" name="">
            <a:extLst xmlns:a="http://schemas.openxmlformats.org/drawingml/2006/main">
              <a:ext uri="{FF2B5EF4-FFF2-40B4-BE49-F238E27FC236}">
                <a16:creationId xmlns:a16="http://schemas.microsoft.com/office/drawing/2014/main" id="{B75724D6-8C70-4F85-B69B-85D58FABFA59}"/>
              </a:ext>
            </a:extLst>
          </p:cNvPr>
          <p:cNvSpPr>
            <a:spLocks xmlns:a="http://schemas.openxmlformats.org/drawingml/2006/main" noGrp="1"/>
          </p:cNvSpPr>
          <p:nvPr/>
        </p:nvSpPr>
        <p:spPr>
          <a:xfrm xmlns:a="http://schemas.openxmlformats.org/drawingml/2006/main">
            <a:off x="1524000" y="5000625"/>
            <a:ext cx="914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11111"/>
                </a:solidFill>
                <a:latin typeface="Tahoma"/>
                <a:ea typeface="Tahoma"/>
                <a:cs typeface="Tahoma"/>
              </a:defRPr>
            </a:pPr>
            <a:r>
              <a:rPr sz="1950" b="1">
                <a:solidFill>
                  <a:srgbClr val="111111"/>
                </a:solidFill>
                <a:latin typeface="Tahoma"/>
                <a:ea typeface="Tahoma"/>
                <a:cs typeface="Tahoma"/>
              </a:rPr>
              <a:t>‏تغییر راهبردی از کشف دیرهنگام عیب به پیشگیری زودهنگام از عیب تکراری است.</a:t>
            </a:r>
          </a:p>
        </p:txBody>
      </p:sp>
      <p:sp>
        <p:nvSpPr>
          <p:cNvPr id="21" name="">
            <a:extLst xmlns:a="http://schemas.openxmlformats.org/drawingml/2006/main">
              <a:ext uri="{FF2B5EF4-FFF2-40B4-BE49-F238E27FC236}">
                <a16:creationId xmlns:a16="http://schemas.microsoft.com/office/drawing/2014/main" id="{64753B3F-5163-4449-AEB1-72D8A7E7E414}"/>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22" name="">
            <a:extLst xmlns:a="http://schemas.openxmlformats.org/drawingml/2006/main">
              <a:ext uri="{FF2B5EF4-FFF2-40B4-BE49-F238E27FC236}">
                <a16:creationId xmlns:a16="http://schemas.microsoft.com/office/drawing/2014/main" id="{3E008789-6922-40C0-9698-BCD0024AB52E}"/>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latin typeface="Tahoma"/>
                <a:ea typeface="Tahoma"/>
                <a:cs typeface="Tahoma"/>
              </a:defRPr>
            </a:pPr>
            <a:r>
              <a:rPr sz="675" b="0">
                <a:solidFill>
                  <a:srgbClr val="777777"/>
                </a:solidFill>
                <a:latin typeface="Tahoma"/>
                <a:ea typeface="Tahoma"/>
                <a:cs typeface="Tahoma"/>
              </a:rPr>
              <a:t>‏منبع: Darmstaedter Qualitaet؛ Klevers Qualitaet</a:t>
            </a:r>
          </a:p>
        </p:txBody>
      </p:sp>
      <p:sp>
        <p:nvSpPr>
          <p:cNvPr id="23" name="">
            <a:extLst xmlns:a="http://schemas.openxmlformats.org/drawingml/2006/main">
              <a:ext uri="{FF2B5EF4-FFF2-40B4-BE49-F238E27FC236}">
                <a16:creationId xmlns:a16="http://schemas.microsoft.com/office/drawing/2014/main" id="{AF701044-32B1-45C0-A95D-50D7F88528F1}"/>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11</a:t>
            </a:r>
          </a:p>
        </p:txBody>
      </p:sp>
    </p:spTree>
    <p:extLst>
      <p:ext uri="{BB962C8B-B14F-4D97-AF65-F5344CB8AC3E}">
        <p14:creationId xmlns:p14="http://schemas.microsoft.com/office/powerpoint/2010/main" val="4752377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45B9B3-CB94-4FE1-918F-9AA9ED07E469}"/>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‏بسته‌بندی</a:t>
            </a:r>
          </a:p>
        </p:txBody>
      </p:sp>
      <p:sp>
        <p:nvSpPr>
          <p:cNvPr id="2" name="">
            <a:extLst xmlns:a="http://schemas.openxmlformats.org/drawingml/2006/main">
              <a:ext uri="{FF2B5EF4-FFF2-40B4-BE49-F238E27FC236}">
                <a16:creationId xmlns:a16="http://schemas.microsoft.com/office/drawing/2014/main" id="{CFA8E26E-CB76-414F-8552-EF518D4D971D}"/>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‏بازرسی بسته‌بندی می‌تواند به سیستم یادگیرنده تبدیل شود</a:t>
            </a:r>
          </a:p>
        </p:txBody>
      </p:sp>
      <p:sp>
        <p:nvSpPr>
          <p:cNvPr id="3" name="">
            <a:extLst xmlns:a="http://schemas.openxmlformats.org/drawingml/2006/main">
              <a:ext uri="{FF2B5EF4-FFF2-40B4-BE49-F238E27FC236}">
                <a16:creationId xmlns:a16="http://schemas.microsoft.com/office/drawing/2014/main" id="{A955AB6C-B5F0-4E89-8FE5-CD3A320C6B34}"/>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‏پرسش اول آموزش بینایی ماشین نیست؛ پرسش این است که داده بازرسی به هم وصل است یا نه.</a:t>
            </a:r>
          </a:p>
        </p:txBody>
      </p:sp>
      <p:sp>
        <p:nvSpPr>
          <p:cNvPr id="4" name="">
            <a:extLst xmlns:a="http://schemas.openxmlformats.org/drawingml/2006/main">
              <a:ext uri="{FF2B5EF4-FFF2-40B4-BE49-F238E27FC236}">
                <a16:creationId xmlns:a16="http://schemas.microsoft.com/office/drawing/2014/main" id="{0793D25A-DD59-4BFB-814B-2BB07631E98A}"/>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3b9bc29248a445b"/>
          <a:srcRect xmlns:a="http://schemas.openxmlformats.org/drawingml/2006/main" l="7556" t="0" r="7556" b="0"/>
          <a:stretch xmlns:a="http://schemas.openxmlformats.org/drawingml/2006/main">
            <a:fillRect l="0" t="0" r="0" b="0"/>
          </a:stretch>
        </p:blipFill>
        <p:spPr>
          <a:xfrm xmlns:a="http://schemas.openxmlformats.org/drawingml/2006/main">
            <a:off x="666750" y="2095500"/>
            <a:ext cx="3619500" cy="285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3699880-2322-45CA-8A3F-29C55BC78D4A}"/>
              </a:ext>
            </a:extLst>
          </p:cNvPr>
          <p:cNvSpPr>
            <a:spLocks xmlns:a="http://schemas.openxmlformats.org/drawingml/2006/main" noGrp="1"/>
          </p:cNvSpPr>
          <p:nvPr/>
        </p:nvSpPr>
        <p:spPr>
          <a:xfrm xmlns:a="http://schemas.openxmlformats.org/drawingml/2006/main">
            <a:off x="4810125" y="2095500"/>
            <a:ext cx="5905500" cy="2857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7" name="">
            <a:extLst xmlns:a="http://schemas.openxmlformats.org/drawingml/2006/main">
              <a:ext uri="{FF2B5EF4-FFF2-40B4-BE49-F238E27FC236}">
                <a16:creationId xmlns:a16="http://schemas.microsoft.com/office/drawing/2014/main" id="{6663B457-17ED-460E-9037-C60A834559EC}"/>
              </a:ext>
            </a:extLst>
          </p:cNvPr>
          <p:cNvSpPr>
            <a:spLocks xmlns:a="http://schemas.openxmlformats.org/drawingml/2006/main" noGrp="1"/>
          </p:cNvSpPr>
          <p:nvPr/>
        </p:nvSpPr>
        <p:spPr>
          <a:xfrm xmlns:a="http://schemas.openxmlformats.org/drawingml/2006/main">
            <a:off x="5095875" y="2343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875" b="1">
                <a:solidFill>
                  <a:srgbClr val="111111"/>
                </a:solidFill>
                <a:latin typeface="Tahoma"/>
                <a:ea typeface="Tahoma"/>
                <a:cs typeface="Tahoma"/>
              </a:defRPr>
            </a:pPr>
            <a:r>
              <a:rPr sz="1875" b="1">
                <a:solidFill>
                  <a:srgbClr val="111111"/>
                </a:solidFill>
                <a:latin typeface="Tahoma"/>
                <a:ea typeface="Tahoma"/>
                <a:cs typeface="Tahoma"/>
              </a:rPr>
              <a:t>‏نردبان پروژه AI بسته‌بندی</a:t>
            </a:r>
          </a:p>
        </p:txBody>
      </p:sp>
      <p:sp>
        <p:nvSpPr>
          <p:cNvPr id="8" name="">
            <a:extLst xmlns:a="http://schemas.openxmlformats.org/drawingml/2006/main">
              <a:ext uri="{FF2B5EF4-FFF2-40B4-BE49-F238E27FC236}">
                <a16:creationId xmlns:a16="http://schemas.microsoft.com/office/drawing/2014/main" id="{A01F9A8F-EEC1-4A47-B7A0-B4C10903FBD4}"/>
              </a:ext>
            </a:extLst>
          </p:cNvPr>
          <p:cNvSpPr>
            <a:spLocks xmlns:a="http://schemas.openxmlformats.org/drawingml/2006/main" noGrp="1"/>
          </p:cNvSpPr>
          <p:nvPr/>
        </p:nvSpPr>
        <p:spPr>
          <a:xfrm xmlns:a="http://schemas.openxmlformats.org/drawingml/2006/main">
            <a:off x="5095875" y="2905125"/>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ممیزی داده بازرسی: تصویر، برچسب، زمان، شناسه رول و تصمیم اپراتور</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استانداردسازی طبقه‌بندی و شدت عیب</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ساخت پارتوی عیب و پاسپورت کیفیت رول</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اتصال الگوهای عیب به شرایط فرایند بالادست</a:t>
            </a:r>
          </a:p>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 فقط سپس تصمیم درباره ارزش استقرار مدل‌های جدید بینایی ماشین</a:t>
            </a:r>
          </a:p>
        </p:txBody>
      </p:sp>
      <p:sp>
        <p:nvSpPr>
          <p:cNvPr id="9" name="">
            <a:extLst xmlns:a="http://schemas.openxmlformats.org/drawingml/2006/main">
              <a:ext uri="{FF2B5EF4-FFF2-40B4-BE49-F238E27FC236}">
                <a16:creationId xmlns:a16="http://schemas.microsoft.com/office/drawing/2014/main" id="{88CECBFF-5E7E-4A22-A532-5CD1C04FD37F}"/>
              </a:ext>
            </a:extLst>
          </p:cNvPr>
          <p:cNvSpPr>
            <a:spLocks xmlns:a="http://schemas.openxmlformats.org/drawingml/2006/main" noGrp="1"/>
          </p:cNvSpPr>
          <p:nvPr/>
        </p:nvSpPr>
        <p:spPr>
          <a:xfrm xmlns:a="http://schemas.openxmlformats.org/drawingml/2006/main">
            <a:off x="5095875" y="45720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425" b="1">
                <a:solidFill>
                  <a:srgbClr val="F39200"/>
                </a:solidFill>
                <a:latin typeface="Tahoma"/>
                <a:ea typeface="Tahoma"/>
                <a:cs typeface="Tahoma"/>
              </a:defRPr>
            </a:pPr>
            <a:r>
              <a:rPr sz="1425" b="1">
                <a:solidFill>
                  <a:srgbClr val="F39200"/>
                </a:solidFill>
                <a:latin typeface="Tahoma"/>
                <a:ea typeface="Tahoma"/>
                <a:cs typeface="Tahoma"/>
              </a:rPr>
              <a:t>‏بینایی ماشین فاز ۲ است. اتصال داده فاز ۱ است.</a:t>
            </a:r>
          </a:p>
        </p:txBody>
      </p:sp>
      <p:sp>
        <p:nvSpPr>
          <p:cNvPr id="10" name="">
            <a:extLst xmlns:a="http://schemas.openxmlformats.org/drawingml/2006/main">
              <a:ext uri="{FF2B5EF4-FFF2-40B4-BE49-F238E27FC236}">
                <a16:creationId xmlns:a16="http://schemas.microsoft.com/office/drawing/2014/main" id="{A644185E-A8E8-4530-AC9C-46B14DEE873C}"/>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11" name="">
            <a:extLst xmlns:a="http://schemas.openxmlformats.org/drawingml/2006/main">
              <a:ext uri="{FF2B5EF4-FFF2-40B4-BE49-F238E27FC236}">
                <a16:creationId xmlns:a16="http://schemas.microsoft.com/office/drawing/2014/main" id="{A6EF2C21-8A72-4DC3-9A15-E41289892431}"/>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12</a:t>
            </a:r>
          </a:p>
        </p:txBody>
      </p:sp>
    </p:spTree>
    <p:extLst>
      <p:ext uri="{BB962C8B-B14F-4D97-AF65-F5344CB8AC3E}">
        <p14:creationId xmlns:p14="http://schemas.microsoft.com/office/powerpoint/2010/main" val="38773842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8968F7-BA6A-4FFB-9CAF-96B296302F0C}"/>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‏پلتفرم دانش</a:t>
            </a:r>
          </a:p>
        </p:txBody>
      </p:sp>
      <p:sp>
        <p:nvSpPr>
          <p:cNvPr id="2" name="">
            <a:extLst xmlns:a="http://schemas.openxmlformats.org/drawingml/2006/main">
              <a:ext uri="{FF2B5EF4-FFF2-40B4-BE49-F238E27FC236}">
                <a16:creationId xmlns:a16="http://schemas.microsoft.com/office/drawing/2014/main" id="{AFC92BC9-FF57-4CDE-B964-97E98AFAD0C9}"/>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‏پلتفرم دانش، دانسته‌ها را قابل استفاده مجدد می‌کند</a:t>
            </a:r>
          </a:p>
        </p:txBody>
      </p:sp>
      <p:sp>
        <p:nvSpPr>
          <p:cNvPr id="3" name="">
            <a:extLst xmlns:a="http://schemas.openxmlformats.org/drawingml/2006/main">
              <a:ext uri="{FF2B5EF4-FFF2-40B4-BE49-F238E27FC236}">
                <a16:creationId xmlns:a16="http://schemas.microsoft.com/office/drawing/2014/main" id="{8516A77E-2100-4703-8ABA-D23A89046B25}"/>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‏پلتفرم باید با منبع پاسخ دهد، نه با حدس.</a:t>
            </a:r>
          </a:p>
        </p:txBody>
      </p:sp>
      <p:sp>
        <p:nvSpPr>
          <p:cNvPr id="4" name="">
            <a:extLst xmlns:a="http://schemas.openxmlformats.org/drawingml/2006/main">
              <a:ext uri="{FF2B5EF4-FFF2-40B4-BE49-F238E27FC236}">
                <a16:creationId xmlns:a16="http://schemas.microsoft.com/office/drawing/2014/main" id="{DE3EFB0B-28F0-4D66-9243-C13072B0A475}"/>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5AD28785-3705-49A7-BE4E-46AACD71AE9C}"/>
              </a:ext>
            </a:extLst>
          </p:cNvPr>
          <p:cNvSpPr>
            <a:spLocks xmlns:a="http://schemas.openxmlformats.org/drawingml/2006/main" noGrp="1"/>
          </p:cNvSpPr>
          <p:nvPr/>
        </p:nvSpPr>
        <p:spPr>
          <a:xfrm xmlns:a="http://schemas.openxmlformats.org/drawingml/2006/main">
            <a:off x="952500" y="2095500"/>
            <a:ext cx="2286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4C1701FB-8F38-4CDC-B645-A3DFAD87EDB3}"/>
              </a:ext>
            </a:extLst>
          </p:cNvPr>
          <p:cNvSpPr>
            <a:spLocks xmlns:a="http://schemas.openxmlformats.org/drawingml/2006/main" noGrp="1"/>
          </p:cNvSpPr>
          <p:nvPr/>
        </p:nvSpPr>
        <p:spPr>
          <a:xfrm xmlns:a="http://schemas.openxmlformats.org/drawingml/2006/main">
            <a:off x="1047750" y="21717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‏لایه</a:t>
            </a:r>
          </a:p>
        </p:txBody>
      </p:sp>
      <p:sp>
        <p:nvSpPr>
          <p:cNvPr id="7" name="">
            <a:extLst xmlns:a="http://schemas.openxmlformats.org/drawingml/2006/main">
              <a:ext uri="{FF2B5EF4-FFF2-40B4-BE49-F238E27FC236}">
                <a16:creationId xmlns:a16="http://schemas.microsoft.com/office/drawing/2014/main" id="{4613985F-95C5-4DB9-BEF8-7E5C3EB051C0}"/>
              </a:ext>
            </a:extLst>
          </p:cNvPr>
          <p:cNvSpPr>
            <a:spLocks xmlns:a="http://schemas.openxmlformats.org/drawingml/2006/main" noGrp="1"/>
          </p:cNvSpPr>
          <p:nvPr/>
        </p:nvSpPr>
        <p:spPr>
          <a:xfrm xmlns:a="http://schemas.openxmlformats.org/drawingml/2006/main">
            <a:off x="3238500" y="2095500"/>
            <a:ext cx="7239000" cy="5334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0E97CDFD-9A8E-4A9B-9D1D-5403D1F9C522}"/>
              </a:ext>
            </a:extLst>
          </p:cNvPr>
          <p:cNvSpPr>
            <a:spLocks xmlns:a="http://schemas.openxmlformats.org/drawingml/2006/main" noGrp="1"/>
          </p:cNvSpPr>
          <p:nvPr/>
        </p:nvSpPr>
        <p:spPr>
          <a:xfrm xmlns:a="http://schemas.openxmlformats.org/drawingml/2006/main">
            <a:off x="3333750" y="21717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‏هدف</a:t>
            </a:r>
          </a:p>
        </p:txBody>
      </p:sp>
      <p:sp>
        <p:nvSpPr>
          <p:cNvPr id="9" name="">
            <a:extLst xmlns:a="http://schemas.openxmlformats.org/drawingml/2006/main">
              <a:ext uri="{FF2B5EF4-FFF2-40B4-BE49-F238E27FC236}">
                <a16:creationId xmlns:a16="http://schemas.microsoft.com/office/drawing/2014/main" id="{66E45420-E526-42F0-AB4A-3AB1F7E60F9A}"/>
              </a:ext>
            </a:extLst>
          </p:cNvPr>
          <p:cNvSpPr>
            <a:spLocks xmlns:a="http://schemas.openxmlformats.org/drawingml/2006/main" noGrp="1"/>
          </p:cNvSpPr>
          <p:nvPr/>
        </p:nvSpPr>
        <p:spPr>
          <a:xfrm xmlns:a="http://schemas.openxmlformats.org/drawingml/2006/main">
            <a:off x="952500" y="2628900"/>
            <a:ext cx="2286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AC7DD802-4B87-4DD4-B49D-B1190B72442C}"/>
              </a:ext>
            </a:extLst>
          </p:cNvPr>
          <p:cNvSpPr>
            <a:spLocks xmlns:a="http://schemas.openxmlformats.org/drawingml/2006/main" noGrp="1"/>
          </p:cNvSpPr>
          <p:nvPr/>
        </p:nvSpPr>
        <p:spPr>
          <a:xfrm xmlns:a="http://schemas.openxmlformats.org/drawingml/2006/main">
            <a:off x="1047750" y="27051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‏اتصال‌گر منابع</a:t>
            </a:r>
          </a:p>
        </p:txBody>
      </p:sp>
      <p:sp>
        <p:nvSpPr>
          <p:cNvPr id="11" name="">
            <a:extLst xmlns:a="http://schemas.openxmlformats.org/drawingml/2006/main">
              <a:ext uri="{FF2B5EF4-FFF2-40B4-BE49-F238E27FC236}">
                <a16:creationId xmlns:a16="http://schemas.microsoft.com/office/drawing/2014/main" id="{72E013DA-91BF-47A0-B706-A9894F90E01E}"/>
              </a:ext>
            </a:extLst>
          </p:cNvPr>
          <p:cNvSpPr>
            <a:spLocks xmlns:a="http://schemas.openxmlformats.org/drawingml/2006/main" noGrp="1"/>
          </p:cNvSpPr>
          <p:nvPr/>
        </p:nvSpPr>
        <p:spPr>
          <a:xfrm xmlns:a="http://schemas.openxmlformats.org/drawingml/2006/main">
            <a:off x="3238500" y="2628900"/>
            <a:ext cx="7239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E1EE5F88-28DD-4D05-985B-546CADA2CAD5}"/>
              </a:ext>
            </a:extLst>
          </p:cNvPr>
          <p:cNvSpPr>
            <a:spLocks xmlns:a="http://schemas.openxmlformats.org/drawingml/2006/main" noGrp="1"/>
          </p:cNvSpPr>
          <p:nvPr/>
        </p:nvSpPr>
        <p:spPr>
          <a:xfrm xmlns:a="http://schemas.openxmlformats.org/drawingml/2006/main">
            <a:off x="3333750" y="27051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‏ERP، QC، آزمایشگاه، بازرسی، تولید، فایل‌ها، خروجی ایمیل</a:t>
            </a:r>
          </a:p>
        </p:txBody>
      </p:sp>
      <p:sp>
        <p:nvSpPr>
          <p:cNvPr id="13" name="">
            <a:extLst xmlns:a="http://schemas.openxmlformats.org/drawingml/2006/main">
              <a:ext uri="{FF2B5EF4-FFF2-40B4-BE49-F238E27FC236}">
                <a16:creationId xmlns:a16="http://schemas.microsoft.com/office/drawing/2014/main" id="{15879B96-9246-4C64-8445-FEE568DA55A9}"/>
              </a:ext>
            </a:extLst>
          </p:cNvPr>
          <p:cNvSpPr>
            <a:spLocks xmlns:a="http://schemas.openxmlformats.org/drawingml/2006/main" noGrp="1"/>
          </p:cNvSpPr>
          <p:nvPr/>
        </p:nvSpPr>
        <p:spPr>
          <a:xfrm xmlns:a="http://schemas.openxmlformats.org/drawingml/2006/main">
            <a:off x="952500" y="3162300"/>
            <a:ext cx="2286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D3B092ED-29D0-40EE-8F4C-4A2A1A7A6826}"/>
              </a:ext>
            </a:extLst>
          </p:cNvPr>
          <p:cNvSpPr>
            <a:spLocks xmlns:a="http://schemas.openxmlformats.org/drawingml/2006/main" noGrp="1"/>
          </p:cNvSpPr>
          <p:nvPr/>
        </p:nvSpPr>
        <p:spPr>
          <a:xfrm xmlns:a="http://schemas.openxmlformats.org/drawingml/2006/main">
            <a:off x="1047750" y="32385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‏هوشمندی سند</a:t>
            </a:r>
          </a:p>
        </p:txBody>
      </p:sp>
      <p:sp>
        <p:nvSpPr>
          <p:cNvPr id="15" name="">
            <a:extLst xmlns:a="http://schemas.openxmlformats.org/drawingml/2006/main">
              <a:ext uri="{FF2B5EF4-FFF2-40B4-BE49-F238E27FC236}">
                <a16:creationId xmlns:a16="http://schemas.microsoft.com/office/drawing/2014/main" id="{CCD82B87-EFB5-4563-8A0E-A3B40750007E}"/>
              </a:ext>
            </a:extLst>
          </p:cNvPr>
          <p:cNvSpPr>
            <a:spLocks xmlns:a="http://schemas.openxmlformats.org/drawingml/2006/main" noGrp="1"/>
          </p:cNvSpPr>
          <p:nvPr/>
        </p:nvSpPr>
        <p:spPr>
          <a:xfrm xmlns:a="http://schemas.openxmlformats.org/drawingml/2006/main">
            <a:off x="3238500" y="3162300"/>
            <a:ext cx="7239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07975AB7-A289-4675-8F84-735FFD386EE4}"/>
              </a:ext>
            </a:extLst>
          </p:cNvPr>
          <p:cNvSpPr>
            <a:spLocks xmlns:a="http://schemas.openxmlformats.org/drawingml/2006/main" noGrp="1"/>
          </p:cNvSpPr>
          <p:nvPr/>
        </p:nvSpPr>
        <p:spPr>
          <a:xfrm xmlns:a="http://schemas.openxmlformats.org/drawingml/2006/main">
            <a:off x="3333750" y="32385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‏OCR، استخراج جدول، فراداده، مدیریت تکراری‌ها</a:t>
            </a:r>
          </a:p>
        </p:txBody>
      </p:sp>
      <p:sp>
        <p:nvSpPr>
          <p:cNvPr id="17" name="">
            <a:extLst xmlns:a="http://schemas.openxmlformats.org/drawingml/2006/main">
              <a:ext uri="{FF2B5EF4-FFF2-40B4-BE49-F238E27FC236}">
                <a16:creationId xmlns:a16="http://schemas.microsoft.com/office/drawing/2014/main" id="{BB324B6B-5FCD-45CD-9633-4B10C12112E6}"/>
              </a:ext>
            </a:extLst>
          </p:cNvPr>
          <p:cNvSpPr>
            <a:spLocks xmlns:a="http://schemas.openxmlformats.org/drawingml/2006/main" noGrp="1"/>
          </p:cNvSpPr>
          <p:nvPr/>
        </p:nvSpPr>
        <p:spPr>
          <a:xfrm xmlns:a="http://schemas.openxmlformats.org/drawingml/2006/main">
            <a:off x="952500" y="3695700"/>
            <a:ext cx="2286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2CF4354D-B863-4D65-A25A-842AB4D6E050}"/>
              </a:ext>
            </a:extLst>
          </p:cNvPr>
          <p:cNvSpPr>
            <a:spLocks xmlns:a="http://schemas.openxmlformats.org/drawingml/2006/main" noGrp="1"/>
          </p:cNvSpPr>
          <p:nvPr/>
        </p:nvSpPr>
        <p:spPr>
          <a:xfrm xmlns:a="http://schemas.openxmlformats.org/drawingml/2006/main">
            <a:off x="1047750" y="3771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‏گراف دانش</a:t>
            </a:r>
          </a:p>
        </p:txBody>
      </p:sp>
      <p:sp>
        <p:nvSpPr>
          <p:cNvPr id="19" name="">
            <a:extLst xmlns:a="http://schemas.openxmlformats.org/drawingml/2006/main">
              <a:ext uri="{FF2B5EF4-FFF2-40B4-BE49-F238E27FC236}">
                <a16:creationId xmlns:a16="http://schemas.microsoft.com/office/drawing/2014/main" id="{7C947F87-A364-41EA-84D6-4D9A6A035B24}"/>
              </a:ext>
            </a:extLst>
          </p:cNvPr>
          <p:cNvSpPr>
            <a:spLocks xmlns:a="http://schemas.openxmlformats.org/drawingml/2006/main" noGrp="1"/>
          </p:cNvSpPr>
          <p:nvPr/>
        </p:nvSpPr>
        <p:spPr>
          <a:xfrm xmlns:a="http://schemas.openxmlformats.org/drawingml/2006/main">
            <a:off x="3238500" y="3695700"/>
            <a:ext cx="7239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A6C4DDF9-3100-473C-ABB5-6E715B629527}"/>
              </a:ext>
            </a:extLst>
          </p:cNvPr>
          <p:cNvSpPr>
            <a:spLocks xmlns:a="http://schemas.openxmlformats.org/drawingml/2006/main" noGrp="1"/>
          </p:cNvSpPr>
          <p:nvPr/>
        </p:nvSpPr>
        <p:spPr>
          <a:xfrm xmlns:a="http://schemas.openxmlformats.org/drawingml/2006/main">
            <a:off x="3333750" y="37719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‏محصولات، مواد، فرایندها، آزمون‌ها، عیوب، گواهی‌ها، مشتریان</a:t>
            </a:r>
          </a:p>
        </p:txBody>
      </p:sp>
      <p:sp>
        <p:nvSpPr>
          <p:cNvPr id="21" name="">
            <a:extLst xmlns:a="http://schemas.openxmlformats.org/drawingml/2006/main">
              <a:ext uri="{FF2B5EF4-FFF2-40B4-BE49-F238E27FC236}">
                <a16:creationId xmlns:a16="http://schemas.microsoft.com/office/drawing/2014/main" id="{88CE02A2-805E-4D6B-A3E2-3FD9E3DB3070}"/>
              </a:ext>
            </a:extLst>
          </p:cNvPr>
          <p:cNvSpPr>
            <a:spLocks xmlns:a="http://schemas.openxmlformats.org/drawingml/2006/main" noGrp="1"/>
          </p:cNvSpPr>
          <p:nvPr/>
        </p:nvSpPr>
        <p:spPr>
          <a:xfrm xmlns:a="http://schemas.openxmlformats.org/drawingml/2006/main">
            <a:off x="952500" y="4229100"/>
            <a:ext cx="2286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5205CA23-D8B9-4D03-A6D3-31451F516294}"/>
              </a:ext>
            </a:extLst>
          </p:cNvPr>
          <p:cNvSpPr>
            <a:spLocks xmlns:a="http://schemas.openxmlformats.org/drawingml/2006/main" noGrp="1"/>
          </p:cNvSpPr>
          <p:nvPr/>
        </p:nvSpPr>
        <p:spPr>
          <a:xfrm xmlns:a="http://schemas.openxmlformats.org/drawingml/2006/main">
            <a:off x="1047750" y="43053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‏جست‌وجوی RAG</a:t>
            </a:r>
          </a:p>
        </p:txBody>
      </p:sp>
      <p:sp>
        <p:nvSpPr>
          <p:cNvPr id="23" name="">
            <a:extLst xmlns:a="http://schemas.openxmlformats.org/drawingml/2006/main">
              <a:ext uri="{FF2B5EF4-FFF2-40B4-BE49-F238E27FC236}">
                <a16:creationId xmlns:a16="http://schemas.microsoft.com/office/drawing/2014/main" id="{47636E43-BFF0-4786-8EA4-C5D23FF2CD10}"/>
              </a:ext>
            </a:extLst>
          </p:cNvPr>
          <p:cNvSpPr>
            <a:spLocks xmlns:a="http://schemas.openxmlformats.org/drawingml/2006/main" noGrp="1"/>
          </p:cNvSpPr>
          <p:nvPr/>
        </p:nvSpPr>
        <p:spPr>
          <a:xfrm xmlns:a="http://schemas.openxmlformats.org/drawingml/2006/main">
            <a:off x="3238500" y="4229100"/>
            <a:ext cx="7239000" cy="5334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8E06C899-29E1-4218-971F-8F3460F5D105}"/>
              </a:ext>
            </a:extLst>
          </p:cNvPr>
          <p:cNvSpPr>
            <a:spLocks xmlns:a="http://schemas.openxmlformats.org/drawingml/2006/main" noGrp="1"/>
          </p:cNvSpPr>
          <p:nvPr/>
        </p:nvSpPr>
        <p:spPr>
          <a:xfrm xmlns:a="http://schemas.openxmlformats.org/drawingml/2006/main">
            <a:off x="3333750" y="43053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‏پاسخ‌های منبع‌دار روی اسناد تاییدشده</a:t>
            </a:r>
          </a:p>
        </p:txBody>
      </p:sp>
      <p:sp>
        <p:nvSpPr>
          <p:cNvPr id="25" name="">
            <a:extLst xmlns:a="http://schemas.openxmlformats.org/drawingml/2006/main">
              <a:ext uri="{FF2B5EF4-FFF2-40B4-BE49-F238E27FC236}">
                <a16:creationId xmlns:a16="http://schemas.microsoft.com/office/drawing/2014/main" id="{142B025F-E1A2-4004-B845-E789EB896EF1}"/>
              </a:ext>
            </a:extLst>
          </p:cNvPr>
          <p:cNvSpPr>
            <a:spLocks xmlns:a="http://schemas.openxmlformats.org/drawingml/2006/main" noGrp="1"/>
          </p:cNvSpPr>
          <p:nvPr/>
        </p:nvSpPr>
        <p:spPr>
          <a:xfrm xmlns:a="http://schemas.openxmlformats.org/drawingml/2006/main">
            <a:off x="952500" y="4762500"/>
            <a:ext cx="2286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35A25EFE-984A-4D3F-809F-815825AF067D}"/>
              </a:ext>
            </a:extLst>
          </p:cNvPr>
          <p:cNvSpPr>
            <a:spLocks xmlns:a="http://schemas.openxmlformats.org/drawingml/2006/main" noGrp="1"/>
          </p:cNvSpPr>
          <p:nvPr/>
        </p:nvSpPr>
        <p:spPr>
          <a:xfrm xmlns:a="http://schemas.openxmlformats.org/drawingml/2006/main">
            <a:off x="1047750" y="48387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‏کاربردهای AI</a:t>
            </a:r>
          </a:p>
        </p:txBody>
      </p:sp>
      <p:sp>
        <p:nvSpPr>
          <p:cNvPr id="27" name="">
            <a:extLst xmlns:a="http://schemas.openxmlformats.org/drawingml/2006/main">
              <a:ext uri="{FF2B5EF4-FFF2-40B4-BE49-F238E27FC236}">
                <a16:creationId xmlns:a16="http://schemas.microsoft.com/office/drawing/2014/main" id="{D0465D0C-C333-4CF6-8A6A-4496D2A103D2}"/>
              </a:ext>
            </a:extLst>
          </p:cNvPr>
          <p:cNvSpPr>
            <a:spLocks xmlns:a="http://schemas.openxmlformats.org/drawingml/2006/main" noGrp="1"/>
          </p:cNvSpPr>
          <p:nvPr/>
        </p:nvSpPr>
        <p:spPr>
          <a:xfrm xmlns:a="http://schemas.openxmlformats.org/drawingml/2006/main">
            <a:off x="3238500" y="4762500"/>
            <a:ext cx="7239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D3EADD30-FABF-437F-A01E-15104F4EAF77}"/>
              </a:ext>
            </a:extLst>
          </p:cNvPr>
          <p:cNvSpPr>
            <a:spLocks xmlns:a="http://schemas.openxmlformats.org/drawingml/2006/main" noGrp="1"/>
          </p:cNvSpPr>
          <p:nvPr/>
        </p:nvSpPr>
        <p:spPr>
          <a:xfrm xmlns:a="http://schemas.openxmlformats.org/drawingml/2006/main">
            <a:off x="3333750" y="48387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‏کوپایلوت تحقیق‌وتوسعه، کوپایلوت کیفیت، دستیار فروش، پشتیبانی اپراتور</a:t>
            </a:r>
          </a:p>
        </p:txBody>
      </p:sp>
      <p:sp>
        <p:nvSpPr>
          <p:cNvPr id="29" name="">
            <a:extLst xmlns:a="http://schemas.openxmlformats.org/drawingml/2006/main">
              <a:ext uri="{FF2B5EF4-FFF2-40B4-BE49-F238E27FC236}">
                <a16:creationId xmlns:a16="http://schemas.microsoft.com/office/drawing/2014/main" id="{FCEA6E69-C1BB-418B-A608-3389E8EF98C2}"/>
              </a:ext>
            </a:extLst>
          </p:cNvPr>
          <p:cNvSpPr>
            <a:spLocks xmlns:a="http://schemas.openxmlformats.org/drawingml/2006/main" noGrp="1"/>
          </p:cNvSpPr>
          <p:nvPr/>
        </p:nvSpPr>
        <p:spPr>
          <a:xfrm xmlns:a="http://schemas.openxmlformats.org/drawingml/2006/main">
            <a:off x="952500" y="2095500"/>
            <a:ext cx="9525000" cy="32004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F383388D-47C1-426F-8011-06DC73D13F73}"/>
              </a:ext>
            </a:extLst>
          </p:cNvPr>
          <p:cNvSpPr>
            <a:spLocks xmlns:a="http://schemas.openxmlformats.org/drawingml/2006/main" noGrp="1"/>
          </p:cNvSpPr>
          <p:nvPr/>
        </p:nvSpPr>
        <p:spPr>
          <a:xfrm xmlns:a="http://schemas.openxmlformats.org/drawingml/2006/main">
            <a:off x="952500" y="547687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39200"/>
                </a:solidFill>
                <a:latin typeface="Tahoma"/>
                <a:ea typeface="Tahoma"/>
                <a:cs typeface="Tahoma"/>
              </a:defRPr>
            </a:pPr>
            <a:r>
              <a:rPr sz="1950" b="1">
                <a:solidFill>
                  <a:srgbClr val="F39200"/>
                </a:solidFill>
                <a:latin typeface="Tahoma"/>
                <a:ea typeface="Tahoma"/>
                <a:cs typeface="Tahoma"/>
              </a:rPr>
              <a:t>‏قاعده حاکمیتی: بدون منبع، بدون پاسخ.</a:t>
            </a:r>
          </a:p>
        </p:txBody>
      </p:sp>
      <p:sp>
        <p:nvSpPr>
          <p:cNvPr id="31" name="">
            <a:extLst xmlns:a="http://schemas.openxmlformats.org/drawingml/2006/main">
              <a:ext uri="{FF2B5EF4-FFF2-40B4-BE49-F238E27FC236}">
                <a16:creationId xmlns:a16="http://schemas.microsoft.com/office/drawing/2014/main" id="{C397F7C3-B806-4338-8DE9-019829ADF85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32" name="">
            <a:extLst xmlns:a="http://schemas.openxmlformats.org/drawingml/2006/main">
              <a:ext uri="{FF2B5EF4-FFF2-40B4-BE49-F238E27FC236}">
                <a16:creationId xmlns:a16="http://schemas.microsoft.com/office/drawing/2014/main" id="{3CCCC6A2-FF1F-493E-8E61-EA734C89B60F}"/>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13</a:t>
            </a:r>
          </a:p>
        </p:txBody>
      </p:sp>
    </p:spTree>
    <p:extLst>
      <p:ext uri="{BB962C8B-B14F-4D97-AF65-F5344CB8AC3E}">
        <p14:creationId xmlns:p14="http://schemas.microsoft.com/office/powerpoint/2010/main" val="13003855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6BB1CA-198A-4FC7-953F-092173D5845C}"/>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‏نقشه راه</a:t>
            </a:r>
          </a:p>
        </p:txBody>
      </p:sp>
      <p:sp>
        <p:nvSpPr>
          <p:cNvPr id="2" name="">
            <a:extLst xmlns:a="http://schemas.openxmlformats.org/drawingml/2006/main">
              <a:ext uri="{FF2B5EF4-FFF2-40B4-BE49-F238E27FC236}">
                <a16:creationId xmlns:a16="http://schemas.microsoft.com/office/drawing/2014/main" id="{C845B10C-EFF5-450B-A828-559B8272EE91}"/>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‏نقشه راه ارزش را با تصمیم‌های مرحله‌ای انباشته می‌کند</a:t>
            </a:r>
          </a:p>
        </p:txBody>
      </p:sp>
      <p:sp>
        <p:nvSpPr>
          <p:cNvPr id="3" name="">
            <a:extLst xmlns:a="http://schemas.openxmlformats.org/drawingml/2006/main">
              <a:ext uri="{FF2B5EF4-FFF2-40B4-BE49-F238E27FC236}">
                <a16:creationId xmlns:a16="http://schemas.microsoft.com/office/drawing/2014/main" id="{7555F8BF-E028-491E-B668-029CEF31AA32}"/>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‏هر فاز باید حق گسترش را به دست آورد.</a:t>
            </a:r>
          </a:p>
        </p:txBody>
      </p:sp>
      <p:sp>
        <p:nvSpPr>
          <p:cNvPr id="4" name="">
            <a:extLst xmlns:a="http://schemas.openxmlformats.org/drawingml/2006/main">
              <a:ext uri="{FF2B5EF4-FFF2-40B4-BE49-F238E27FC236}">
                <a16:creationId xmlns:a16="http://schemas.microsoft.com/office/drawing/2014/main" id="{DDE453DB-DCBF-4713-BE6B-9ADF2E127FCC}"/>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3303341B-19C4-4E74-A59F-248312516B85}"/>
              </a:ext>
            </a:extLst>
          </p:cNvPr>
          <p:cNvSpPr>
            <a:spLocks xmlns:a="http://schemas.openxmlformats.org/drawingml/2006/main" noGrp="1"/>
          </p:cNvSpPr>
          <p:nvPr/>
        </p:nvSpPr>
        <p:spPr>
          <a:xfrm xmlns:a="http://schemas.openxmlformats.org/drawingml/2006/main">
            <a:off x="876300" y="1952625"/>
            <a:ext cx="1619250" cy="51435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9F4200-C245-467F-B527-539DCB580D78}"/>
              </a:ext>
            </a:extLst>
          </p:cNvPr>
          <p:cNvSpPr>
            <a:spLocks xmlns:a="http://schemas.openxmlformats.org/drawingml/2006/main" noGrp="1"/>
          </p:cNvSpPr>
          <p:nvPr/>
        </p:nvSpPr>
        <p:spPr>
          <a:xfrm xmlns:a="http://schemas.openxmlformats.org/drawingml/2006/main">
            <a:off x="1047750" y="209550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Tahoma"/>
                <a:ea typeface="Tahoma"/>
                <a:cs typeface="Tahoma"/>
              </a:defRPr>
            </a:pPr>
            <a:r>
              <a:rPr sz="1200" b="1">
                <a:solidFill>
                  <a:srgbClr val="FFFFFF"/>
                </a:solidFill>
                <a:latin typeface="Tahoma"/>
                <a:ea typeface="Tahoma"/>
                <a:cs typeface="Tahoma"/>
              </a:rPr>
              <a:t>‏۰-۳ ماه</a:t>
            </a:r>
          </a:p>
        </p:txBody>
      </p:sp>
      <p:sp>
        <p:nvSpPr>
          <p:cNvPr id="7" name="">
            <a:extLst xmlns:a="http://schemas.openxmlformats.org/drawingml/2006/main">
              <a:ext uri="{FF2B5EF4-FFF2-40B4-BE49-F238E27FC236}">
                <a16:creationId xmlns:a16="http://schemas.microsoft.com/office/drawing/2014/main" id="{CA743278-5DBE-4984-AE84-3828C336E451}"/>
              </a:ext>
            </a:extLst>
          </p:cNvPr>
          <p:cNvSpPr>
            <a:spLocks xmlns:a="http://schemas.openxmlformats.org/drawingml/2006/main" noGrp="1"/>
          </p:cNvSpPr>
          <p:nvPr/>
        </p:nvSpPr>
        <p:spPr>
          <a:xfrm xmlns:a="http://schemas.openxmlformats.org/drawingml/2006/main">
            <a:off x="2686050" y="1952625"/>
            <a:ext cx="7810500" cy="5143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8" name="">
            <a:extLst xmlns:a="http://schemas.openxmlformats.org/drawingml/2006/main">
              <a:ext uri="{FF2B5EF4-FFF2-40B4-BE49-F238E27FC236}">
                <a16:creationId xmlns:a16="http://schemas.microsoft.com/office/drawing/2014/main" id="{6FF164AF-742E-4C1E-B52C-994A8F6E5AAA}"/>
              </a:ext>
            </a:extLst>
          </p:cNvPr>
          <p:cNvSpPr>
            <a:spLocks xmlns:a="http://schemas.openxmlformats.org/drawingml/2006/main" noGrp="1"/>
          </p:cNvSpPr>
          <p:nvPr/>
        </p:nvSpPr>
        <p:spPr>
          <a:xfrm xmlns:a="http://schemas.openxmlformats.org/drawingml/2006/main">
            <a:off x="2876550" y="207645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11111"/>
                </a:solidFill>
                <a:latin typeface="Tahoma"/>
                <a:ea typeface="Tahoma"/>
                <a:cs typeface="Tahoma"/>
              </a:defRPr>
            </a:pPr>
            <a:r>
              <a:rPr sz="1275" b="1">
                <a:solidFill>
                  <a:srgbClr val="111111"/>
                </a:solidFill>
                <a:latin typeface="Tahoma"/>
                <a:ea typeface="Tahoma"/>
                <a:cs typeface="Tahoma"/>
              </a:rPr>
              <a:t>‏منشور پایلوت، کشف داده، داشبورد کیفیت، دستیار دانش</a:t>
            </a:r>
          </a:p>
        </p:txBody>
      </p:sp>
      <p:sp>
        <p:nvSpPr>
          <p:cNvPr id="9" name="">
            <a:extLst xmlns:a="http://schemas.openxmlformats.org/drawingml/2006/main">
              <a:ext uri="{FF2B5EF4-FFF2-40B4-BE49-F238E27FC236}">
                <a16:creationId xmlns:a16="http://schemas.microsoft.com/office/drawing/2014/main" id="{298EE95D-3EE4-4539-AAAC-05AFAD0535B7}"/>
              </a:ext>
            </a:extLst>
          </p:cNvPr>
          <p:cNvSpPr>
            <a:spLocks xmlns:a="http://schemas.openxmlformats.org/drawingml/2006/main" noGrp="1"/>
          </p:cNvSpPr>
          <p:nvPr/>
        </p:nvSpPr>
        <p:spPr>
          <a:xfrm xmlns:a="http://schemas.openxmlformats.org/drawingml/2006/main">
            <a:off x="876300" y="265747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061CAD-97F7-43C3-B39B-38F2C9AE2295}"/>
              </a:ext>
            </a:extLst>
          </p:cNvPr>
          <p:cNvSpPr>
            <a:spLocks xmlns:a="http://schemas.openxmlformats.org/drawingml/2006/main" noGrp="1"/>
          </p:cNvSpPr>
          <p:nvPr/>
        </p:nvSpPr>
        <p:spPr>
          <a:xfrm xmlns:a="http://schemas.openxmlformats.org/drawingml/2006/main">
            <a:off x="1047750" y="280035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Tahoma"/>
                <a:ea typeface="Tahoma"/>
                <a:cs typeface="Tahoma"/>
              </a:defRPr>
            </a:pPr>
            <a:r>
              <a:rPr sz="1200" b="1">
                <a:solidFill>
                  <a:srgbClr val="FFFFFF"/>
                </a:solidFill>
                <a:latin typeface="Tahoma"/>
                <a:ea typeface="Tahoma"/>
                <a:cs typeface="Tahoma"/>
              </a:rPr>
              <a:t>‏۳-۶ ماه</a:t>
            </a:r>
          </a:p>
        </p:txBody>
      </p:sp>
      <p:sp>
        <p:nvSpPr>
          <p:cNvPr id="11" name="">
            <a:extLst xmlns:a="http://schemas.openxmlformats.org/drawingml/2006/main">
              <a:ext uri="{FF2B5EF4-FFF2-40B4-BE49-F238E27FC236}">
                <a16:creationId xmlns:a16="http://schemas.microsoft.com/office/drawing/2014/main" id="{2E9726E0-7392-45F2-9F14-5C57698F7E6B}"/>
              </a:ext>
            </a:extLst>
          </p:cNvPr>
          <p:cNvSpPr>
            <a:spLocks xmlns:a="http://schemas.openxmlformats.org/drawingml/2006/main" noGrp="1"/>
          </p:cNvSpPr>
          <p:nvPr/>
        </p:nvSpPr>
        <p:spPr>
          <a:xfrm xmlns:a="http://schemas.openxmlformats.org/drawingml/2006/main">
            <a:off x="2686050" y="265747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86D0EE35-A9F8-4570-BB07-0EAE88205CBF}"/>
              </a:ext>
            </a:extLst>
          </p:cNvPr>
          <p:cNvSpPr>
            <a:spLocks xmlns:a="http://schemas.openxmlformats.org/drawingml/2006/main" noGrp="1"/>
          </p:cNvSpPr>
          <p:nvPr/>
        </p:nvSpPr>
        <p:spPr>
          <a:xfrm xmlns:a="http://schemas.openxmlformats.org/drawingml/2006/main">
            <a:off x="2876550" y="278130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0">
                <a:solidFill>
                  <a:srgbClr val="111111"/>
                </a:solidFill>
                <a:latin typeface="Tahoma"/>
                <a:ea typeface="Tahoma"/>
                <a:cs typeface="Tahoma"/>
              </a:defRPr>
            </a:pPr>
            <a:r>
              <a:rPr sz="1275" b="0">
                <a:solidFill>
                  <a:srgbClr val="111111"/>
                </a:solidFill>
                <a:latin typeface="Tahoma"/>
                <a:ea typeface="Tahoma"/>
                <a:cs typeface="Tahoma"/>
              </a:rPr>
              <a:t>‏پاسپورت رول، استخراج عیب، تحلیل ریشه، خط مبنای پیش‌بینی</a:t>
            </a:r>
          </a:p>
        </p:txBody>
      </p:sp>
      <p:sp>
        <p:nvSpPr>
          <p:cNvPr id="13" name="">
            <a:extLst xmlns:a="http://schemas.openxmlformats.org/drawingml/2006/main">
              <a:ext uri="{FF2B5EF4-FFF2-40B4-BE49-F238E27FC236}">
                <a16:creationId xmlns:a16="http://schemas.microsoft.com/office/drawing/2014/main" id="{57DE367B-B86D-45A4-B851-2A22BC4947BB}"/>
              </a:ext>
            </a:extLst>
          </p:cNvPr>
          <p:cNvSpPr>
            <a:spLocks xmlns:a="http://schemas.openxmlformats.org/drawingml/2006/main" noGrp="1"/>
          </p:cNvSpPr>
          <p:nvPr/>
        </p:nvSpPr>
        <p:spPr>
          <a:xfrm xmlns:a="http://schemas.openxmlformats.org/drawingml/2006/main">
            <a:off x="876300" y="336232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060143-F87B-4B50-9AEB-B73FF0E17269}"/>
              </a:ext>
            </a:extLst>
          </p:cNvPr>
          <p:cNvSpPr>
            <a:spLocks xmlns:a="http://schemas.openxmlformats.org/drawingml/2006/main" noGrp="1"/>
          </p:cNvSpPr>
          <p:nvPr/>
        </p:nvSpPr>
        <p:spPr>
          <a:xfrm xmlns:a="http://schemas.openxmlformats.org/drawingml/2006/main">
            <a:off x="1047750" y="350520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Tahoma"/>
                <a:ea typeface="Tahoma"/>
                <a:cs typeface="Tahoma"/>
              </a:defRPr>
            </a:pPr>
            <a:r>
              <a:rPr sz="1200" b="1">
                <a:solidFill>
                  <a:srgbClr val="FFFFFF"/>
                </a:solidFill>
                <a:latin typeface="Tahoma"/>
                <a:ea typeface="Tahoma"/>
                <a:cs typeface="Tahoma"/>
              </a:rPr>
              <a:t>‏۶-۱۲ ماه</a:t>
            </a:r>
          </a:p>
        </p:txBody>
      </p:sp>
      <p:sp>
        <p:nvSpPr>
          <p:cNvPr id="15" name="">
            <a:extLst xmlns:a="http://schemas.openxmlformats.org/drawingml/2006/main">
              <a:ext uri="{FF2B5EF4-FFF2-40B4-BE49-F238E27FC236}">
                <a16:creationId xmlns:a16="http://schemas.microsoft.com/office/drawing/2014/main" id="{76851416-DCB8-458B-870C-996E41E6745B}"/>
              </a:ext>
            </a:extLst>
          </p:cNvPr>
          <p:cNvSpPr>
            <a:spLocks xmlns:a="http://schemas.openxmlformats.org/drawingml/2006/main" noGrp="1"/>
          </p:cNvSpPr>
          <p:nvPr/>
        </p:nvSpPr>
        <p:spPr>
          <a:xfrm xmlns:a="http://schemas.openxmlformats.org/drawingml/2006/main">
            <a:off x="2686050" y="336232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8344B409-5A71-4471-8A84-16FBC05B0F9E}"/>
              </a:ext>
            </a:extLst>
          </p:cNvPr>
          <p:cNvSpPr>
            <a:spLocks xmlns:a="http://schemas.openxmlformats.org/drawingml/2006/main" noGrp="1"/>
          </p:cNvSpPr>
          <p:nvPr/>
        </p:nvSpPr>
        <p:spPr>
          <a:xfrm xmlns:a="http://schemas.openxmlformats.org/drawingml/2006/main">
            <a:off x="2876550" y="348615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0">
                <a:solidFill>
                  <a:srgbClr val="111111"/>
                </a:solidFill>
                <a:latin typeface="Tahoma"/>
                <a:ea typeface="Tahoma"/>
                <a:cs typeface="Tahoma"/>
              </a:defRPr>
            </a:pPr>
            <a:r>
              <a:rPr sz="1275" b="0">
                <a:solidFill>
                  <a:srgbClr val="111111"/>
                </a:solidFill>
                <a:latin typeface="Tahoma"/>
                <a:ea typeface="Tahoma"/>
                <a:cs typeface="Tahoma"/>
              </a:rPr>
              <a:t>‏ستون داده بین خطوط، دفترچه آزمایشگاه، اسناد تامین‌کننده، دستیار شکایت</a:t>
            </a:r>
          </a:p>
        </p:txBody>
      </p:sp>
      <p:sp>
        <p:nvSpPr>
          <p:cNvPr id="17" name="">
            <a:extLst xmlns:a="http://schemas.openxmlformats.org/drawingml/2006/main">
              <a:ext uri="{FF2B5EF4-FFF2-40B4-BE49-F238E27FC236}">
                <a16:creationId xmlns:a16="http://schemas.microsoft.com/office/drawing/2014/main" id="{2FD2DD49-C071-4986-BC33-11B9E0E70111}"/>
              </a:ext>
            </a:extLst>
          </p:cNvPr>
          <p:cNvSpPr>
            <a:spLocks xmlns:a="http://schemas.openxmlformats.org/drawingml/2006/main" noGrp="1"/>
          </p:cNvSpPr>
          <p:nvPr/>
        </p:nvSpPr>
        <p:spPr>
          <a:xfrm xmlns:a="http://schemas.openxmlformats.org/drawingml/2006/main">
            <a:off x="876300" y="406717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4BCBC4-7E45-4184-94CE-6F1133763F16}"/>
              </a:ext>
            </a:extLst>
          </p:cNvPr>
          <p:cNvSpPr>
            <a:spLocks xmlns:a="http://schemas.openxmlformats.org/drawingml/2006/main" noGrp="1"/>
          </p:cNvSpPr>
          <p:nvPr/>
        </p:nvSpPr>
        <p:spPr>
          <a:xfrm xmlns:a="http://schemas.openxmlformats.org/drawingml/2006/main">
            <a:off x="1047750" y="421005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Tahoma"/>
                <a:ea typeface="Tahoma"/>
                <a:cs typeface="Tahoma"/>
              </a:defRPr>
            </a:pPr>
            <a:r>
              <a:rPr sz="1200" b="1">
                <a:solidFill>
                  <a:srgbClr val="FFFFFF"/>
                </a:solidFill>
                <a:latin typeface="Tahoma"/>
                <a:ea typeface="Tahoma"/>
                <a:cs typeface="Tahoma"/>
              </a:rPr>
              <a:t>‏۱-۳ سال</a:t>
            </a:r>
          </a:p>
        </p:txBody>
      </p:sp>
      <p:sp>
        <p:nvSpPr>
          <p:cNvPr id="19" name="">
            <a:extLst xmlns:a="http://schemas.openxmlformats.org/drawingml/2006/main">
              <a:ext uri="{FF2B5EF4-FFF2-40B4-BE49-F238E27FC236}">
                <a16:creationId xmlns:a16="http://schemas.microsoft.com/office/drawing/2014/main" id="{13207312-7DDF-487F-B8E2-1D2B18BA94EF}"/>
              </a:ext>
            </a:extLst>
          </p:cNvPr>
          <p:cNvSpPr>
            <a:spLocks xmlns:a="http://schemas.openxmlformats.org/drawingml/2006/main" noGrp="1"/>
          </p:cNvSpPr>
          <p:nvPr/>
        </p:nvSpPr>
        <p:spPr>
          <a:xfrm xmlns:a="http://schemas.openxmlformats.org/drawingml/2006/main">
            <a:off x="2686050" y="406717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D41A2F8E-ED7F-4F88-BA4C-03103157631B}"/>
              </a:ext>
            </a:extLst>
          </p:cNvPr>
          <p:cNvSpPr>
            <a:spLocks xmlns:a="http://schemas.openxmlformats.org/drawingml/2006/main" noGrp="1"/>
          </p:cNvSpPr>
          <p:nvPr/>
        </p:nvSpPr>
        <p:spPr>
          <a:xfrm xmlns:a="http://schemas.openxmlformats.org/drawingml/2006/main">
            <a:off x="2876550" y="419100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0">
                <a:solidFill>
                  <a:srgbClr val="111111"/>
                </a:solidFill>
                <a:latin typeface="Tahoma"/>
                <a:ea typeface="Tahoma"/>
                <a:cs typeface="Tahoma"/>
              </a:defRPr>
            </a:pPr>
            <a:r>
              <a:rPr sz="1275" b="0">
                <a:solidFill>
                  <a:srgbClr val="111111"/>
                </a:solidFill>
                <a:latin typeface="Tahoma"/>
                <a:ea typeface="Tahoma"/>
                <a:cs typeface="Tahoma"/>
              </a:rPr>
              <a:t>‏کیفیت پیش‌بینانه، دستیار فرمولاسیون تحقیق‌وتوسعه، زمان‌بندی و هوشمندی قیمت‌دهی</a:t>
            </a:r>
          </a:p>
        </p:txBody>
      </p:sp>
      <p:sp>
        <p:nvSpPr>
          <p:cNvPr id="21" name="">
            <a:extLst xmlns:a="http://schemas.openxmlformats.org/drawingml/2006/main">
              <a:ext uri="{FF2B5EF4-FFF2-40B4-BE49-F238E27FC236}">
                <a16:creationId xmlns:a16="http://schemas.microsoft.com/office/drawing/2014/main" id="{FC06B14D-72D4-422F-8A8A-272E54593532}"/>
              </a:ext>
            </a:extLst>
          </p:cNvPr>
          <p:cNvSpPr>
            <a:spLocks xmlns:a="http://schemas.openxmlformats.org/drawingml/2006/main" noGrp="1"/>
          </p:cNvSpPr>
          <p:nvPr/>
        </p:nvSpPr>
        <p:spPr>
          <a:xfrm xmlns:a="http://schemas.openxmlformats.org/drawingml/2006/main">
            <a:off x="876300" y="4772025"/>
            <a:ext cx="1619250" cy="5143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80432A4-3D7B-46CB-900E-B5E035693E9F}"/>
              </a:ext>
            </a:extLst>
          </p:cNvPr>
          <p:cNvSpPr>
            <a:spLocks xmlns:a="http://schemas.openxmlformats.org/drawingml/2006/main" noGrp="1"/>
          </p:cNvSpPr>
          <p:nvPr/>
        </p:nvSpPr>
        <p:spPr>
          <a:xfrm xmlns:a="http://schemas.openxmlformats.org/drawingml/2006/main">
            <a:off x="1047750" y="4914900"/>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latin typeface="Tahoma"/>
                <a:ea typeface="Tahoma"/>
                <a:cs typeface="Tahoma"/>
              </a:defRPr>
            </a:pPr>
            <a:r>
              <a:rPr sz="1200" b="1">
                <a:solidFill>
                  <a:srgbClr val="FFFFFF"/>
                </a:solidFill>
                <a:latin typeface="Tahoma"/>
                <a:ea typeface="Tahoma"/>
                <a:cs typeface="Tahoma"/>
              </a:rPr>
              <a:t>‏۳-۵ سال</a:t>
            </a:r>
          </a:p>
        </p:txBody>
      </p:sp>
      <p:sp>
        <p:nvSpPr>
          <p:cNvPr id="23" name="">
            <a:extLst xmlns:a="http://schemas.openxmlformats.org/drawingml/2006/main">
              <a:ext uri="{FF2B5EF4-FFF2-40B4-BE49-F238E27FC236}">
                <a16:creationId xmlns:a16="http://schemas.microsoft.com/office/drawing/2014/main" id="{BD005F92-8199-4195-BE24-25C8276BCE4E}"/>
              </a:ext>
            </a:extLst>
          </p:cNvPr>
          <p:cNvSpPr>
            <a:spLocks xmlns:a="http://schemas.openxmlformats.org/drawingml/2006/main" noGrp="1"/>
          </p:cNvSpPr>
          <p:nvPr/>
        </p:nvSpPr>
        <p:spPr>
          <a:xfrm xmlns:a="http://schemas.openxmlformats.org/drawingml/2006/main">
            <a:off x="2686050" y="4772025"/>
            <a:ext cx="7810500" cy="5143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A3C5CDE1-D741-44F4-8A37-2E30DE5D1B03}"/>
              </a:ext>
            </a:extLst>
          </p:cNvPr>
          <p:cNvSpPr>
            <a:spLocks xmlns:a="http://schemas.openxmlformats.org/drawingml/2006/main" noGrp="1"/>
          </p:cNvSpPr>
          <p:nvPr/>
        </p:nvSpPr>
        <p:spPr>
          <a:xfrm xmlns:a="http://schemas.openxmlformats.org/drawingml/2006/main">
            <a:off x="2876550" y="4895850"/>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0">
                <a:solidFill>
                  <a:srgbClr val="111111"/>
                </a:solidFill>
                <a:latin typeface="Tahoma"/>
                <a:ea typeface="Tahoma"/>
                <a:cs typeface="Tahoma"/>
              </a:defRPr>
            </a:pPr>
            <a:r>
              <a:rPr sz="1275" b="0">
                <a:solidFill>
                  <a:srgbClr val="111111"/>
                </a:solidFill>
                <a:latin typeface="Tahoma"/>
                <a:ea typeface="Tahoma"/>
                <a:cs typeface="Tahoma"/>
              </a:rPr>
              <a:t>‏پلتفرم AI صنعتی، دوقلوهای دیجیتال، هوشمندی مواد/فرایند قابل پتنت</a:t>
            </a:r>
          </a:p>
        </p:txBody>
      </p:sp>
      <p:sp>
        <p:nvSpPr>
          <p:cNvPr id="25" name="">
            <a:extLst xmlns:a="http://schemas.openxmlformats.org/drawingml/2006/main">
              <a:ext uri="{FF2B5EF4-FFF2-40B4-BE49-F238E27FC236}">
                <a16:creationId xmlns:a16="http://schemas.microsoft.com/office/drawing/2014/main" id="{69991DAA-67A6-46EB-9D10-8AFCDB87E78E}"/>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26" name="">
            <a:extLst xmlns:a="http://schemas.openxmlformats.org/drawingml/2006/main">
              <a:ext uri="{FF2B5EF4-FFF2-40B4-BE49-F238E27FC236}">
                <a16:creationId xmlns:a16="http://schemas.microsoft.com/office/drawing/2014/main" id="{57FF15FA-3C30-4BB4-AAD7-B74FB7EF4F19}"/>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14</a:t>
            </a:r>
          </a:p>
        </p:txBody>
      </p:sp>
    </p:spTree>
    <p:extLst>
      <p:ext uri="{BB962C8B-B14F-4D97-AF65-F5344CB8AC3E}">
        <p14:creationId xmlns:p14="http://schemas.microsoft.com/office/powerpoint/2010/main" val="161310307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6767B8-58F4-44F0-8E84-0BEB8A20F68C}"/>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‏اولویت‌بندی</a:t>
            </a:r>
          </a:p>
        </p:txBody>
      </p:sp>
      <p:sp>
        <p:nvSpPr>
          <p:cNvPr id="2" name="">
            <a:extLst xmlns:a="http://schemas.openxmlformats.org/drawingml/2006/main">
              <a:ext uri="{FF2B5EF4-FFF2-40B4-BE49-F238E27FC236}">
                <a16:creationId xmlns:a16="http://schemas.microsoft.com/office/drawing/2014/main" id="{76BCF2D3-026D-4BA3-918F-D86F74A3F355}"/>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‏پروژه‌های برتر دارایی داده مشترک می‌سازند</a:t>
            </a:r>
          </a:p>
        </p:txBody>
      </p:sp>
      <p:sp>
        <p:nvSpPr>
          <p:cNvPr id="3" name="">
            <a:extLst xmlns:a="http://schemas.openxmlformats.org/drawingml/2006/main">
              <a:ext uri="{FF2B5EF4-FFF2-40B4-BE49-F238E27FC236}">
                <a16:creationId xmlns:a16="http://schemas.microsoft.com/office/drawing/2014/main" id="{7A39B5E2-E249-4C5B-BCF8-B21656A33A47}"/>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‏اولویت‌بندی ROI، زمان تا ارزش، ریسک، دیده‌شدن و خلق دانش را متوازن می‌کند.</a:t>
            </a:r>
          </a:p>
        </p:txBody>
      </p:sp>
      <p:sp>
        <p:nvSpPr>
          <p:cNvPr id="4" name="">
            <a:extLst xmlns:a="http://schemas.openxmlformats.org/drawingml/2006/main">
              <a:ext uri="{FF2B5EF4-FFF2-40B4-BE49-F238E27FC236}">
                <a16:creationId xmlns:a16="http://schemas.microsoft.com/office/drawing/2014/main" id="{7A57D974-1A7D-4A40-8CFD-0B5125309615}"/>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D8DB90D6-E6BF-4F73-9B70-C8F0BFEBF7F9}"/>
              </a:ext>
            </a:extLst>
          </p:cNvPr>
          <p:cNvSpPr>
            <a:spLocks xmlns:a="http://schemas.openxmlformats.org/drawingml/2006/main" noGrp="1"/>
          </p:cNvSpPr>
          <p:nvPr/>
        </p:nvSpPr>
        <p:spPr>
          <a:xfrm xmlns:a="http://schemas.openxmlformats.org/drawingml/2006/main">
            <a:off x="876300" y="2047875"/>
            <a:ext cx="85725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02A2050C-2510-4F4C-8F63-2F72FF27EB76}"/>
              </a:ext>
            </a:extLst>
          </p:cNvPr>
          <p:cNvSpPr>
            <a:spLocks xmlns:a="http://schemas.openxmlformats.org/drawingml/2006/main" noGrp="1"/>
          </p:cNvSpPr>
          <p:nvPr/>
        </p:nvSpPr>
        <p:spPr>
          <a:xfrm xmlns:a="http://schemas.openxmlformats.org/drawingml/2006/main">
            <a:off x="971550" y="21240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‏رتبه</a:t>
            </a:r>
          </a:p>
        </p:txBody>
      </p:sp>
      <p:sp>
        <p:nvSpPr>
          <p:cNvPr id="7" name="">
            <a:extLst xmlns:a="http://schemas.openxmlformats.org/drawingml/2006/main">
              <a:ext uri="{FF2B5EF4-FFF2-40B4-BE49-F238E27FC236}">
                <a16:creationId xmlns:a16="http://schemas.microsoft.com/office/drawing/2014/main" id="{E7FA92C3-894E-423E-9D32-B5965ACFCE4B}"/>
              </a:ext>
            </a:extLst>
          </p:cNvPr>
          <p:cNvSpPr>
            <a:spLocks xmlns:a="http://schemas.openxmlformats.org/drawingml/2006/main" noGrp="1"/>
          </p:cNvSpPr>
          <p:nvPr/>
        </p:nvSpPr>
        <p:spPr>
          <a:xfrm xmlns:a="http://schemas.openxmlformats.org/drawingml/2006/main">
            <a:off x="1733550" y="2047875"/>
            <a:ext cx="495300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3B172C3A-F79E-4C73-B144-DFB9C30EDB35}"/>
              </a:ext>
            </a:extLst>
          </p:cNvPr>
          <p:cNvSpPr>
            <a:spLocks xmlns:a="http://schemas.openxmlformats.org/drawingml/2006/main" noGrp="1"/>
          </p:cNvSpPr>
          <p:nvPr/>
        </p:nvSpPr>
        <p:spPr>
          <a:xfrm xmlns:a="http://schemas.openxmlformats.org/drawingml/2006/main">
            <a:off x="1828800" y="21240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‏پروژه</a:t>
            </a:r>
          </a:p>
        </p:txBody>
      </p:sp>
      <p:sp>
        <p:nvSpPr>
          <p:cNvPr id="9" name="">
            <a:extLst xmlns:a="http://schemas.openxmlformats.org/drawingml/2006/main">
              <a:ext uri="{FF2B5EF4-FFF2-40B4-BE49-F238E27FC236}">
                <a16:creationId xmlns:a16="http://schemas.microsoft.com/office/drawing/2014/main" id="{E447E23D-8193-4219-9110-877BAFD3D452}"/>
              </a:ext>
            </a:extLst>
          </p:cNvPr>
          <p:cNvSpPr>
            <a:spLocks xmlns:a="http://schemas.openxmlformats.org/drawingml/2006/main" noGrp="1"/>
          </p:cNvSpPr>
          <p:nvPr/>
        </p:nvSpPr>
        <p:spPr>
          <a:xfrm xmlns:a="http://schemas.openxmlformats.org/drawingml/2006/main">
            <a:off x="6686550" y="2047875"/>
            <a:ext cx="114300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B2428DE9-5001-452B-8182-29F890AF5B18}"/>
              </a:ext>
            </a:extLst>
          </p:cNvPr>
          <p:cNvSpPr>
            <a:spLocks xmlns:a="http://schemas.openxmlformats.org/drawingml/2006/main" noGrp="1"/>
          </p:cNvSpPr>
          <p:nvPr/>
        </p:nvSpPr>
        <p:spPr>
          <a:xfrm xmlns:a="http://schemas.openxmlformats.org/drawingml/2006/main">
            <a:off x="6781800" y="21240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‏امتیاز</a:t>
            </a:r>
          </a:p>
        </p:txBody>
      </p:sp>
      <p:sp>
        <p:nvSpPr>
          <p:cNvPr id="11" name="">
            <a:extLst xmlns:a="http://schemas.openxmlformats.org/drawingml/2006/main">
              <a:ext uri="{FF2B5EF4-FFF2-40B4-BE49-F238E27FC236}">
                <a16:creationId xmlns:a16="http://schemas.microsoft.com/office/drawing/2014/main" id="{1601D717-233A-47B5-8739-9696A1F5C1BB}"/>
              </a:ext>
            </a:extLst>
          </p:cNvPr>
          <p:cNvSpPr>
            <a:spLocks xmlns:a="http://schemas.openxmlformats.org/drawingml/2006/main" noGrp="1"/>
          </p:cNvSpPr>
          <p:nvPr/>
        </p:nvSpPr>
        <p:spPr>
          <a:xfrm xmlns:a="http://schemas.openxmlformats.org/drawingml/2006/main">
            <a:off x="7829550" y="2047875"/>
            <a:ext cx="257175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21F9946B-B949-497D-9C1F-5892180F6644}"/>
              </a:ext>
            </a:extLst>
          </p:cNvPr>
          <p:cNvSpPr>
            <a:spLocks xmlns:a="http://schemas.openxmlformats.org/drawingml/2006/main" noGrp="1"/>
          </p:cNvSpPr>
          <p:nvPr/>
        </p:nvSpPr>
        <p:spPr>
          <a:xfrm xmlns:a="http://schemas.openxmlformats.org/drawingml/2006/main">
            <a:off x="7924800" y="21240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‏توصیه</a:t>
            </a:r>
          </a:p>
        </p:txBody>
      </p:sp>
      <p:sp>
        <p:nvSpPr>
          <p:cNvPr id="13" name="">
            <a:extLst xmlns:a="http://schemas.openxmlformats.org/drawingml/2006/main">
              <a:ext uri="{FF2B5EF4-FFF2-40B4-BE49-F238E27FC236}">
                <a16:creationId xmlns:a16="http://schemas.microsoft.com/office/drawing/2014/main" id="{D110A950-EFE0-4BD5-A62D-E91CF9EE0259}"/>
              </a:ext>
            </a:extLst>
          </p:cNvPr>
          <p:cNvSpPr>
            <a:spLocks xmlns:a="http://schemas.openxmlformats.org/drawingml/2006/main" noGrp="1"/>
          </p:cNvSpPr>
          <p:nvPr/>
        </p:nvSpPr>
        <p:spPr>
          <a:xfrm xmlns:a="http://schemas.openxmlformats.org/drawingml/2006/main">
            <a:off x="876300" y="2543175"/>
            <a:ext cx="857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ED00B658-EF81-4531-8A76-EB68EC018870}"/>
              </a:ext>
            </a:extLst>
          </p:cNvPr>
          <p:cNvSpPr>
            <a:spLocks xmlns:a="http://schemas.openxmlformats.org/drawingml/2006/main" noGrp="1"/>
          </p:cNvSpPr>
          <p:nvPr/>
        </p:nvSpPr>
        <p:spPr>
          <a:xfrm xmlns:a="http://schemas.openxmlformats.org/drawingml/2006/main">
            <a:off x="971550" y="26193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‏۱</a:t>
            </a:r>
          </a:p>
        </p:txBody>
      </p:sp>
      <p:sp>
        <p:nvSpPr>
          <p:cNvPr id="15" name="">
            <a:extLst xmlns:a="http://schemas.openxmlformats.org/drawingml/2006/main">
              <a:ext uri="{FF2B5EF4-FFF2-40B4-BE49-F238E27FC236}">
                <a16:creationId xmlns:a16="http://schemas.microsoft.com/office/drawing/2014/main" id="{94B31875-F3C8-40A2-A286-010738990B1A}"/>
              </a:ext>
            </a:extLst>
          </p:cNvPr>
          <p:cNvSpPr>
            <a:spLocks xmlns:a="http://schemas.openxmlformats.org/drawingml/2006/main" noGrp="1"/>
          </p:cNvSpPr>
          <p:nvPr/>
        </p:nvSpPr>
        <p:spPr>
          <a:xfrm xmlns:a="http://schemas.openxmlformats.org/drawingml/2006/main">
            <a:off x="1733550" y="2543175"/>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00416A9B-292F-4932-B44A-3E2AD5FA2EA8}"/>
              </a:ext>
            </a:extLst>
          </p:cNvPr>
          <p:cNvSpPr>
            <a:spLocks xmlns:a="http://schemas.openxmlformats.org/drawingml/2006/main" noGrp="1"/>
          </p:cNvSpPr>
          <p:nvPr/>
        </p:nvSpPr>
        <p:spPr>
          <a:xfrm xmlns:a="http://schemas.openxmlformats.org/drawingml/2006/main">
            <a:off x="1828800" y="2619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‏هوشمندی کیفیت پوشش/بسته‌بندی</a:t>
            </a:r>
          </a:p>
        </p:txBody>
      </p:sp>
      <p:sp>
        <p:nvSpPr>
          <p:cNvPr id="17" name="">
            <a:extLst xmlns:a="http://schemas.openxmlformats.org/drawingml/2006/main">
              <a:ext uri="{FF2B5EF4-FFF2-40B4-BE49-F238E27FC236}">
                <a16:creationId xmlns:a16="http://schemas.microsoft.com/office/drawing/2014/main" id="{1631F6D5-468C-4CCC-9C24-AF01D687CC6F}"/>
              </a:ext>
            </a:extLst>
          </p:cNvPr>
          <p:cNvSpPr>
            <a:spLocks xmlns:a="http://schemas.openxmlformats.org/drawingml/2006/main" noGrp="1"/>
          </p:cNvSpPr>
          <p:nvPr/>
        </p:nvSpPr>
        <p:spPr>
          <a:xfrm xmlns:a="http://schemas.openxmlformats.org/drawingml/2006/main">
            <a:off x="6686550" y="2543175"/>
            <a:ext cx="114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26294856-A046-48D3-AE51-DCF6CB6340C3}"/>
              </a:ext>
            </a:extLst>
          </p:cNvPr>
          <p:cNvSpPr>
            <a:spLocks xmlns:a="http://schemas.openxmlformats.org/drawingml/2006/main" noGrp="1"/>
          </p:cNvSpPr>
          <p:nvPr/>
        </p:nvSpPr>
        <p:spPr>
          <a:xfrm xmlns:a="http://schemas.openxmlformats.org/drawingml/2006/main">
            <a:off x="6781800" y="26193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‏۴.۷</a:t>
            </a:r>
          </a:p>
        </p:txBody>
      </p:sp>
      <p:sp>
        <p:nvSpPr>
          <p:cNvPr id="19" name="">
            <a:extLst xmlns:a="http://schemas.openxmlformats.org/drawingml/2006/main">
              <a:ext uri="{FF2B5EF4-FFF2-40B4-BE49-F238E27FC236}">
                <a16:creationId xmlns:a16="http://schemas.microsoft.com/office/drawing/2014/main" id="{5E2B0179-F773-4B4F-A105-049C9F4CA8FF}"/>
              </a:ext>
            </a:extLst>
          </p:cNvPr>
          <p:cNvSpPr>
            <a:spLocks xmlns:a="http://schemas.openxmlformats.org/drawingml/2006/main" noGrp="1"/>
          </p:cNvSpPr>
          <p:nvPr/>
        </p:nvSpPr>
        <p:spPr>
          <a:xfrm xmlns:a="http://schemas.openxmlformats.org/drawingml/2006/main">
            <a:off x="7829550" y="2543175"/>
            <a:ext cx="2571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ED04D7FD-F5B6-4D51-8A21-DA1B78FF7551}"/>
              </a:ext>
            </a:extLst>
          </p:cNvPr>
          <p:cNvSpPr>
            <a:spLocks xmlns:a="http://schemas.openxmlformats.org/drawingml/2006/main" noGrp="1"/>
          </p:cNvSpPr>
          <p:nvPr/>
        </p:nvSpPr>
        <p:spPr>
          <a:xfrm xmlns:a="http://schemas.openxmlformats.org/drawingml/2006/main">
            <a:off x="7924800" y="26193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‏شروع فوری</a:t>
            </a:r>
          </a:p>
        </p:txBody>
      </p:sp>
      <p:sp>
        <p:nvSpPr>
          <p:cNvPr id="21" name="">
            <a:extLst xmlns:a="http://schemas.openxmlformats.org/drawingml/2006/main">
              <a:ext uri="{FF2B5EF4-FFF2-40B4-BE49-F238E27FC236}">
                <a16:creationId xmlns:a16="http://schemas.microsoft.com/office/drawing/2014/main" id="{977BB0EC-62B6-4D81-A292-0D6E684E042E}"/>
              </a:ext>
            </a:extLst>
          </p:cNvPr>
          <p:cNvSpPr>
            <a:spLocks xmlns:a="http://schemas.openxmlformats.org/drawingml/2006/main" noGrp="1"/>
          </p:cNvSpPr>
          <p:nvPr/>
        </p:nvSpPr>
        <p:spPr>
          <a:xfrm xmlns:a="http://schemas.openxmlformats.org/drawingml/2006/main">
            <a:off x="876300" y="3038475"/>
            <a:ext cx="857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0B9D3273-3E2B-420A-9CEC-89C19F49C627}"/>
              </a:ext>
            </a:extLst>
          </p:cNvPr>
          <p:cNvSpPr>
            <a:spLocks xmlns:a="http://schemas.openxmlformats.org/drawingml/2006/main" noGrp="1"/>
          </p:cNvSpPr>
          <p:nvPr/>
        </p:nvSpPr>
        <p:spPr>
          <a:xfrm xmlns:a="http://schemas.openxmlformats.org/drawingml/2006/main">
            <a:off x="971550" y="31146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‏۲</a:t>
            </a:r>
          </a:p>
        </p:txBody>
      </p:sp>
      <p:sp>
        <p:nvSpPr>
          <p:cNvPr id="23" name="">
            <a:extLst xmlns:a="http://schemas.openxmlformats.org/drawingml/2006/main">
              <a:ext uri="{FF2B5EF4-FFF2-40B4-BE49-F238E27FC236}">
                <a16:creationId xmlns:a16="http://schemas.microsoft.com/office/drawing/2014/main" id="{91B796D3-AE90-48C4-9541-ED316DAF08C0}"/>
              </a:ext>
            </a:extLst>
          </p:cNvPr>
          <p:cNvSpPr>
            <a:spLocks xmlns:a="http://schemas.openxmlformats.org/drawingml/2006/main" noGrp="1"/>
          </p:cNvSpPr>
          <p:nvPr/>
        </p:nvSpPr>
        <p:spPr>
          <a:xfrm xmlns:a="http://schemas.openxmlformats.org/drawingml/2006/main">
            <a:off x="1733550" y="3038475"/>
            <a:ext cx="495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7E21B0F6-A4A9-4E87-A398-7F872CBA5294}"/>
              </a:ext>
            </a:extLst>
          </p:cNvPr>
          <p:cNvSpPr>
            <a:spLocks xmlns:a="http://schemas.openxmlformats.org/drawingml/2006/main" noGrp="1"/>
          </p:cNvSpPr>
          <p:nvPr/>
        </p:nvSpPr>
        <p:spPr>
          <a:xfrm xmlns:a="http://schemas.openxmlformats.org/drawingml/2006/main">
            <a:off x="1828800" y="31146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‏پاسپورت کیفیت سطح رول</a:t>
            </a:r>
          </a:p>
        </p:txBody>
      </p:sp>
      <p:sp>
        <p:nvSpPr>
          <p:cNvPr id="25" name="">
            <a:extLst xmlns:a="http://schemas.openxmlformats.org/drawingml/2006/main">
              <a:ext uri="{FF2B5EF4-FFF2-40B4-BE49-F238E27FC236}">
                <a16:creationId xmlns:a16="http://schemas.microsoft.com/office/drawing/2014/main" id="{DC605649-A05B-4AC1-BC63-4101D5648E28}"/>
              </a:ext>
            </a:extLst>
          </p:cNvPr>
          <p:cNvSpPr>
            <a:spLocks xmlns:a="http://schemas.openxmlformats.org/drawingml/2006/main" noGrp="1"/>
          </p:cNvSpPr>
          <p:nvPr/>
        </p:nvSpPr>
        <p:spPr>
          <a:xfrm xmlns:a="http://schemas.openxmlformats.org/drawingml/2006/main">
            <a:off x="6686550" y="3038475"/>
            <a:ext cx="114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5B236C93-D3EE-4DE7-A886-6404F10B243E}"/>
              </a:ext>
            </a:extLst>
          </p:cNvPr>
          <p:cNvSpPr>
            <a:spLocks xmlns:a="http://schemas.openxmlformats.org/drawingml/2006/main" noGrp="1"/>
          </p:cNvSpPr>
          <p:nvPr/>
        </p:nvSpPr>
        <p:spPr>
          <a:xfrm xmlns:a="http://schemas.openxmlformats.org/drawingml/2006/main">
            <a:off x="6781800" y="31146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‏۴.۶</a:t>
            </a:r>
          </a:p>
        </p:txBody>
      </p:sp>
      <p:sp>
        <p:nvSpPr>
          <p:cNvPr id="27" name="">
            <a:extLst xmlns:a="http://schemas.openxmlformats.org/drawingml/2006/main">
              <a:ext uri="{FF2B5EF4-FFF2-40B4-BE49-F238E27FC236}">
                <a16:creationId xmlns:a16="http://schemas.microsoft.com/office/drawing/2014/main" id="{C76FD031-E8DA-4EC4-9956-8193DFBBBEB1}"/>
              </a:ext>
            </a:extLst>
          </p:cNvPr>
          <p:cNvSpPr>
            <a:spLocks xmlns:a="http://schemas.openxmlformats.org/drawingml/2006/main" noGrp="1"/>
          </p:cNvSpPr>
          <p:nvPr/>
        </p:nvSpPr>
        <p:spPr>
          <a:xfrm xmlns:a="http://schemas.openxmlformats.org/drawingml/2006/main">
            <a:off x="7829550" y="3038475"/>
            <a:ext cx="25717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36880185-2C9D-424B-A005-784CF7F595EF}"/>
              </a:ext>
            </a:extLst>
          </p:cNvPr>
          <p:cNvSpPr>
            <a:spLocks xmlns:a="http://schemas.openxmlformats.org/drawingml/2006/main" noGrp="1"/>
          </p:cNvSpPr>
          <p:nvPr/>
        </p:nvSpPr>
        <p:spPr>
          <a:xfrm xmlns:a="http://schemas.openxmlformats.org/drawingml/2006/main">
            <a:off x="7924800" y="31146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‏ساخت در پایلوت</a:t>
            </a:r>
          </a:p>
        </p:txBody>
      </p:sp>
      <p:sp>
        <p:nvSpPr>
          <p:cNvPr id="29" name="">
            <a:extLst xmlns:a="http://schemas.openxmlformats.org/drawingml/2006/main">
              <a:ext uri="{FF2B5EF4-FFF2-40B4-BE49-F238E27FC236}">
                <a16:creationId xmlns:a16="http://schemas.microsoft.com/office/drawing/2014/main" id="{8527D5FD-3CF3-4C7B-8AC0-A1E8E39190F9}"/>
              </a:ext>
            </a:extLst>
          </p:cNvPr>
          <p:cNvSpPr>
            <a:spLocks xmlns:a="http://schemas.openxmlformats.org/drawingml/2006/main" noGrp="1"/>
          </p:cNvSpPr>
          <p:nvPr/>
        </p:nvSpPr>
        <p:spPr>
          <a:xfrm xmlns:a="http://schemas.openxmlformats.org/drawingml/2006/main">
            <a:off x="876300" y="3533775"/>
            <a:ext cx="857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9E66FA97-DF89-4928-A3B7-E56E20030C62}"/>
              </a:ext>
            </a:extLst>
          </p:cNvPr>
          <p:cNvSpPr>
            <a:spLocks xmlns:a="http://schemas.openxmlformats.org/drawingml/2006/main" noGrp="1"/>
          </p:cNvSpPr>
          <p:nvPr/>
        </p:nvSpPr>
        <p:spPr>
          <a:xfrm xmlns:a="http://schemas.openxmlformats.org/drawingml/2006/main">
            <a:off x="971550" y="36099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‏۳</a:t>
            </a:r>
          </a:p>
        </p:txBody>
      </p:sp>
      <p:sp>
        <p:nvSpPr>
          <p:cNvPr id="31" name="">
            <a:extLst xmlns:a="http://schemas.openxmlformats.org/drawingml/2006/main">
              <a:ext uri="{FF2B5EF4-FFF2-40B4-BE49-F238E27FC236}">
                <a16:creationId xmlns:a16="http://schemas.microsoft.com/office/drawing/2014/main" id="{75AE425E-CBB1-4D25-9523-F895769F94C7}"/>
              </a:ext>
            </a:extLst>
          </p:cNvPr>
          <p:cNvSpPr>
            <a:spLocks xmlns:a="http://schemas.openxmlformats.org/drawingml/2006/main" noGrp="1"/>
          </p:cNvSpPr>
          <p:nvPr/>
        </p:nvSpPr>
        <p:spPr>
          <a:xfrm xmlns:a="http://schemas.openxmlformats.org/drawingml/2006/main">
            <a:off x="1733550" y="3533775"/>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67DC2E89-E853-47AA-B185-51A1D6C2A857}"/>
              </a:ext>
            </a:extLst>
          </p:cNvPr>
          <p:cNvSpPr>
            <a:spLocks xmlns:a="http://schemas.openxmlformats.org/drawingml/2006/main" noGrp="1"/>
          </p:cNvSpPr>
          <p:nvPr/>
        </p:nvSpPr>
        <p:spPr>
          <a:xfrm xmlns:a="http://schemas.openxmlformats.org/drawingml/2006/main">
            <a:off x="1828800" y="36099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‏گراف دانش تحقیق‌وتوسعه</a:t>
            </a:r>
          </a:p>
        </p:txBody>
      </p:sp>
      <p:sp>
        <p:nvSpPr>
          <p:cNvPr id="33" name="">
            <a:extLst xmlns:a="http://schemas.openxmlformats.org/drawingml/2006/main">
              <a:ext uri="{FF2B5EF4-FFF2-40B4-BE49-F238E27FC236}">
                <a16:creationId xmlns:a16="http://schemas.microsoft.com/office/drawing/2014/main" id="{9161E66B-4752-4E87-A63C-FDEFABAAFD7B}"/>
              </a:ext>
            </a:extLst>
          </p:cNvPr>
          <p:cNvSpPr>
            <a:spLocks xmlns:a="http://schemas.openxmlformats.org/drawingml/2006/main" noGrp="1"/>
          </p:cNvSpPr>
          <p:nvPr/>
        </p:nvSpPr>
        <p:spPr>
          <a:xfrm xmlns:a="http://schemas.openxmlformats.org/drawingml/2006/main">
            <a:off x="6686550" y="3533775"/>
            <a:ext cx="114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FE907285-0C26-4242-8B42-9FC73AC3FE10}"/>
              </a:ext>
            </a:extLst>
          </p:cNvPr>
          <p:cNvSpPr>
            <a:spLocks xmlns:a="http://schemas.openxmlformats.org/drawingml/2006/main" noGrp="1"/>
          </p:cNvSpPr>
          <p:nvPr/>
        </p:nvSpPr>
        <p:spPr>
          <a:xfrm xmlns:a="http://schemas.openxmlformats.org/drawingml/2006/main">
            <a:off x="6781800" y="36099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‏۴.۵</a:t>
            </a:r>
          </a:p>
        </p:txBody>
      </p:sp>
      <p:sp>
        <p:nvSpPr>
          <p:cNvPr id="35" name="">
            <a:extLst xmlns:a="http://schemas.openxmlformats.org/drawingml/2006/main">
              <a:ext uri="{FF2B5EF4-FFF2-40B4-BE49-F238E27FC236}">
                <a16:creationId xmlns:a16="http://schemas.microsoft.com/office/drawing/2014/main" id="{368F379E-2227-497F-81CE-D18F3B96C206}"/>
              </a:ext>
            </a:extLst>
          </p:cNvPr>
          <p:cNvSpPr>
            <a:spLocks xmlns:a="http://schemas.openxmlformats.org/drawingml/2006/main" noGrp="1"/>
          </p:cNvSpPr>
          <p:nvPr/>
        </p:nvSpPr>
        <p:spPr>
          <a:xfrm xmlns:a="http://schemas.openxmlformats.org/drawingml/2006/main">
            <a:off x="7829550" y="3533775"/>
            <a:ext cx="2571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F13E58E3-E611-4F31-8D41-CAB605B7CE11}"/>
              </a:ext>
            </a:extLst>
          </p:cNvPr>
          <p:cNvSpPr>
            <a:spLocks xmlns:a="http://schemas.openxmlformats.org/drawingml/2006/main" noGrp="1"/>
          </p:cNvSpPr>
          <p:nvPr/>
        </p:nvSpPr>
        <p:spPr>
          <a:xfrm xmlns:a="http://schemas.openxmlformats.org/drawingml/2006/main">
            <a:off x="7924800" y="36099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‏شروع موازی</a:t>
            </a:r>
          </a:p>
        </p:txBody>
      </p:sp>
      <p:sp>
        <p:nvSpPr>
          <p:cNvPr id="37" name="">
            <a:extLst xmlns:a="http://schemas.openxmlformats.org/drawingml/2006/main">
              <a:ext uri="{FF2B5EF4-FFF2-40B4-BE49-F238E27FC236}">
                <a16:creationId xmlns:a16="http://schemas.microsoft.com/office/drawing/2014/main" id="{9E551B31-40F6-4FAC-84BC-9A8D6C1298BA}"/>
              </a:ext>
            </a:extLst>
          </p:cNvPr>
          <p:cNvSpPr>
            <a:spLocks xmlns:a="http://schemas.openxmlformats.org/drawingml/2006/main" noGrp="1"/>
          </p:cNvSpPr>
          <p:nvPr/>
        </p:nvSpPr>
        <p:spPr>
          <a:xfrm xmlns:a="http://schemas.openxmlformats.org/drawingml/2006/main">
            <a:off x="876300" y="4029075"/>
            <a:ext cx="857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CCD80231-669A-4E43-AAF0-EDFC02267269}"/>
              </a:ext>
            </a:extLst>
          </p:cNvPr>
          <p:cNvSpPr>
            <a:spLocks xmlns:a="http://schemas.openxmlformats.org/drawingml/2006/main" noGrp="1"/>
          </p:cNvSpPr>
          <p:nvPr/>
        </p:nvSpPr>
        <p:spPr>
          <a:xfrm xmlns:a="http://schemas.openxmlformats.org/drawingml/2006/main">
            <a:off x="971550" y="41052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‏۴</a:t>
            </a:r>
          </a:p>
        </p:txBody>
      </p:sp>
      <p:sp>
        <p:nvSpPr>
          <p:cNvPr id="39" name="">
            <a:extLst xmlns:a="http://schemas.openxmlformats.org/drawingml/2006/main">
              <a:ext uri="{FF2B5EF4-FFF2-40B4-BE49-F238E27FC236}">
                <a16:creationId xmlns:a16="http://schemas.microsoft.com/office/drawing/2014/main" id="{994BC14D-8612-4222-AD0A-18648C533AA5}"/>
              </a:ext>
            </a:extLst>
          </p:cNvPr>
          <p:cNvSpPr>
            <a:spLocks xmlns:a="http://schemas.openxmlformats.org/drawingml/2006/main" noGrp="1"/>
          </p:cNvSpPr>
          <p:nvPr/>
        </p:nvSpPr>
        <p:spPr>
          <a:xfrm xmlns:a="http://schemas.openxmlformats.org/drawingml/2006/main">
            <a:off x="1733550" y="4029075"/>
            <a:ext cx="495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45D3C25F-5CB2-4823-A926-CF7AB3FA2524}"/>
              </a:ext>
            </a:extLst>
          </p:cNvPr>
          <p:cNvSpPr>
            <a:spLocks xmlns:a="http://schemas.openxmlformats.org/drawingml/2006/main" noGrp="1"/>
          </p:cNvSpPr>
          <p:nvPr/>
        </p:nvSpPr>
        <p:spPr>
          <a:xfrm xmlns:a="http://schemas.openxmlformats.org/drawingml/2006/main">
            <a:off x="1828800" y="4105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‏دستیار شکایت/ریشه‌یابی</a:t>
            </a:r>
          </a:p>
        </p:txBody>
      </p:sp>
      <p:sp>
        <p:nvSpPr>
          <p:cNvPr id="41" name="">
            <a:extLst xmlns:a="http://schemas.openxmlformats.org/drawingml/2006/main">
              <a:ext uri="{FF2B5EF4-FFF2-40B4-BE49-F238E27FC236}">
                <a16:creationId xmlns:a16="http://schemas.microsoft.com/office/drawing/2014/main" id="{6045FCFD-BDD2-4A8D-8C10-7DE7F7CE697D}"/>
              </a:ext>
            </a:extLst>
          </p:cNvPr>
          <p:cNvSpPr>
            <a:spLocks xmlns:a="http://schemas.openxmlformats.org/drawingml/2006/main" noGrp="1"/>
          </p:cNvSpPr>
          <p:nvPr/>
        </p:nvSpPr>
        <p:spPr>
          <a:xfrm xmlns:a="http://schemas.openxmlformats.org/drawingml/2006/main">
            <a:off x="6686550" y="4029075"/>
            <a:ext cx="114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76151B07-DA34-4585-A033-7C17C6ED8B6C}"/>
              </a:ext>
            </a:extLst>
          </p:cNvPr>
          <p:cNvSpPr>
            <a:spLocks xmlns:a="http://schemas.openxmlformats.org/drawingml/2006/main" noGrp="1"/>
          </p:cNvSpPr>
          <p:nvPr/>
        </p:nvSpPr>
        <p:spPr>
          <a:xfrm xmlns:a="http://schemas.openxmlformats.org/drawingml/2006/main">
            <a:off x="6781800" y="41052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‏۴.۳</a:t>
            </a:r>
          </a:p>
        </p:txBody>
      </p:sp>
      <p:sp>
        <p:nvSpPr>
          <p:cNvPr id="43" name="">
            <a:extLst xmlns:a="http://schemas.openxmlformats.org/drawingml/2006/main">
              <a:ext uri="{FF2B5EF4-FFF2-40B4-BE49-F238E27FC236}">
                <a16:creationId xmlns:a16="http://schemas.microsoft.com/office/drawing/2014/main" id="{1AAC7538-980B-4D73-B360-46300BA759D3}"/>
              </a:ext>
            </a:extLst>
          </p:cNvPr>
          <p:cNvSpPr>
            <a:spLocks xmlns:a="http://schemas.openxmlformats.org/drawingml/2006/main" noGrp="1"/>
          </p:cNvSpPr>
          <p:nvPr/>
        </p:nvSpPr>
        <p:spPr>
          <a:xfrm xmlns:a="http://schemas.openxmlformats.org/drawingml/2006/main">
            <a:off x="7829550" y="4029075"/>
            <a:ext cx="25717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802DFE6E-5AE6-45B9-9AB8-A24B8D3CA8B2}"/>
              </a:ext>
            </a:extLst>
          </p:cNvPr>
          <p:cNvSpPr>
            <a:spLocks xmlns:a="http://schemas.openxmlformats.org/drawingml/2006/main" noGrp="1"/>
          </p:cNvSpPr>
          <p:nvPr/>
        </p:nvSpPr>
        <p:spPr>
          <a:xfrm xmlns:a="http://schemas.openxmlformats.org/drawingml/2006/main">
            <a:off x="7924800" y="41052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‏برد سریع</a:t>
            </a:r>
          </a:p>
        </p:txBody>
      </p:sp>
      <p:sp>
        <p:nvSpPr>
          <p:cNvPr id="45" name="">
            <a:extLst xmlns:a="http://schemas.openxmlformats.org/drawingml/2006/main">
              <a:ext uri="{FF2B5EF4-FFF2-40B4-BE49-F238E27FC236}">
                <a16:creationId xmlns:a16="http://schemas.microsoft.com/office/drawing/2014/main" id="{24CC4437-D34C-4C95-96B2-9A516A868B8E}"/>
              </a:ext>
            </a:extLst>
          </p:cNvPr>
          <p:cNvSpPr>
            <a:spLocks xmlns:a="http://schemas.openxmlformats.org/drawingml/2006/main" noGrp="1"/>
          </p:cNvSpPr>
          <p:nvPr/>
        </p:nvSpPr>
        <p:spPr>
          <a:xfrm xmlns:a="http://schemas.openxmlformats.org/drawingml/2006/main">
            <a:off x="876300" y="4524375"/>
            <a:ext cx="857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82842404-315B-4447-AF05-D2AA7B2B53D8}"/>
              </a:ext>
            </a:extLst>
          </p:cNvPr>
          <p:cNvSpPr>
            <a:spLocks xmlns:a="http://schemas.openxmlformats.org/drawingml/2006/main" noGrp="1"/>
          </p:cNvSpPr>
          <p:nvPr/>
        </p:nvSpPr>
        <p:spPr>
          <a:xfrm xmlns:a="http://schemas.openxmlformats.org/drawingml/2006/main">
            <a:off x="971550" y="46005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‏۵</a:t>
            </a:r>
          </a:p>
        </p:txBody>
      </p:sp>
      <p:sp>
        <p:nvSpPr>
          <p:cNvPr id="47" name="">
            <a:extLst xmlns:a="http://schemas.openxmlformats.org/drawingml/2006/main">
              <a:ext uri="{FF2B5EF4-FFF2-40B4-BE49-F238E27FC236}">
                <a16:creationId xmlns:a16="http://schemas.microsoft.com/office/drawing/2014/main" id="{568E3B7F-560F-4C18-93D1-4068A451D73E}"/>
              </a:ext>
            </a:extLst>
          </p:cNvPr>
          <p:cNvSpPr>
            <a:spLocks xmlns:a="http://schemas.openxmlformats.org/drawingml/2006/main" noGrp="1"/>
          </p:cNvSpPr>
          <p:nvPr/>
        </p:nvSpPr>
        <p:spPr>
          <a:xfrm xmlns:a="http://schemas.openxmlformats.org/drawingml/2006/main">
            <a:off x="1733550" y="4524375"/>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9EE723FA-2F09-4DA8-83CF-F278F8F5C6F5}"/>
              </a:ext>
            </a:extLst>
          </p:cNvPr>
          <p:cNvSpPr>
            <a:spLocks xmlns:a="http://schemas.openxmlformats.org/drawingml/2006/main" noGrp="1"/>
          </p:cNvSpPr>
          <p:nvPr/>
        </p:nvSpPr>
        <p:spPr>
          <a:xfrm xmlns:a="http://schemas.openxmlformats.org/drawingml/2006/main">
            <a:off x="1828800" y="46005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‏دستیار گواهی/TDS</a:t>
            </a:r>
          </a:p>
        </p:txBody>
      </p:sp>
      <p:sp>
        <p:nvSpPr>
          <p:cNvPr id="49" name="">
            <a:extLst xmlns:a="http://schemas.openxmlformats.org/drawingml/2006/main">
              <a:ext uri="{FF2B5EF4-FFF2-40B4-BE49-F238E27FC236}">
                <a16:creationId xmlns:a16="http://schemas.microsoft.com/office/drawing/2014/main" id="{98815222-8A93-41DF-B875-7F983E4DBDD6}"/>
              </a:ext>
            </a:extLst>
          </p:cNvPr>
          <p:cNvSpPr>
            <a:spLocks xmlns:a="http://schemas.openxmlformats.org/drawingml/2006/main" noGrp="1"/>
          </p:cNvSpPr>
          <p:nvPr/>
        </p:nvSpPr>
        <p:spPr>
          <a:xfrm xmlns:a="http://schemas.openxmlformats.org/drawingml/2006/main">
            <a:off x="6686550" y="4524375"/>
            <a:ext cx="114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0" name="">
            <a:extLst xmlns:a="http://schemas.openxmlformats.org/drawingml/2006/main">
              <a:ext uri="{FF2B5EF4-FFF2-40B4-BE49-F238E27FC236}">
                <a16:creationId xmlns:a16="http://schemas.microsoft.com/office/drawing/2014/main" id="{20590E47-958E-419F-91CE-FA7CFD747F66}"/>
              </a:ext>
            </a:extLst>
          </p:cNvPr>
          <p:cNvSpPr>
            <a:spLocks xmlns:a="http://schemas.openxmlformats.org/drawingml/2006/main" noGrp="1"/>
          </p:cNvSpPr>
          <p:nvPr/>
        </p:nvSpPr>
        <p:spPr>
          <a:xfrm xmlns:a="http://schemas.openxmlformats.org/drawingml/2006/main">
            <a:off x="6781800" y="46005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‏۴.۱</a:t>
            </a:r>
          </a:p>
        </p:txBody>
      </p:sp>
      <p:sp>
        <p:nvSpPr>
          <p:cNvPr id="51" name="">
            <a:extLst xmlns:a="http://schemas.openxmlformats.org/drawingml/2006/main">
              <a:ext uri="{FF2B5EF4-FFF2-40B4-BE49-F238E27FC236}">
                <a16:creationId xmlns:a16="http://schemas.microsoft.com/office/drawing/2014/main" id="{8985CDCC-A371-4440-A01C-21AF01D483CD}"/>
              </a:ext>
            </a:extLst>
          </p:cNvPr>
          <p:cNvSpPr>
            <a:spLocks xmlns:a="http://schemas.openxmlformats.org/drawingml/2006/main" noGrp="1"/>
          </p:cNvSpPr>
          <p:nvPr/>
        </p:nvSpPr>
        <p:spPr>
          <a:xfrm xmlns:a="http://schemas.openxmlformats.org/drawingml/2006/main">
            <a:off x="7829550" y="4524375"/>
            <a:ext cx="2571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52" name="">
            <a:extLst xmlns:a="http://schemas.openxmlformats.org/drawingml/2006/main">
              <a:ext uri="{FF2B5EF4-FFF2-40B4-BE49-F238E27FC236}">
                <a16:creationId xmlns:a16="http://schemas.microsoft.com/office/drawing/2014/main" id="{A8CDF84F-98C4-45BB-8616-A27974CCCF16}"/>
              </a:ext>
            </a:extLst>
          </p:cNvPr>
          <p:cNvSpPr>
            <a:spLocks xmlns:a="http://schemas.openxmlformats.org/drawingml/2006/main" noGrp="1"/>
          </p:cNvSpPr>
          <p:nvPr/>
        </p:nvSpPr>
        <p:spPr>
          <a:xfrm xmlns:a="http://schemas.openxmlformats.org/drawingml/2006/main">
            <a:off x="7924800" y="46005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‏برد سریع کنترل‌شده</a:t>
            </a:r>
          </a:p>
        </p:txBody>
      </p:sp>
      <p:sp>
        <p:nvSpPr>
          <p:cNvPr id="53" name="">
            <a:extLst xmlns:a="http://schemas.openxmlformats.org/drawingml/2006/main">
              <a:ext uri="{FF2B5EF4-FFF2-40B4-BE49-F238E27FC236}">
                <a16:creationId xmlns:a16="http://schemas.microsoft.com/office/drawing/2014/main" id="{2DA3D047-E410-4D0B-82D3-70A7FDFA8F29}"/>
              </a:ext>
            </a:extLst>
          </p:cNvPr>
          <p:cNvSpPr>
            <a:spLocks xmlns:a="http://schemas.openxmlformats.org/drawingml/2006/main" noGrp="1"/>
          </p:cNvSpPr>
          <p:nvPr/>
        </p:nvSpPr>
        <p:spPr>
          <a:xfrm xmlns:a="http://schemas.openxmlformats.org/drawingml/2006/main">
            <a:off x="876300" y="5019675"/>
            <a:ext cx="857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4" name="">
            <a:extLst xmlns:a="http://schemas.openxmlformats.org/drawingml/2006/main">
              <a:ext uri="{FF2B5EF4-FFF2-40B4-BE49-F238E27FC236}">
                <a16:creationId xmlns:a16="http://schemas.microsoft.com/office/drawing/2014/main" id="{142A0B10-BF57-4B09-BE8D-40B9B6C8D08E}"/>
              </a:ext>
            </a:extLst>
          </p:cNvPr>
          <p:cNvSpPr>
            <a:spLocks xmlns:a="http://schemas.openxmlformats.org/drawingml/2006/main" noGrp="1"/>
          </p:cNvSpPr>
          <p:nvPr/>
        </p:nvSpPr>
        <p:spPr>
          <a:xfrm xmlns:a="http://schemas.openxmlformats.org/drawingml/2006/main">
            <a:off x="971550" y="509587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‏۶</a:t>
            </a:r>
          </a:p>
        </p:txBody>
      </p:sp>
      <p:sp>
        <p:nvSpPr>
          <p:cNvPr id="55" name="">
            <a:extLst xmlns:a="http://schemas.openxmlformats.org/drawingml/2006/main">
              <a:ext uri="{FF2B5EF4-FFF2-40B4-BE49-F238E27FC236}">
                <a16:creationId xmlns:a16="http://schemas.microsoft.com/office/drawing/2014/main" id="{AA8DE07B-A620-4608-92FF-C575F7DA1837}"/>
              </a:ext>
            </a:extLst>
          </p:cNvPr>
          <p:cNvSpPr>
            <a:spLocks xmlns:a="http://schemas.openxmlformats.org/drawingml/2006/main" noGrp="1"/>
          </p:cNvSpPr>
          <p:nvPr/>
        </p:nvSpPr>
        <p:spPr>
          <a:xfrm xmlns:a="http://schemas.openxmlformats.org/drawingml/2006/main">
            <a:off x="1733550" y="5019675"/>
            <a:ext cx="495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6" name="">
            <a:extLst xmlns:a="http://schemas.openxmlformats.org/drawingml/2006/main">
              <a:ext uri="{FF2B5EF4-FFF2-40B4-BE49-F238E27FC236}">
                <a16:creationId xmlns:a16="http://schemas.microsoft.com/office/drawing/2014/main" id="{F0713CC3-CE0F-44F1-8234-128B42F8806E}"/>
              </a:ext>
            </a:extLst>
          </p:cNvPr>
          <p:cNvSpPr>
            <a:spLocks xmlns:a="http://schemas.openxmlformats.org/drawingml/2006/main" noGrp="1"/>
          </p:cNvSpPr>
          <p:nvPr/>
        </p:nvSpPr>
        <p:spPr>
          <a:xfrm xmlns:a="http://schemas.openxmlformats.org/drawingml/2006/main">
            <a:off x="1828800" y="50958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‏مدل کیفیت پیش‌بینانه</a:t>
            </a:r>
          </a:p>
        </p:txBody>
      </p:sp>
      <p:sp>
        <p:nvSpPr>
          <p:cNvPr id="57" name="">
            <a:extLst xmlns:a="http://schemas.openxmlformats.org/drawingml/2006/main">
              <a:ext uri="{FF2B5EF4-FFF2-40B4-BE49-F238E27FC236}">
                <a16:creationId xmlns:a16="http://schemas.microsoft.com/office/drawing/2014/main" id="{9032BFCC-F28C-4D61-9C34-F5FB4932F8F7}"/>
              </a:ext>
            </a:extLst>
          </p:cNvPr>
          <p:cNvSpPr>
            <a:spLocks xmlns:a="http://schemas.openxmlformats.org/drawingml/2006/main" noGrp="1"/>
          </p:cNvSpPr>
          <p:nvPr/>
        </p:nvSpPr>
        <p:spPr>
          <a:xfrm xmlns:a="http://schemas.openxmlformats.org/drawingml/2006/main">
            <a:off x="6686550" y="5019675"/>
            <a:ext cx="1143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58" name="">
            <a:extLst xmlns:a="http://schemas.openxmlformats.org/drawingml/2006/main">
              <a:ext uri="{FF2B5EF4-FFF2-40B4-BE49-F238E27FC236}">
                <a16:creationId xmlns:a16="http://schemas.microsoft.com/office/drawing/2014/main" id="{478DA1D7-7CB2-4D4A-BC9D-3077D6FD44AC}"/>
              </a:ext>
            </a:extLst>
          </p:cNvPr>
          <p:cNvSpPr>
            <a:spLocks xmlns:a="http://schemas.openxmlformats.org/drawingml/2006/main" noGrp="1"/>
          </p:cNvSpPr>
          <p:nvPr/>
        </p:nvSpPr>
        <p:spPr>
          <a:xfrm xmlns:a="http://schemas.openxmlformats.org/drawingml/2006/main">
            <a:off x="6781800" y="50958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‏۳.۹</a:t>
            </a:r>
          </a:p>
        </p:txBody>
      </p:sp>
      <p:sp>
        <p:nvSpPr>
          <p:cNvPr id="59" name="">
            <a:extLst xmlns:a="http://schemas.openxmlformats.org/drawingml/2006/main">
              <a:ext uri="{FF2B5EF4-FFF2-40B4-BE49-F238E27FC236}">
                <a16:creationId xmlns:a16="http://schemas.microsoft.com/office/drawing/2014/main" id="{0772D5E9-ECFD-4EA7-9C12-D75B92467888}"/>
              </a:ext>
            </a:extLst>
          </p:cNvPr>
          <p:cNvSpPr>
            <a:spLocks xmlns:a="http://schemas.openxmlformats.org/drawingml/2006/main" noGrp="1"/>
          </p:cNvSpPr>
          <p:nvPr/>
        </p:nvSpPr>
        <p:spPr>
          <a:xfrm xmlns:a="http://schemas.openxmlformats.org/drawingml/2006/main">
            <a:off x="7829550" y="5019675"/>
            <a:ext cx="25717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0" name="">
            <a:extLst xmlns:a="http://schemas.openxmlformats.org/drawingml/2006/main">
              <a:ext uri="{FF2B5EF4-FFF2-40B4-BE49-F238E27FC236}">
                <a16:creationId xmlns:a16="http://schemas.microsoft.com/office/drawing/2014/main" id="{99D39038-095C-4AE2-AC39-C094243FB7B1}"/>
              </a:ext>
            </a:extLst>
          </p:cNvPr>
          <p:cNvSpPr>
            <a:spLocks xmlns:a="http://schemas.openxmlformats.org/drawingml/2006/main" noGrp="1"/>
          </p:cNvSpPr>
          <p:nvPr/>
        </p:nvSpPr>
        <p:spPr>
          <a:xfrm xmlns:a="http://schemas.openxmlformats.org/drawingml/2006/main">
            <a:off x="7924800" y="50958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111111"/>
                </a:solidFill>
                <a:latin typeface="Tahoma"/>
                <a:ea typeface="Tahoma"/>
                <a:cs typeface="Tahoma"/>
              </a:defRPr>
            </a:pPr>
            <a:r>
              <a:rPr sz="1200" b="0">
                <a:solidFill>
                  <a:srgbClr val="111111"/>
                </a:solidFill>
                <a:latin typeface="Tahoma"/>
                <a:ea typeface="Tahoma"/>
                <a:cs typeface="Tahoma"/>
              </a:rPr>
              <a:t>‏پس از اتصال داده</a:t>
            </a:r>
          </a:p>
        </p:txBody>
      </p:sp>
      <p:sp>
        <p:nvSpPr>
          <p:cNvPr id="61" name="">
            <a:extLst xmlns:a="http://schemas.openxmlformats.org/drawingml/2006/main">
              <a:ext uri="{FF2B5EF4-FFF2-40B4-BE49-F238E27FC236}">
                <a16:creationId xmlns:a16="http://schemas.microsoft.com/office/drawing/2014/main" id="{A84485A8-7E07-42AD-A904-74DBA0CC9263}"/>
              </a:ext>
            </a:extLst>
          </p:cNvPr>
          <p:cNvSpPr>
            <a:spLocks xmlns:a="http://schemas.openxmlformats.org/drawingml/2006/main" noGrp="1"/>
          </p:cNvSpPr>
          <p:nvPr/>
        </p:nvSpPr>
        <p:spPr>
          <a:xfrm xmlns:a="http://schemas.openxmlformats.org/drawingml/2006/main">
            <a:off x="876300" y="2047875"/>
            <a:ext cx="9525000" cy="34671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62" name="">
            <a:extLst xmlns:a="http://schemas.openxmlformats.org/drawingml/2006/main">
              <a:ext uri="{FF2B5EF4-FFF2-40B4-BE49-F238E27FC236}">
                <a16:creationId xmlns:a16="http://schemas.microsoft.com/office/drawing/2014/main" id="{8B0C76D1-D61F-45DE-B1B9-A23FFA7CEBA0}"/>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63" name="">
            <a:extLst xmlns:a="http://schemas.openxmlformats.org/drawingml/2006/main">
              <a:ext uri="{FF2B5EF4-FFF2-40B4-BE49-F238E27FC236}">
                <a16:creationId xmlns:a16="http://schemas.microsoft.com/office/drawing/2014/main" id="{6DAE285E-8570-4FE8-8C95-E6D84978D53F}"/>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15</a:t>
            </a:r>
          </a:p>
        </p:txBody>
      </p:sp>
    </p:spTree>
    <p:extLst>
      <p:ext uri="{BB962C8B-B14F-4D97-AF65-F5344CB8AC3E}">
        <p14:creationId xmlns:p14="http://schemas.microsoft.com/office/powerpoint/2010/main" val="161203483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1A678E-A7A0-4615-9006-0797735CC83E}"/>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‏منطق مالی</a:t>
            </a:r>
          </a:p>
        </p:txBody>
      </p:sp>
      <p:sp>
        <p:nvSpPr>
          <p:cNvPr id="2" name="">
            <a:extLst xmlns:a="http://schemas.openxmlformats.org/drawingml/2006/main">
              <a:ext uri="{FF2B5EF4-FFF2-40B4-BE49-F238E27FC236}">
                <a16:creationId xmlns:a16="http://schemas.microsoft.com/office/drawing/2014/main" id="{5089DDA5-CB5F-46BF-8549-266A6840822D}"/>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‏پرونده مالی باید از خط مبنای شرکت ساخته شود</a:t>
            </a:r>
          </a:p>
        </p:txBody>
      </p:sp>
      <p:sp>
        <p:nvSpPr>
          <p:cNvPr id="3" name="">
            <a:extLst xmlns:a="http://schemas.openxmlformats.org/drawingml/2006/main">
              <a:ext uri="{FF2B5EF4-FFF2-40B4-BE49-F238E27FC236}">
                <a16:creationId xmlns:a16="http://schemas.microsoft.com/office/drawing/2014/main" id="{EC3ADF4B-E122-4494-8DC1-4FE5E3570E7A}"/>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‏پایلوت باید ارزش کاهش زیان کیفیت و زمان تصمیم را کمّی کند.</a:t>
            </a:r>
          </a:p>
        </p:txBody>
      </p:sp>
      <p:sp>
        <p:nvSpPr>
          <p:cNvPr id="4" name="">
            <a:extLst xmlns:a="http://schemas.openxmlformats.org/drawingml/2006/main">
              <a:ext uri="{FF2B5EF4-FFF2-40B4-BE49-F238E27FC236}">
                <a16:creationId xmlns:a16="http://schemas.microsoft.com/office/drawing/2014/main" id="{095B7013-B2B8-412D-A94C-74CC7A524962}"/>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0130AC5C-1970-4E87-A26F-2E25142FA731}"/>
              </a:ext>
            </a:extLst>
          </p:cNvPr>
          <p:cNvSpPr>
            <a:spLocks xmlns:a="http://schemas.openxmlformats.org/drawingml/2006/main" noGrp="1"/>
          </p:cNvSpPr>
          <p:nvPr/>
        </p:nvSpPr>
        <p:spPr>
          <a:xfrm xmlns:a="http://schemas.openxmlformats.org/drawingml/2006/main">
            <a:off x="857250" y="2190750"/>
            <a:ext cx="4476750" cy="27622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AB4AA88-2849-4A46-8CA4-AD4E967FFB7A}"/>
              </a:ext>
            </a:extLst>
          </p:cNvPr>
          <p:cNvSpPr>
            <a:spLocks xmlns:a="http://schemas.openxmlformats.org/drawingml/2006/main" noGrp="1"/>
          </p:cNvSpPr>
          <p:nvPr/>
        </p:nvSpPr>
        <p:spPr>
          <a:xfrm xmlns:a="http://schemas.openxmlformats.org/drawingml/2006/main">
            <a:off x="1162050" y="247650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FFFFFF"/>
                </a:solidFill>
                <a:latin typeface="Tahoma"/>
                <a:ea typeface="Tahoma"/>
                <a:cs typeface="Tahoma"/>
              </a:defRPr>
            </a:pPr>
            <a:r>
              <a:rPr sz="1950" b="1">
                <a:solidFill>
                  <a:srgbClr val="FFFFFF"/>
                </a:solidFill>
                <a:latin typeface="Tahoma"/>
                <a:ea typeface="Tahoma"/>
                <a:cs typeface="Tahoma"/>
              </a:rPr>
              <a:t>‏ورودی‌های خط مبنا</a:t>
            </a:r>
          </a:p>
        </p:txBody>
      </p:sp>
      <p:sp>
        <p:nvSpPr>
          <p:cNvPr id="7" name="">
            <a:extLst xmlns:a="http://schemas.openxmlformats.org/drawingml/2006/main">
              <a:ext uri="{FF2B5EF4-FFF2-40B4-BE49-F238E27FC236}">
                <a16:creationId xmlns:a16="http://schemas.microsoft.com/office/drawing/2014/main" id="{7C329C6B-3EA7-4CAC-A472-E271E6D365D6}"/>
              </a:ext>
            </a:extLst>
          </p:cNvPr>
          <p:cNvSpPr>
            <a:spLocks xmlns:a="http://schemas.openxmlformats.org/drawingml/2006/main" noGrp="1"/>
          </p:cNvSpPr>
          <p:nvPr/>
        </p:nvSpPr>
        <p:spPr>
          <a:xfrm xmlns:a="http://schemas.openxmlformats.org/drawingml/2006/main">
            <a:off x="1162050" y="304800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0">
                <a:solidFill>
                  <a:srgbClr val="FFFFFF"/>
                </a:solidFill>
                <a:latin typeface="Tahoma"/>
                <a:ea typeface="Tahoma"/>
                <a:cs typeface="Tahoma"/>
              </a:defRPr>
            </a:pPr>
            <a:r>
              <a:rPr sz="1275" b="0">
                <a:solidFill>
                  <a:srgbClr val="FFFFFF"/>
                </a:solidFill>
                <a:latin typeface="Tahoma"/>
                <a:ea typeface="Tahoma"/>
                <a:cs typeface="Tahoma"/>
              </a:rPr>
              <a:t>‏• هزینه سالانه ضایعات و دوباره‌کاری در خانواده هدف</a:t>
            </a:r>
          </a:p>
          <a:p xmlns:a="http://schemas.openxmlformats.org/drawingml/2006/main">
            <a:pPr algn="r">
              <a:defRPr sz="1275" b="0">
                <a:solidFill>
                  <a:srgbClr val="FFFFFF"/>
                </a:solidFill>
                <a:latin typeface="Tahoma"/>
                <a:ea typeface="Tahoma"/>
                <a:cs typeface="Tahoma"/>
              </a:defRPr>
            </a:pPr>
            <a:r>
              <a:rPr sz="1275" b="0">
                <a:solidFill>
                  <a:srgbClr val="FFFFFF"/>
                </a:solidFill>
                <a:latin typeface="Tahoma"/>
                <a:ea typeface="Tahoma"/>
                <a:cs typeface="Tahoma"/>
              </a:rPr>
              <a:t>‏• عیب به ازای هر رول یا هر ۱۰۰۰ متر</a:t>
            </a:r>
          </a:p>
          <a:p xmlns:a="http://schemas.openxmlformats.org/drawingml/2006/main">
            <a:pPr algn="r">
              <a:defRPr sz="1275" b="0">
                <a:solidFill>
                  <a:srgbClr val="FFFFFF"/>
                </a:solidFill>
                <a:latin typeface="Tahoma"/>
                <a:ea typeface="Tahoma"/>
                <a:cs typeface="Tahoma"/>
              </a:defRPr>
            </a:pPr>
            <a:r>
              <a:rPr sz="1275" b="0">
                <a:solidFill>
                  <a:srgbClr val="FFFFFF"/>
                </a:solidFill>
                <a:latin typeface="Tahoma"/>
                <a:ea typeface="Tahoma"/>
                <a:cs typeface="Tahoma"/>
              </a:rPr>
              <a:t>‏• هزینه شکایت مشتری و زمان پاسخ</a:t>
            </a:r>
          </a:p>
          <a:p xmlns:a="http://schemas.openxmlformats.org/drawingml/2006/main">
            <a:pPr algn="r">
              <a:defRPr sz="1275" b="0">
                <a:solidFill>
                  <a:srgbClr val="FFFFFF"/>
                </a:solidFill>
                <a:latin typeface="Tahoma"/>
                <a:ea typeface="Tahoma"/>
                <a:cs typeface="Tahoma"/>
              </a:defRPr>
            </a:pPr>
            <a:r>
              <a:rPr sz="1275" b="0">
                <a:solidFill>
                  <a:srgbClr val="FFFFFF"/>
                </a:solidFill>
                <a:latin typeface="Tahoma"/>
                <a:ea typeface="Tahoma"/>
                <a:cs typeface="Tahoma"/>
              </a:rPr>
              <a:t>‏• زمان رهاسازی کیفیت و آماده‌سازی گواهی</a:t>
            </a:r>
          </a:p>
          <a:p xmlns:a="http://schemas.openxmlformats.org/drawingml/2006/main">
            <a:pPr algn="r">
              <a:defRPr sz="1275" b="0">
                <a:solidFill>
                  <a:srgbClr val="FFFFFF"/>
                </a:solidFill>
                <a:latin typeface="Tahoma"/>
                <a:ea typeface="Tahoma"/>
                <a:cs typeface="Tahoma"/>
              </a:defRPr>
            </a:pPr>
            <a:r>
              <a:rPr sz="1275" b="0">
                <a:solidFill>
                  <a:srgbClr val="FFFFFF"/>
                </a:solidFill>
                <a:latin typeface="Tahoma"/>
                <a:ea typeface="Tahoma"/>
                <a:cs typeface="Tahoma"/>
              </a:rPr>
              <a:t>‏• توقف یا تاخیر ناشی از مسائل کیفیت تکراری</a:t>
            </a:r>
          </a:p>
        </p:txBody>
      </p:sp>
      <p:sp>
        <p:nvSpPr>
          <p:cNvPr id="8" name="">
            <a:extLst xmlns:a="http://schemas.openxmlformats.org/drawingml/2006/main">
              <a:ext uri="{FF2B5EF4-FFF2-40B4-BE49-F238E27FC236}">
                <a16:creationId xmlns:a16="http://schemas.microsoft.com/office/drawing/2014/main" id="{437484FB-5C0D-43E9-9CD5-2E19FE0AE970}"/>
              </a:ext>
            </a:extLst>
          </p:cNvPr>
          <p:cNvSpPr>
            <a:spLocks xmlns:a="http://schemas.openxmlformats.org/drawingml/2006/main" noGrp="1"/>
          </p:cNvSpPr>
          <p:nvPr/>
        </p:nvSpPr>
        <p:spPr>
          <a:xfrm xmlns:a="http://schemas.openxmlformats.org/drawingml/2006/main">
            <a:off x="6000750" y="2190750"/>
            <a:ext cx="4476750" cy="27622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9" name="">
            <a:extLst xmlns:a="http://schemas.openxmlformats.org/drawingml/2006/main">
              <a:ext uri="{FF2B5EF4-FFF2-40B4-BE49-F238E27FC236}">
                <a16:creationId xmlns:a16="http://schemas.microsoft.com/office/drawing/2014/main" id="{9EE05E17-685F-4281-AB5F-B808BEDF91F9}"/>
              </a:ext>
            </a:extLst>
          </p:cNvPr>
          <p:cNvSpPr>
            <a:spLocks xmlns:a="http://schemas.openxmlformats.org/drawingml/2006/main" noGrp="1"/>
          </p:cNvSpPr>
          <p:nvPr/>
        </p:nvSpPr>
        <p:spPr>
          <a:xfrm xmlns:a="http://schemas.openxmlformats.org/drawingml/2006/main">
            <a:off x="6305550" y="24765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111111"/>
                </a:solidFill>
                <a:latin typeface="Tahoma"/>
                <a:ea typeface="Tahoma"/>
                <a:cs typeface="Tahoma"/>
              </a:defRPr>
            </a:pPr>
            <a:r>
              <a:rPr sz="1950" b="1">
                <a:solidFill>
                  <a:srgbClr val="111111"/>
                </a:solidFill>
                <a:latin typeface="Tahoma"/>
                <a:ea typeface="Tahoma"/>
                <a:cs typeface="Tahoma"/>
              </a:rPr>
              <a:t>‏معادله ROI پایلوت</a:t>
            </a:r>
          </a:p>
        </p:txBody>
      </p:sp>
      <p:sp>
        <p:nvSpPr>
          <p:cNvPr id="10" name="">
            <a:extLst xmlns:a="http://schemas.openxmlformats.org/drawingml/2006/main">
              <a:ext uri="{FF2B5EF4-FFF2-40B4-BE49-F238E27FC236}">
                <a16:creationId xmlns:a16="http://schemas.microsoft.com/office/drawing/2014/main" id="{BD61A2F9-4389-443E-BC2A-F2F2D8B7FA94}"/>
              </a:ext>
            </a:extLst>
          </p:cNvPr>
          <p:cNvSpPr>
            <a:spLocks xmlns:a="http://schemas.openxmlformats.org/drawingml/2006/main" noGrp="1"/>
          </p:cNvSpPr>
          <p:nvPr/>
        </p:nvSpPr>
        <p:spPr>
          <a:xfrm xmlns:a="http://schemas.openxmlformats.org/drawingml/2006/main">
            <a:off x="6305550" y="3095625"/>
            <a:ext cx="342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75" b="1">
                <a:solidFill>
                  <a:srgbClr val="111111"/>
                </a:solidFill>
                <a:latin typeface="Tahoma"/>
                <a:ea typeface="Tahoma"/>
                <a:cs typeface="Tahoma"/>
              </a:defRPr>
            </a:pPr>
            <a:r>
              <a:rPr sz="1575" b="1">
                <a:solidFill>
                  <a:srgbClr val="111111"/>
                </a:solidFill>
                <a:latin typeface="Tahoma"/>
                <a:ea typeface="Tahoma"/>
                <a:cs typeface="Tahoma"/>
              </a:rPr>
              <a:t>‏ارزش = ضایعات کمتر + دوباره‌کاری کمتر + ریشه‌یابی سریع‌تر + رهاسازی سریع‌تر + شکایات تکراری کمتر</a:t>
            </a:r>
          </a:p>
        </p:txBody>
      </p:sp>
      <p:sp>
        <p:nvSpPr>
          <p:cNvPr id="11" name="">
            <a:extLst xmlns:a="http://schemas.openxmlformats.org/drawingml/2006/main">
              <a:ext uri="{FF2B5EF4-FFF2-40B4-BE49-F238E27FC236}">
                <a16:creationId xmlns:a16="http://schemas.microsoft.com/office/drawing/2014/main" id="{AE02E39B-A56D-40FF-A7EE-29C728276025}"/>
              </a:ext>
            </a:extLst>
          </p:cNvPr>
          <p:cNvSpPr>
            <a:spLocks xmlns:a="http://schemas.openxmlformats.org/drawingml/2006/main" noGrp="1"/>
          </p:cNvSpPr>
          <p:nvPr/>
        </p:nvSpPr>
        <p:spPr>
          <a:xfrm xmlns:a="http://schemas.openxmlformats.org/drawingml/2006/main">
            <a:off x="6305550" y="422910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‏پایلوت به پیش‌بینی کامل نیاز ندارد؛ به شواهد کافی برای شناسایی محرک‌های قابل کنترل زیان نیاز دارد.</a:t>
            </a:r>
          </a:p>
        </p:txBody>
      </p:sp>
      <p:sp>
        <p:nvSpPr>
          <p:cNvPr id="12" name="">
            <a:extLst xmlns:a="http://schemas.openxmlformats.org/drawingml/2006/main">
              <a:ext uri="{FF2B5EF4-FFF2-40B4-BE49-F238E27FC236}">
                <a16:creationId xmlns:a16="http://schemas.microsoft.com/office/drawing/2014/main" id="{18E9D29B-F90A-4A19-8188-FC9DD6CB1ECA}"/>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13" name="">
            <a:extLst xmlns:a="http://schemas.openxmlformats.org/drawingml/2006/main">
              <a:ext uri="{FF2B5EF4-FFF2-40B4-BE49-F238E27FC236}">
                <a16:creationId xmlns:a16="http://schemas.microsoft.com/office/drawing/2014/main" id="{67359128-AE92-4406-B7CF-7211F6209ACE}"/>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16</a:t>
            </a:r>
          </a:p>
        </p:txBody>
      </p:sp>
    </p:spTree>
    <p:extLst>
      <p:ext uri="{BB962C8B-B14F-4D97-AF65-F5344CB8AC3E}">
        <p14:creationId xmlns:p14="http://schemas.microsoft.com/office/powerpoint/2010/main" val="173789131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69A85F-894B-42B7-8638-3A962D942AA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‏تامین مالی</a:t>
            </a:r>
          </a:p>
        </p:txBody>
      </p:sp>
      <p:sp>
        <p:nvSpPr>
          <p:cNvPr id="2" name="">
            <a:extLst xmlns:a="http://schemas.openxmlformats.org/drawingml/2006/main">
              <a:ext uri="{FF2B5EF4-FFF2-40B4-BE49-F238E27FC236}">
                <a16:creationId xmlns:a16="http://schemas.microsoft.com/office/drawing/2014/main" id="{D45DDCAC-8770-4DA9-86AD-C3DAB90484F7}"/>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‏تامین مالی باید مقیاس‌دهی را سرعت دهد، نه پایلوت را عقب بیندازد</a:t>
            </a:r>
          </a:p>
        </p:txBody>
      </p:sp>
      <p:sp>
        <p:nvSpPr>
          <p:cNvPr id="3" name="">
            <a:extLst xmlns:a="http://schemas.openxmlformats.org/drawingml/2006/main">
              <a:ext uri="{FF2B5EF4-FFF2-40B4-BE49-F238E27FC236}">
                <a16:creationId xmlns:a16="http://schemas.microsoft.com/office/drawing/2014/main" id="{20B6D13A-89E8-48E6-B2D8-DF4DD8F6C20B}"/>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‏از شواهد پایلوت برای بهتر کردن کیفیت درخواست گرنت استفاده کنید.</a:t>
            </a:r>
          </a:p>
        </p:txBody>
      </p:sp>
      <p:sp>
        <p:nvSpPr>
          <p:cNvPr id="4" name="">
            <a:extLst xmlns:a="http://schemas.openxmlformats.org/drawingml/2006/main">
              <a:ext uri="{FF2B5EF4-FFF2-40B4-BE49-F238E27FC236}">
                <a16:creationId xmlns:a16="http://schemas.microsoft.com/office/drawing/2014/main" id="{9F8AB2A8-7BED-4FE1-8D93-E7B990D7EE6C}"/>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4A2B3F26-D4C2-4539-8196-0BE771DE3F7A}"/>
              </a:ext>
            </a:extLst>
          </p:cNvPr>
          <p:cNvSpPr>
            <a:spLocks xmlns:a="http://schemas.openxmlformats.org/drawingml/2006/main" noGrp="1"/>
          </p:cNvSpPr>
          <p:nvPr/>
        </p:nvSpPr>
        <p:spPr>
          <a:xfrm xmlns:a="http://schemas.openxmlformats.org/drawingml/2006/main">
            <a:off x="781050" y="2000250"/>
            <a:ext cx="2190750" cy="4762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55E86846-4A36-42FD-866A-BE6CC0522CE3}"/>
              </a:ext>
            </a:extLst>
          </p:cNvPr>
          <p:cNvSpPr>
            <a:spLocks xmlns:a="http://schemas.openxmlformats.org/drawingml/2006/main" noGrp="1"/>
          </p:cNvSpPr>
          <p:nvPr/>
        </p:nvSpPr>
        <p:spPr>
          <a:xfrm xmlns:a="http://schemas.openxmlformats.org/drawingml/2006/main">
            <a:off x="876300" y="20764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‏مسیر</a:t>
            </a:r>
          </a:p>
        </p:txBody>
      </p:sp>
      <p:sp>
        <p:nvSpPr>
          <p:cNvPr id="7" name="">
            <a:extLst xmlns:a="http://schemas.openxmlformats.org/drawingml/2006/main">
              <a:ext uri="{FF2B5EF4-FFF2-40B4-BE49-F238E27FC236}">
                <a16:creationId xmlns:a16="http://schemas.microsoft.com/office/drawing/2014/main" id="{52BB5031-1392-4214-BCFE-B07C50360475}"/>
              </a:ext>
            </a:extLst>
          </p:cNvPr>
          <p:cNvSpPr>
            <a:spLocks xmlns:a="http://schemas.openxmlformats.org/drawingml/2006/main" noGrp="1"/>
          </p:cNvSpPr>
          <p:nvPr/>
        </p:nvSpPr>
        <p:spPr>
          <a:xfrm xmlns:a="http://schemas.openxmlformats.org/drawingml/2006/main">
            <a:off x="2971800" y="2000250"/>
            <a:ext cx="5810250" cy="4762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C1803CC2-D30C-4869-A3AB-7B7EE2DE7C07}"/>
              </a:ext>
            </a:extLst>
          </p:cNvPr>
          <p:cNvSpPr>
            <a:spLocks xmlns:a="http://schemas.openxmlformats.org/drawingml/2006/main" noGrp="1"/>
          </p:cNvSpPr>
          <p:nvPr/>
        </p:nvSpPr>
        <p:spPr>
          <a:xfrm xmlns:a="http://schemas.openxmlformats.org/drawingml/2006/main">
            <a:off x="3067050" y="20764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‏بهترین کاربرد</a:t>
            </a:r>
          </a:p>
        </p:txBody>
      </p:sp>
      <p:sp>
        <p:nvSpPr>
          <p:cNvPr id="9" name="">
            <a:extLst xmlns:a="http://schemas.openxmlformats.org/drawingml/2006/main">
              <a:ext uri="{FF2B5EF4-FFF2-40B4-BE49-F238E27FC236}">
                <a16:creationId xmlns:a16="http://schemas.microsoft.com/office/drawing/2014/main" id="{FE366ED8-ED06-42B9-8520-F4C5A42F75F9}"/>
              </a:ext>
            </a:extLst>
          </p:cNvPr>
          <p:cNvSpPr>
            <a:spLocks xmlns:a="http://schemas.openxmlformats.org/drawingml/2006/main" noGrp="1"/>
          </p:cNvSpPr>
          <p:nvPr/>
        </p:nvSpPr>
        <p:spPr>
          <a:xfrm xmlns:a="http://schemas.openxmlformats.org/drawingml/2006/main">
            <a:off x="8782050" y="2000250"/>
            <a:ext cx="1428750" cy="47625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376217B3-A407-42C3-BE53-4ED56BAFB0FF}"/>
              </a:ext>
            </a:extLst>
          </p:cNvPr>
          <p:cNvSpPr>
            <a:spLocks xmlns:a="http://schemas.openxmlformats.org/drawingml/2006/main" noGrp="1"/>
          </p:cNvSpPr>
          <p:nvPr/>
        </p:nvSpPr>
        <p:spPr>
          <a:xfrm xmlns:a="http://schemas.openxmlformats.org/drawingml/2006/main">
            <a:off x="8877300" y="2076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‏تناسب</a:t>
            </a:r>
          </a:p>
        </p:txBody>
      </p:sp>
      <p:sp>
        <p:nvSpPr>
          <p:cNvPr id="11" name="">
            <a:extLst xmlns:a="http://schemas.openxmlformats.org/drawingml/2006/main">
              <a:ext uri="{FF2B5EF4-FFF2-40B4-BE49-F238E27FC236}">
                <a16:creationId xmlns:a16="http://schemas.microsoft.com/office/drawing/2014/main" id="{83AA877C-E68A-4C75-9908-201B14233CC0}"/>
              </a:ext>
            </a:extLst>
          </p:cNvPr>
          <p:cNvSpPr>
            <a:spLocks xmlns:a="http://schemas.openxmlformats.org/drawingml/2006/main" noGrp="1"/>
          </p:cNvSpPr>
          <p:nvPr/>
        </p:nvSpPr>
        <p:spPr>
          <a:xfrm xmlns:a="http://schemas.openxmlformats.org/drawingml/2006/main">
            <a:off x="781050" y="2476500"/>
            <a:ext cx="2190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8DAFC8AD-EA95-4C23-ABF1-AFAACD140B15}"/>
              </a:ext>
            </a:extLst>
          </p:cNvPr>
          <p:cNvSpPr>
            <a:spLocks xmlns:a="http://schemas.openxmlformats.org/drawingml/2006/main" noGrp="1"/>
          </p:cNvSpPr>
          <p:nvPr/>
        </p:nvSpPr>
        <p:spPr>
          <a:xfrm xmlns:a="http://schemas.openxmlformats.org/drawingml/2006/main">
            <a:off x="876300" y="25527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latin typeface="Tahoma"/>
                <a:ea typeface="Tahoma"/>
                <a:cs typeface="Tahoma"/>
              </a:defRPr>
            </a:pPr>
            <a:r>
              <a:rPr sz="1050" b="0">
                <a:solidFill>
                  <a:srgbClr val="111111"/>
                </a:solidFill>
                <a:latin typeface="Tahoma"/>
                <a:ea typeface="Tahoma"/>
                <a:cs typeface="Tahoma"/>
              </a:rPr>
              <a:t>ZIM</a:t>
            </a:r>
          </a:p>
        </p:txBody>
      </p:sp>
      <p:sp>
        <p:nvSpPr>
          <p:cNvPr id="13" name="">
            <a:extLst xmlns:a="http://schemas.openxmlformats.org/drawingml/2006/main">
              <a:ext uri="{FF2B5EF4-FFF2-40B4-BE49-F238E27FC236}">
                <a16:creationId xmlns:a16="http://schemas.microsoft.com/office/drawing/2014/main" id="{BD665EB6-B03A-49E5-82FC-0EB126AF26E0}"/>
              </a:ext>
            </a:extLst>
          </p:cNvPr>
          <p:cNvSpPr>
            <a:spLocks xmlns:a="http://schemas.openxmlformats.org/drawingml/2006/main" noGrp="1"/>
          </p:cNvSpPr>
          <p:nvPr/>
        </p:nvSpPr>
        <p:spPr>
          <a:xfrm xmlns:a="http://schemas.openxmlformats.org/drawingml/2006/main">
            <a:off x="2971800" y="2476500"/>
            <a:ext cx="5810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E2EFD2FF-F6B2-41AC-842F-80D92459B66B}"/>
              </a:ext>
            </a:extLst>
          </p:cNvPr>
          <p:cNvSpPr>
            <a:spLocks xmlns:a="http://schemas.openxmlformats.org/drawingml/2006/main" noGrp="1"/>
          </p:cNvSpPr>
          <p:nvPr/>
        </p:nvSpPr>
        <p:spPr>
          <a:xfrm xmlns:a="http://schemas.openxmlformats.org/drawingml/2006/main">
            <a:off x="3067050" y="25527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‏پروژه‌های همکاری سنگین در تحقیق‌وتوسعه AI و مواد</a:t>
            </a:r>
          </a:p>
        </p:txBody>
      </p:sp>
      <p:sp>
        <p:nvSpPr>
          <p:cNvPr id="15" name="">
            <a:extLst xmlns:a="http://schemas.openxmlformats.org/drawingml/2006/main">
              <a:ext uri="{FF2B5EF4-FFF2-40B4-BE49-F238E27FC236}">
                <a16:creationId xmlns:a16="http://schemas.microsoft.com/office/drawing/2014/main" id="{1A0827DE-A6C6-4139-A88A-7F270B2C2D3B}"/>
              </a:ext>
            </a:extLst>
          </p:cNvPr>
          <p:cNvSpPr>
            <a:spLocks xmlns:a="http://schemas.openxmlformats.org/drawingml/2006/main" noGrp="1"/>
          </p:cNvSpPr>
          <p:nvPr/>
        </p:nvSpPr>
        <p:spPr>
          <a:xfrm xmlns:a="http://schemas.openxmlformats.org/drawingml/2006/main">
            <a:off x="8782050" y="2476500"/>
            <a:ext cx="1428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8B6FEC11-F937-4BB7-8812-6125EAAC6504}"/>
              </a:ext>
            </a:extLst>
          </p:cNvPr>
          <p:cNvSpPr>
            <a:spLocks xmlns:a="http://schemas.openxmlformats.org/drawingml/2006/main" noGrp="1"/>
          </p:cNvSpPr>
          <p:nvPr/>
        </p:nvSpPr>
        <p:spPr>
          <a:xfrm xmlns:a="http://schemas.openxmlformats.org/drawingml/2006/main">
            <a:off x="8877300" y="25527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‏بالا</a:t>
            </a:r>
          </a:p>
        </p:txBody>
      </p:sp>
      <p:sp>
        <p:nvSpPr>
          <p:cNvPr id="17" name="">
            <a:extLst xmlns:a="http://schemas.openxmlformats.org/drawingml/2006/main">
              <a:ext uri="{FF2B5EF4-FFF2-40B4-BE49-F238E27FC236}">
                <a16:creationId xmlns:a16="http://schemas.microsoft.com/office/drawing/2014/main" id="{76E4D907-D95E-428E-B9B9-10B413D46001}"/>
              </a:ext>
            </a:extLst>
          </p:cNvPr>
          <p:cNvSpPr>
            <a:spLocks xmlns:a="http://schemas.openxmlformats.org/drawingml/2006/main" noGrp="1"/>
          </p:cNvSpPr>
          <p:nvPr/>
        </p:nvSpPr>
        <p:spPr>
          <a:xfrm xmlns:a="http://schemas.openxmlformats.org/drawingml/2006/main">
            <a:off x="781050" y="2952750"/>
            <a:ext cx="2190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A8C80637-C9DD-4708-B97C-BB9740533999}"/>
              </a:ext>
            </a:extLst>
          </p:cNvPr>
          <p:cNvSpPr>
            <a:spLocks xmlns:a="http://schemas.openxmlformats.org/drawingml/2006/main" noGrp="1"/>
          </p:cNvSpPr>
          <p:nvPr/>
        </p:nvSpPr>
        <p:spPr>
          <a:xfrm xmlns:a="http://schemas.openxmlformats.org/drawingml/2006/main">
            <a:off x="876300" y="30289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latin typeface="Tahoma"/>
                <a:ea typeface="Tahoma"/>
                <a:cs typeface="Tahoma"/>
              </a:defRPr>
            </a:pPr>
            <a:r>
              <a:rPr sz="1050" b="0">
                <a:solidFill>
                  <a:srgbClr val="111111"/>
                </a:solidFill>
                <a:latin typeface="Tahoma"/>
                <a:ea typeface="Tahoma"/>
                <a:cs typeface="Tahoma"/>
              </a:rPr>
              <a:t>Forschungszulage</a:t>
            </a:r>
          </a:p>
        </p:txBody>
      </p:sp>
      <p:sp>
        <p:nvSpPr>
          <p:cNvPr id="19" name="">
            <a:extLst xmlns:a="http://schemas.openxmlformats.org/drawingml/2006/main">
              <a:ext uri="{FF2B5EF4-FFF2-40B4-BE49-F238E27FC236}">
                <a16:creationId xmlns:a16="http://schemas.microsoft.com/office/drawing/2014/main" id="{E5711584-6EB2-43FC-B1CA-0733D12AB5FA}"/>
              </a:ext>
            </a:extLst>
          </p:cNvPr>
          <p:cNvSpPr>
            <a:spLocks xmlns:a="http://schemas.openxmlformats.org/drawingml/2006/main" noGrp="1"/>
          </p:cNvSpPr>
          <p:nvPr/>
        </p:nvSpPr>
        <p:spPr>
          <a:xfrm xmlns:a="http://schemas.openxmlformats.org/drawingml/2006/main">
            <a:off x="2971800" y="2952750"/>
            <a:ext cx="58102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F0C0B582-23B9-480D-AA86-EC8AE839162F}"/>
              </a:ext>
            </a:extLst>
          </p:cNvPr>
          <p:cNvSpPr>
            <a:spLocks xmlns:a="http://schemas.openxmlformats.org/drawingml/2006/main" noGrp="1"/>
          </p:cNvSpPr>
          <p:nvPr/>
        </p:nvSpPr>
        <p:spPr>
          <a:xfrm xmlns:a="http://schemas.openxmlformats.org/drawingml/2006/main">
            <a:off x="3067050" y="30289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‏ابهام فنی در فرمولاسیون یا کیفیت پیش‌بینانه</a:t>
            </a:r>
          </a:p>
        </p:txBody>
      </p:sp>
      <p:sp>
        <p:nvSpPr>
          <p:cNvPr id="21" name="">
            <a:extLst xmlns:a="http://schemas.openxmlformats.org/drawingml/2006/main">
              <a:ext uri="{FF2B5EF4-FFF2-40B4-BE49-F238E27FC236}">
                <a16:creationId xmlns:a16="http://schemas.microsoft.com/office/drawing/2014/main" id="{8E34E752-203A-4407-8272-439FF8F1E0FF}"/>
              </a:ext>
            </a:extLst>
          </p:cNvPr>
          <p:cNvSpPr>
            <a:spLocks xmlns:a="http://schemas.openxmlformats.org/drawingml/2006/main" noGrp="1"/>
          </p:cNvSpPr>
          <p:nvPr/>
        </p:nvSpPr>
        <p:spPr>
          <a:xfrm xmlns:a="http://schemas.openxmlformats.org/drawingml/2006/main">
            <a:off x="8782050" y="2952750"/>
            <a:ext cx="1428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393BC42C-3C6F-4C39-AC20-1DCF1A670D9D}"/>
              </a:ext>
            </a:extLst>
          </p:cNvPr>
          <p:cNvSpPr>
            <a:spLocks xmlns:a="http://schemas.openxmlformats.org/drawingml/2006/main" noGrp="1"/>
          </p:cNvSpPr>
          <p:nvPr/>
        </p:nvSpPr>
        <p:spPr>
          <a:xfrm xmlns:a="http://schemas.openxmlformats.org/drawingml/2006/main">
            <a:off x="8877300" y="30289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‏بالا</a:t>
            </a:r>
          </a:p>
        </p:txBody>
      </p:sp>
      <p:sp>
        <p:nvSpPr>
          <p:cNvPr id="23" name="">
            <a:extLst xmlns:a="http://schemas.openxmlformats.org/drawingml/2006/main">
              <a:ext uri="{FF2B5EF4-FFF2-40B4-BE49-F238E27FC236}">
                <a16:creationId xmlns:a16="http://schemas.microsoft.com/office/drawing/2014/main" id="{7365A404-E1C0-41D5-A638-9E4B3F46085F}"/>
              </a:ext>
            </a:extLst>
          </p:cNvPr>
          <p:cNvSpPr>
            <a:spLocks xmlns:a="http://schemas.openxmlformats.org/drawingml/2006/main" noGrp="1"/>
          </p:cNvSpPr>
          <p:nvPr/>
        </p:nvSpPr>
        <p:spPr>
          <a:xfrm xmlns:a="http://schemas.openxmlformats.org/drawingml/2006/main">
            <a:off x="781050" y="3429000"/>
            <a:ext cx="2190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0D240FA5-2EBE-41E2-95CE-83578C2FAAB2}"/>
              </a:ext>
            </a:extLst>
          </p:cNvPr>
          <p:cNvSpPr>
            <a:spLocks xmlns:a="http://schemas.openxmlformats.org/drawingml/2006/main" noGrp="1"/>
          </p:cNvSpPr>
          <p:nvPr/>
        </p:nvSpPr>
        <p:spPr>
          <a:xfrm xmlns:a="http://schemas.openxmlformats.org/drawingml/2006/main">
            <a:off x="876300" y="35052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latin typeface="Tahoma"/>
                <a:ea typeface="Tahoma"/>
                <a:cs typeface="Tahoma"/>
              </a:defRPr>
            </a:pPr>
            <a:r>
              <a:rPr sz="1050" b="0">
                <a:solidFill>
                  <a:srgbClr val="111111"/>
                </a:solidFill>
                <a:latin typeface="Tahoma"/>
                <a:ea typeface="Tahoma"/>
                <a:cs typeface="Tahoma"/>
              </a:rPr>
              <a:t>NRW MID-Digitalisierung</a:t>
            </a:r>
          </a:p>
        </p:txBody>
      </p:sp>
      <p:sp>
        <p:nvSpPr>
          <p:cNvPr id="25" name="">
            <a:extLst xmlns:a="http://schemas.openxmlformats.org/drawingml/2006/main">
              <a:ext uri="{FF2B5EF4-FFF2-40B4-BE49-F238E27FC236}">
                <a16:creationId xmlns:a16="http://schemas.microsoft.com/office/drawing/2014/main" id="{76A2808E-E098-4F5F-A581-0CDD4200E5AC}"/>
              </a:ext>
            </a:extLst>
          </p:cNvPr>
          <p:cNvSpPr>
            <a:spLocks xmlns:a="http://schemas.openxmlformats.org/drawingml/2006/main" noGrp="1"/>
          </p:cNvSpPr>
          <p:nvPr/>
        </p:nvSpPr>
        <p:spPr>
          <a:xfrm xmlns:a="http://schemas.openxmlformats.org/drawingml/2006/main">
            <a:off x="2971800" y="3429000"/>
            <a:ext cx="5810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D051E707-DE94-46ED-8BB9-2F3C9B114A58}"/>
              </a:ext>
            </a:extLst>
          </p:cNvPr>
          <p:cNvSpPr>
            <a:spLocks xmlns:a="http://schemas.openxmlformats.org/drawingml/2006/main" noGrp="1"/>
          </p:cNvSpPr>
          <p:nvPr/>
        </p:nvSpPr>
        <p:spPr>
          <a:xfrm xmlns:a="http://schemas.openxmlformats.org/drawingml/2006/main">
            <a:off x="3067050" y="35052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‏محصول دیجیتال قابل فروش با AI یا ML، نه دیجیتالی‌سازی صرفا داخلی</a:t>
            </a:r>
          </a:p>
        </p:txBody>
      </p:sp>
      <p:sp>
        <p:nvSpPr>
          <p:cNvPr id="27" name="">
            <a:extLst xmlns:a="http://schemas.openxmlformats.org/drawingml/2006/main">
              <a:ext uri="{FF2B5EF4-FFF2-40B4-BE49-F238E27FC236}">
                <a16:creationId xmlns:a16="http://schemas.microsoft.com/office/drawing/2014/main" id="{96D7A632-1943-45CE-97DB-9B5B2F36FF6A}"/>
              </a:ext>
            </a:extLst>
          </p:cNvPr>
          <p:cNvSpPr>
            <a:spLocks xmlns:a="http://schemas.openxmlformats.org/drawingml/2006/main" noGrp="1"/>
          </p:cNvSpPr>
          <p:nvPr/>
        </p:nvSpPr>
        <p:spPr>
          <a:xfrm xmlns:a="http://schemas.openxmlformats.org/drawingml/2006/main">
            <a:off x="8782050" y="3429000"/>
            <a:ext cx="1428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E5033C6A-A060-4F57-8EE1-CDD772FC9990}"/>
              </a:ext>
            </a:extLst>
          </p:cNvPr>
          <p:cNvSpPr>
            <a:spLocks xmlns:a="http://schemas.openxmlformats.org/drawingml/2006/main" noGrp="1"/>
          </p:cNvSpPr>
          <p:nvPr/>
        </p:nvSpPr>
        <p:spPr>
          <a:xfrm xmlns:a="http://schemas.openxmlformats.org/drawingml/2006/main">
            <a:off x="8877300" y="35052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‏انتخابی</a:t>
            </a:r>
          </a:p>
        </p:txBody>
      </p:sp>
      <p:sp>
        <p:nvSpPr>
          <p:cNvPr id="29" name="">
            <a:extLst xmlns:a="http://schemas.openxmlformats.org/drawingml/2006/main">
              <a:ext uri="{FF2B5EF4-FFF2-40B4-BE49-F238E27FC236}">
                <a16:creationId xmlns:a16="http://schemas.microsoft.com/office/drawing/2014/main" id="{FDFBB11F-0234-4FB8-B3F3-E740B3C330E8}"/>
              </a:ext>
            </a:extLst>
          </p:cNvPr>
          <p:cNvSpPr>
            <a:spLocks xmlns:a="http://schemas.openxmlformats.org/drawingml/2006/main" noGrp="1"/>
          </p:cNvSpPr>
          <p:nvPr/>
        </p:nvSpPr>
        <p:spPr>
          <a:xfrm xmlns:a="http://schemas.openxmlformats.org/drawingml/2006/main">
            <a:off x="781050" y="3905250"/>
            <a:ext cx="2190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F484578D-A0C2-4DAE-90FD-E22E9694015D}"/>
              </a:ext>
            </a:extLst>
          </p:cNvPr>
          <p:cNvSpPr>
            <a:spLocks xmlns:a="http://schemas.openxmlformats.org/drawingml/2006/main" noGrp="1"/>
          </p:cNvSpPr>
          <p:nvPr/>
        </p:nvSpPr>
        <p:spPr>
          <a:xfrm xmlns:a="http://schemas.openxmlformats.org/drawingml/2006/main">
            <a:off x="876300" y="39814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latin typeface="Tahoma"/>
                <a:ea typeface="Tahoma"/>
                <a:cs typeface="Tahoma"/>
              </a:defRPr>
            </a:pPr>
            <a:r>
              <a:rPr sz="1050" b="0">
                <a:solidFill>
                  <a:srgbClr val="111111"/>
                </a:solidFill>
                <a:latin typeface="Tahoma"/>
                <a:ea typeface="Tahoma"/>
                <a:cs typeface="Tahoma"/>
              </a:rPr>
              <a:t>NRW MID-Assistent(in)</a:t>
            </a:r>
          </a:p>
        </p:txBody>
      </p:sp>
      <p:sp>
        <p:nvSpPr>
          <p:cNvPr id="31" name="">
            <a:extLst xmlns:a="http://schemas.openxmlformats.org/drawingml/2006/main">
              <a:ext uri="{FF2B5EF4-FFF2-40B4-BE49-F238E27FC236}">
                <a16:creationId xmlns:a16="http://schemas.microsoft.com/office/drawing/2014/main" id="{635FD15E-9F20-4124-B1C9-7DEA5FC95363}"/>
              </a:ext>
            </a:extLst>
          </p:cNvPr>
          <p:cNvSpPr>
            <a:spLocks xmlns:a="http://schemas.openxmlformats.org/drawingml/2006/main" noGrp="1"/>
          </p:cNvSpPr>
          <p:nvPr/>
        </p:nvSpPr>
        <p:spPr>
          <a:xfrm xmlns:a="http://schemas.openxmlformats.org/drawingml/2006/main">
            <a:off x="2971800" y="3905250"/>
            <a:ext cx="58102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49688D20-11D1-47EE-8ADA-0932AFC7A7B8}"/>
              </a:ext>
            </a:extLst>
          </p:cNvPr>
          <p:cNvSpPr>
            <a:spLocks xmlns:a="http://schemas.openxmlformats.org/drawingml/2006/main" noGrp="1"/>
          </p:cNvSpPr>
          <p:nvPr/>
        </p:nvSpPr>
        <p:spPr>
          <a:xfrm xmlns:a="http://schemas.openxmlformats.org/drawingml/2006/main">
            <a:off x="3067050" y="39814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‏استخدام فارغ‌التحصیل AI/داده برای نوآوری</a:t>
            </a:r>
          </a:p>
        </p:txBody>
      </p:sp>
      <p:sp>
        <p:nvSpPr>
          <p:cNvPr id="33" name="">
            <a:extLst xmlns:a="http://schemas.openxmlformats.org/drawingml/2006/main">
              <a:ext uri="{FF2B5EF4-FFF2-40B4-BE49-F238E27FC236}">
                <a16:creationId xmlns:a16="http://schemas.microsoft.com/office/drawing/2014/main" id="{CD53535B-4E72-496D-A7C2-621AA5B0231F}"/>
              </a:ext>
            </a:extLst>
          </p:cNvPr>
          <p:cNvSpPr>
            <a:spLocks xmlns:a="http://schemas.openxmlformats.org/drawingml/2006/main" noGrp="1"/>
          </p:cNvSpPr>
          <p:nvPr/>
        </p:nvSpPr>
        <p:spPr>
          <a:xfrm xmlns:a="http://schemas.openxmlformats.org/drawingml/2006/main">
            <a:off x="8782050" y="3905250"/>
            <a:ext cx="1428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E4DB9ED3-3E9E-4192-ADE6-7D0353A6F95A}"/>
              </a:ext>
            </a:extLst>
          </p:cNvPr>
          <p:cNvSpPr>
            <a:spLocks xmlns:a="http://schemas.openxmlformats.org/drawingml/2006/main" noGrp="1"/>
          </p:cNvSpPr>
          <p:nvPr/>
        </p:nvSpPr>
        <p:spPr>
          <a:xfrm xmlns:a="http://schemas.openxmlformats.org/drawingml/2006/main">
            <a:off x="8877300" y="39814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‏قوی</a:t>
            </a:r>
          </a:p>
        </p:txBody>
      </p:sp>
      <p:sp>
        <p:nvSpPr>
          <p:cNvPr id="35" name="">
            <a:extLst xmlns:a="http://schemas.openxmlformats.org/drawingml/2006/main">
              <a:ext uri="{FF2B5EF4-FFF2-40B4-BE49-F238E27FC236}">
                <a16:creationId xmlns:a16="http://schemas.microsoft.com/office/drawing/2014/main" id="{F9799B9B-D78C-48CA-B1F0-33B398D0B5DB}"/>
              </a:ext>
            </a:extLst>
          </p:cNvPr>
          <p:cNvSpPr>
            <a:spLocks xmlns:a="http://schemas.openxmlformats.org/drawingml/2006/main" noGrp="1"/>
          </p:cNvSpPr>
          <p:nvPr/>
        </p:nvSpPr>
        <p:spPr>
          <a:xfrm xmlns:a="http://schemas.openxmlformats.org/drawingml/2006/main">
            <a:off x="781050" y="4381500"/>
            <a:ext cx="2190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6" name="">
            <a:extLst xmlns:a="http://schemas.openxmlformats.org/drawingml/2006/main">
              <a:ext uri="{FF2B5EF4-FFF2-40B4-BE49-F238E27FC236}">
                <a16:creationId xmlns:a16="http://schemas.microsoft.com/office/drawing/2014/main" id="{C4820E12-595D-4CDA-BACA-FF232E3AA661}"/>
              </a:ext>
            </a:extLst>
          </p:cNvPr>
          <p:cNvSpPr>
            <a:spLocks xmlns:a="http://schemas.openxmlformats.org/drawingml/2006/main" noGrp="1"/>
          </p:cNvSpPr>
          <p:nvPr/>
        </p:nvSpPr>
        <p:spPr>
          <a:xfrm xmlns:a="http://schemas.openxmlformats.org/drawingml/2006/main">
            <a:off x="876300" y="44577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latin typeface="Tahoma"/>
                <a:ea typeface="Tahoma"/>
                <a:cs typeface="Tahoma"/>
              </a:defRPr>
            </a:pPr>
            <a:r>
              <a:rPr sz="1050" b="0">
                <a:solidFill>
                  <a:srgbClr val="111111"/>
                </a:solidFill>
                <a:latin typeface="Tahoma"/>
                <a:ea typeface="Tahoma"/>
                <a:cs typeface="Tahoma"/>
              </a:rPr>
              <a:t>BAFA EEW</a:t>
            </a:r>
          </a:p>
        </p:txBody>
      </p:sp>
      <p:sp>
        <p:nvSpPr>
          <p:cNvPr id="37" name="">
            <a:extLst xmlns:a="http://schemas.openxmlformats.org/drawingml/2006/main">
              <a:ext uri="{FF2B5EF4-FFF2-40B4-BE49-F238E27FC236}">
                <a16:creationId xmlns:a16="http://schemas.microsoft.com/office/drawing/2014/main" id="{797CCACC-403F-4784-8916-E2076F2E61EA}"/>
              </a:ext>
            </a:extLst>
          </p:cNvPr>
          <p:cNvSpPr>
            <a:spLocks xmlns:a="http://schemas.openxmlformats.org/drawingml/2006/main" noGrp="1"/>
          </p:cNvSpPr>
          <p:nvPr/>
        </p:nvSpPr>
        <p:spPr>
          <a:xfrm xmlns:a="http://schemas.openxmlformats.org/drawingml/2006/main">
            <a:off x="2971800" y="4381500"/>
            <a:ext cx="5810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38" name="">
            <a:extLst xmlns:a="http://schemas.openxmlformats.org/drawingml/2006/main">
              <a:ext uri="{FF2B5EF4-FFF2-40B4-BE49-F238E27FC236}">
                <a16:creationId xmlns:a16="http://schemas.microsoft.com/office/drawing/2014/main" id="{3C24072C-0D27-4C4C-AAAA-D648956EC282}"/>
              </a:ext>
            </a:extLst>
          </p:cNvPr>
          <p:cNvSpPr>
            <a:spLocks xmlns:a="http://schemas.openxmlformats.org/drawingml/2006/main" noGrp="1"/>
          </p:cNvSpPr>
          <p:nvPr/>
        </p:nvSpPr>
        <p:spPr>
          <a:xfrm xmlns:a="http://schemas.openxmlformats.org/drawingml/2006/main">
            <a:off x="3067050" y="44577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‏بهره‌وری انرژی/منابع، سنسوریک، نرم‌افزار مدیریت، بهینه‌سازی</a:t>
            </a:r>
          </a:p>
        </p:txBody>
      </p:sp>
      <p:sp>
        <p:nvSpPr>
          <p:cNvPr id="39" name="">
            <a:extLst xmlns:a="http://schemas.openxmlformats.org/drawingml/2006/main">
              <a:ext uri="{FF2B5EF4-FFF2-40B4-BE49-F238E27FC236}">
                <a16:creationId xmlns:a16="http://schemas.microsoft.com/office/drawing/2014/main" id="{CD832F0D-716B-462E-A560-762429899B95}"/>
              </a:ext>
            </a:extLst>
          </p:cNvPr>
          <p:cNvSpPr>
            <a:spLocks xmlns:a="http://schemas.openxmlformats.org/drawingml/2006/main" noGrp="1"/>
          </p:cNvSpPr>
          <p:nvPr/>
        </p:nvSpPr>
        <p:spPr>
          <a:xfrm xmlns:a="http://schemas.openxmlformats.org/drawingml/2006/main">
            <a:off x="8782050" y="4381500"/>
            <a:ext cx="14287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40" name="">
            <a:extLst xmlns:a="http://schemas.openxmlformats.org/drawingml/2006/main">
              <a:ext uri="{FF2B5EF4-FFF2-40B4-BE49-F238E27FC236}">
                <a16:creationId xmlns:a16="http://schemas.microsoft.com/office/drawing/2014/main" id="{4C95E17F-1E9A-4FB1-867B-7DE63AC1B332}"/>
              </a:ext>
            </a:extLst>
          </p:cNvPr>
          <p:cNvSpPr>
            <a:spLocks xmlns:a="http://schemas.openxmlformats.org/drawingml/2006/main" noGrp="1"/>
          </p:cNvSpPr>
          <p:nvPr/>
        </p:nvSpPr>
        <p:spPr>
          <a:xfrm xmlns:a="http://schemas.openxmlformats.org/drawingml/2006/main">
            <a:off x="8877300" y="44577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‏مشروط</a:t>
            </a:r>
          </a:p>
        </p:txBody>
      </p:sp>
      <p:sp>
        <p:nvSpPr>
          <p:cNvPr id="41" name="">
            <a:extLst xmlns:a="http://schemas.openxmlformats.org/drawingml/2006/main">
              <a:ext uri="{FF2B5EF4-FFF2-40B4-BE49-F238E27FC236}">
                <a16:creationId xmlns:a16="http://schemas.microsoft.com/office/drawing/2014/main" id="{385ADFA3-A542-4C22-995E-B29F9107FA80}"/>
              </a:ext>
            </a:extLst>
          </p:cNvPr>
          <p:cNvSpPr>
            <a:spLocks xmlns:a="http://schemas.openxmlformats.org/drawingml/2006/main" noGrp="1"/>
          </p:cNvSpPr>
          <p:nvPr/>
        </p:nvSpPr>
        <p:spPr>
          <a:xfrm xmlns:a="http://schemas.openxmlformats.org/drawingml/2006/main">
            <a:off x="781050" y="4857750"/>
            <a:ext cx="2190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2" name="">
            <a:extLst xmlns:a="http://schemas.openxmlformats.org/drawingml/2006/main">
              <a:ext uri="{FF2B5EF4-FFF2-40B4-BE49-F238E27FC236}">
                <a16:creationId xmlns:a16="http://schemas.microsoft.com/office/drawing/2014/main" id="{C1D5E0E4-6885-47A1-B6DF-F372D7677523}"/>
              </a:ext>
            </a:extLst>
          </p:cNvPr>
          <p:cNvSpPr>
            <a:spLocks xmlns:a="http://schemas.openxmlformats.org/drawingml/2006/main" noGrp="1"/>
          </p:cNvSpPr>
          <p:nvPr/>
        </p:nvSpPr>
        <p:spPr>
          <a:xfrm xmlns:a="http://schemas.openxmlformats.org/drawingml/2006/main">
            <a:off x="876300" y="49339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111"/>
                </a:solidFill>
                <a:latin typeface="Tahoma"/>
                <a:ea typeface="Tahoma"/>
                <a:cs typeface="Tahoma"/>
              </a:defRPr>
            </a:pPr>
            <a:r>
              <a:rPr sz="1050" b="0">
                <a:solidFill>
                  <a:srgbClr val="111111"/>
                </a:solidFill>
                <a:latin typeface="Tahoma"/>
                <a:ea typeface="Tahoma"/>
                <a:cs typeface="Tahoma"/>
              </a:rPr>
              <a:t>Eurostars/Horizon</a:t>
            </a:r>
          </a:p>
        </p:txBody>
      </p:sp>
      <p:sp>
        <p:nvSpPr>
          <p:cNvPr id="43" name="">
            <a:extLst xmlns:a="http://schemas.openxmlformats.org/drawingml/2006/main">
              <a:ext uri="{FF2B5EF4-FFF2-40B4-BE49-F238E27FC236}">
                <a16:creationId xmlns:a16="http://schemas.microsoft.com/office/drawing/2014/main" id="{EFEFAC0E-3A52-4779-BEA3-04497589A833}"/>
              </a:ext>
            </a:extLst>
          </p:cNvPr>
          <p:cNvSpPr>
            <a:spLocks xmlns:a="http://schemas.openxmlformats.org/drawingml/2006/main" noGrp="1"/>
          </p:cNvSpPr>
          <p:nvPr/>
        </p:nvSpPr>
        <p:spPr>
          <a:xfrm xmlns:a="http://schemas.openxmlformats.org/drawingml/2006/main">
            <a:off x="2971800" y="4857750"/>
            <a:ext cx="58102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4" name="">
            <a:extLst xmlns:a="http://schemas.openxmlformats.org/drawingml/2006/main">
              <a:ext uri="{FF2B5EF4-FFF2-40B4-BE49-F238E27FC236}">
                <a16:creationId xmlns:a16="http://schemas.microsoft.com/office/drawing/2014/main" id="{BC0A4A29-7DD1-4609-9794-34BA45F4FA1B}"/>
              </a:ext>
            </a:extLst>
          </p:cNvPr>
          <p:cNvSpPr>
            <a:spLocks xmlns:a="http://schemas.openxmlformats.org/drawingml/2006/main" noGrp="1"/>
          </p:cNvSpPr>
          <p:nvPr/>
        </p:nvSpPr>
        <p:spPr>
          <a:xfrm xmlns:a="http://schemas.openxmlformats.org/drawingml/2006/main">
            <a:off x="3067050" y="49339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‏کنسرسیوم‌های بین‌المللی تحقیق‌وتوسعه و مواد/ساخت پیشرفته</a:t>
            </a:r>
          </a:p>
        </p:txBody>
      </p:sp>
      <p:sp>
        <p:nvSpPr>
          <p:cNvPr id="45" name="">
            <a:extLst xmlns:a="http://schemas.openxmlformats.org/drawingml/2006/main">
              <a:ext uri="{FF2B5EF4-FFF2-40B4-BE49-F238E27FC236}">
                <a16:creationId xmlns:a16="http://schemas.microsoft.com/office/drawing/2014/main" id="{68A347AA-4852-4323-99D0-EAA763B64CA4}"/>
              </a:ext>
            </a:extLst>
          </p:cNvPr>
          <p:cNvSpPr>
            <a:spLocks xmlns:a="http://schemas.openxmlformats.org/drawingml/2006/main" noGrp="1"/>
          </p:cNvSpPr>
          <p:nvPr/>
        </p:nvSpPr>
        <p:spPr>
          <a:xfrm xmlns:a="http://schemas.openxmlformats.org/drawingml/2006/main">
            <a:off x="8782050" y="4857750"/>
            <a:ext cx="1428750" cy="4762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46" name="">
            <a:extLst xmlns:a="http://schemas.openxmlformats.org/drawingml/2006/main">
              <a:ext uri="{FF2B5EF4-FFF2-40B4-BE49-F238E27FC236}">
                <a16:creationId xmlns:a16="http://schemas.microsoft.com/office/drawing/2014/main" id="{90F99E7D-BF3B-4997-9D13-2239A8D1B211}"/>
              </a:ext>
            </a:extLst>
          </p:cNvPr>
          <p:cNvSpPr>
            <a:spLocks xmlns:a="http://schemas.openxmlformats.org/drawingml/2006/main" noGrp="1"/>
          </p:cNvSpPr>
          <p:nvPr/>
        </p:nvSpPr>
        <p:spPr>
          <a:xfrm xmlns:a="http://schemas.openxmlformats.org/drawingml/2006/main">
            <a:off x="8877300" y="49339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‏بعدا</a:t>
            </a:r>
          </a:p>
        </p:txBody>
      </p:sp>
      <p:sp>
        <p:nvSpPr>
          <p:cNvPr id="47" name="">
            <a:extLst xmlns:a="http://schemas.openxmlformats.org/drawingml/2006/main">
              <a:ext uri="{FF2B5EF4-FFF2-40B4-BE49-F238E27FC236}">
                <a16:creationId xmlns:a16="http://schemas.microsoft.com/office/drawing/2014/main" id="{65B3A8E2-4EA6-4521-877A-5938B87EF008}"/>
              </a:ext>
            </a:extLst>
          </p:cNvPr>
          <p:cNvSpPr>
            <a:spLocks xmlns:a="http://schemas.openxmlformats.org/drawingml/2006/main" noGrp="1"/>
          </p:cNvSpPr>
          <p:nvPr/>
        </p:nvSpPr>
        <p:spPr>
          <a:xfrm xmlns:a="http://schemas.openxmlformats.org/drawingml/2006/main">
            <a:off x="781050" y="2000250"/>
            <a:ext cx="9429750" cy="333375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48" name="">
            <a:extLst xmlns:a="http://schemas.openxmlformats.org/drawingml/2006/main">
              <a:ext uri="{FF2B5EF4-FFF2-40B4-BE49-F238E27FC236}">
                <a16:creationId xmlns:a16="http://schemas.microsoft.com/office/drawing/2014/main" id="{EB73D3CC-B79B-437B-9312-F530E14C7672}"/>
              </a:ext>
            </a:extLst>
          </p:cNvPr>
          <p:cNvSpPr>
            <a:spLocks xmlns:a="http://schemas.openxmlformats.org/drawingml/2006/main" noGrp="1"/>
          </p:cNvSpPr>
          <p:nvPr/>
        </p:nvSpPr>
        <p:spPr>
          <a:xfrm xmlns:a="http://schemas.openxmlformats.org/drawingml/2006/main">
            <a:off x="1143000" y="557212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39200"/>
                </a:solidFill>
                <a:latin typeface="Tahoma"/>
                <a:ea typeface="Tahoma"/>
                <a:cs typeface="Tahoma"/>
              </a:defRPr>
            </a:pPr>
            <a:r>
              <a:rPr sz="1800" b="1">
                <a:solidFill>
                  <a:srgbClr val="F39200"/>
                </a:solidFill>
                <a:latin typeface="Tahoma"/>
                <a:ea typeface="Tahoma"/>
                <a:cs typeface="Tahoma"/>
              </a:rPr>
              <a:t>‏استراتژی: ابتدا داخلی شروع کنید، سپس تحقیق‌وتوسعه و مقیاس‌دهی را تامین مالی کنید.</a:t>
            </a:r>
          </a:p>
        </p:txBody>
      </p:sp>
      <p:sp>
        <p:nvSpPr>
          <p:cNvPr id="49" name="">
            <a:extLst xmlns:a="http://schemas.openxmlformats.org/drawingml/2006/main">
              <a:ext uri="{FF2B5EF4-FFF2-40B4-BE49-F238E27FC236}">
                <a16:creationId xmlns:a16="http://schemas.microsoft.com/office/drawing/2014/main" id="{CE7F5387-8EA6-460D-8D25-B3CB2A9827AA}"/>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50" name="">
            <a:extLst xmlns:a="http://schemas.openxmlformats.org/drawingml/2006/main">
              <a:ext uri="{FF2B5EF4-FFF2-40B4-BE49-F238E27FC236}">
                <a16:creationId xmlns:a16="http://schemas.microsoft.com/office/drawing/2014/main" id="{C94F59D0-6741-4B6F-B93D-6E0C776B9157}"/>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latin typeface="Tahoma"/>
                <a:ea typeface="Tahoma"/>
                <a:cs typeface="Tahoma"/>
              </a:defRPr>
            </a:pPr>
            <a:r>
              <a:rPr sz="675" b="0">
                <a:solidFill>
                  <a:srgbClr val="777777"/>
                </a:solidFill>
                <a:latin typeface="Tahoma"/>
                <a:ea typeface="Tahoma"/>
                <a:cs typeface="Tahoma"/>
              </a:rPr>
              <a:t>‏منابع: ZIM، BSFZ، NRW.BANK MID، BAFA EEW، Eurostars، Horizon Europe</a:t>
            </a:r>
          </a:p>
        </p:txBody>
      </p:sp>
      <p:sp>
        <p:nvSpPr>
          <p:cNvPr id="51" name="">
            <a:extLst xmlns:a="http://schemas.openxmlformats.org/drawingml/2006/main">
              <a:ext uri="{FF2B5EF4-FFF2-40B4-BE49-F238E27FC236}">
                <a16:creationId xmlns:a16="http://schemas.microsoft.com/office/drawing/2014/main" id="{AA3B9B31-131A-41D2-9C92-700D8761AC92}"/>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17</a:t>
            </a:r>
          </a:p>
        </p:txBody>
      </p:sp>
    </p:spTree>
    <p:extLst>
      <p:ext uri="{BB962C8B-B14F-4D97-AF65-F5344CB8AC3E}">
        <p14:creationId xmlns:p14="http://schemas.microsoft.com/office/powerpoint/2010/main" val="143739146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9369AA-DA75-4186-91E5-9BB97ED4F6F0}"/>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‏کنترل ریسک</a:t>
            </a:r>
          </a:p>
        </p:txBody>
      </p:sp>
      <p:sp>
        <p:nvSpPr>
          <p:cNvPr id="2" name="">
            <a:extLst xmlns:a="http://schemas.openxmlformats.org/drawingml/2006/main">
              <a:ext uri="{FF2B5EF4-FFF2-40B4-BE49-F238E27FC236}">
                <a16:creationId xmlns:a16="http://schemas.microsoft.com/office/drawing/2014/main" id="{2180DEC7-BDBD-4BE4-839A-96EEBA3C744F}"/>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‏ریسک قابل مدیریت است اگر فاز اول کنترل‌شده بماند</a:t>
            </a:r>
          </a:p>
        </p:txBody>
      </p:sp>
      <p:sp>
        <p:nvSpPr>
          <p:cNvPr id="3" name="">
            <a:extLst xmlns:a="http://schemas.openxmlformats.org/drawingml/2006/main">
              <a:ext uri="{FF2B5EF4-FFF2-40B4-BE49-F238E27FC236}">
                <a16:creationId xmlns:a16="http://schemas.microsoft.com/office/drawing/2014/main" id="{87075CC0-E1D7-42E9-84F2-A7022D02787D}"/>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‏بزرگ‌ترین ریسک‌ها دقت مدل نیستند؛ اتصال داده، اعتماد و حاکمیت‌اند.</a:t>
            </a:r>
          </a:p>
        </p:txBody>
      </p:sp>
      <p:sp>
        <p:nvSpPr>
          <p:cNvPr id="4" name="">
            <a:extLst xmlns:a="http://schemas.openxmlformats.org/drawingml/2006/main">
              <a:ext uri="{FF2B5EF4-FFF2-40B4-BE49-F238E27FC236}">
                <a16:creationId xmlns:a16="http://schemas.microsoft.com/office/drawing/2014/main" id="{D7760EA6-B584-497E-8224-B79A2A855996}"/>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343485CB-7665-4D0A-8475-98D3215D2AB5}"/>
              </a:ext>
            </a:extLst>
          </p:cNvPr>
          <p:cNvSpPr>
            <a:spLocks xmlns:a="http://schemas.openxmlformats.org/drawingml/2006/main" noGrp="1"/>
          </p:cNvSpPr>
          <p:nvPr/>
        </p:nvSpPr>
        <p:spPr>
          <a:xfrm xmlns:a="http://schemas.openxmlformats.org/drawingml/2006/main">
            <a:off x="762000" y="2095500"/>
            <a:ext cx="3333750" cy="1000125"/>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2304CF48-3886-4450-AA5C-5D64F2A24887}"/>
              </a:ext>
            </a:extLst>
          </p:cNvPr>
          <p:cNvSpPr>
            <a:spLocks xmlns:a="http://schemas.openxmlformats.org/drawingml/2006/main" noGrp="1"/>
          </p:cNvSpPr>
          <p:nvPr/>
        </p:nvSpPr>
        <p:spPr>
          <a:xfrm xmlns:a="http://schemas.openxmlformats.org/drawingml/2006/main">
            <a:off x="952500" y="226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‏شکست اتصال داده</a:t>
            </a:r>
          </a:p>
        </p:txBody>
      </p:sp>
      <p:sp>
        <p:nvSpPr>
          <p:cNvPr id="7" name="">
            <a:extLst xmlns:a="http://schemas.openxmlformats.org/drawingml/2006/main">
              <a:ext uri="{FF2B5EF4-FFF2-40B4-BE49-F238E27FC236}">
                <a16:creationId xmlns:a16="http://schemas.microsoft.com/office/drawing/2014/main" id="{B5AAF003-0F45-4DB0-B0C0-BAD6542018E5}"/>
              </a:ext>
            </a:extLst>
          </p:cNvPr>
          <p:cNvSpPr>
            <a:spLocks xmlns:a="http://schemas.openxmlformats.org/drawingml/2006/main" noGrp="1"/>
          </p:cNvSpPr>
          <p:nvPr/>
        </p:nvSpPr>
        <p:spPr>
          <a:xfrm xmlns:a="http://schemas.openxmlformats.org/drawingml/2006/main">
            <a:off x="952500" y="25908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555555"/>
                </a:solidFill>
                <a:latin typeface="Tahoma"/>
                <a:ea typeface="Tahoma"/>
                <a:cs typeface="Tahoma"/>
              </a:defRPr>
            </a:pPr>
            <a:r>
              <a:rPr sz="1125" b="0">
                <a:solidFill>
                  <a:srgbClr val="555555"/>
                </a:solidFill>
                <a:latin typeface="Tahoma"/>
                <a:ea typeface="Tahoma"/>
                <a:cs typeface="Tahoma"/>
              </a:rPr>
              <a:t>‏شروع با پاسپورت رول و ممیزی داده</a:t>
            </a:r>
          </a:p>
        </p:txBody>
      </p:sp>
      <p:sp>
        <p:nvSpPr>
          <p:cNvPr id="8" name="">
            <a:extLst xmlns:a="http://schemas.openxmlformats.org/drawingml/2006/main">
              <a:ext uri="{FF2B5EF4-FFF2-40B4-BE49-F238E27FC236}">
                <a16:creationId xmlns:a16="http://schemas.microsoft.com/office/drawing/2014/main" id="{0759FE9B-DC8F-42DC-9DA7-B693A6641122}"/>
              </a:ext>
            </a:extLst>
          </p:cNvPr>
          <p:cNvSpPr>
            <a:spLocks xmlns:a="http://schemas.openxmlformats.org/drawingml/2006/main" noGrp="1"/>
          </p:cNvSpPr>
          <p:nvPr/>
        </p:nvSpPr>
        <p:spPr>
          <a:xfrm xmlns:a="http://schemas.openxmlformats.org/drawingml/2006/main">
            <a:off x="4429125" y="2095500"/>
            <a:ext cx="3333750" cy="1000125"/>
          </a:xfrm>
          <a:prstGeom xmlns:a="http://schemas.openxmlformats.org/drawingml/2006/main" prst="rect">
            <a:avLst/>
          </a:prstGeom>
          <a:solidFill xmlns:a="http://schemas.openxmlformats.org/drawingml/2006/main">
            <a:srgbClr val="FFF8EF"/>
          </a:solidFill>
          <a:ln xmlns:a="http://schemas.openxmlformats.org/drawingml/2006/main" w="9525">
            <a:solidFill>
              <a:srgbClr val="F39200"/>
            </a:solidFill>
            <a:prstDash val="solid"/>
          </a:ln>
        </p:spPr>
      </p:sp>
      <p:sp>
        <p:nvSpPr>
          <p:cNvPr id="9" name="">
            <a:extLst xmlns:a="http://schemas.openxmlformats.org/drawingml/2006/main">
              <a:ext uri="{FF2B5EF4-FFF2-40B4-BE49-F238E27FC236}">
                <a16:creationId xmlns:a16="http://schemas.microsoft.com/office/drawing/2014/main" id="{3CE13415-7930-48D0-80AD-74C2A7923ED8}"/>
              </a:ext>
            </a:extLst>
          </p:cNvPr>
          <p:cNvSpPr>
            <a:spLocks xmlns:a="http://schemas.openxmlformats.org/drawingml/2006/main" noGrp="1"/>
          </p:cNvSpPr>
          <p:nvPr/>
        </p:nvSpPr>
        <p:spPr>
          <a:xfrm xmlns:a="http://schemas.openxmlformats.org/drawingml/2006/main">
            <a:off x="4619625" y="226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‏پاسخ فنی توهمی</a:t>
            </a:r>
          </a:p>
        </p:txBody>
      </p:sp>
      <p:sp>
        <p:nvSpPr>
          <p:cNvPr id="10" name="">
            <a:extLst xmlns:a="http://schemas.openxmlformats.org/drawingml/2006/main">
              <a:ext uri="{FF2B5EF4-FFF2-40B4-BE49-F238E27FC236}">
                <a16:creationId xmlns:a16="http://schemas.microsoft.com/office/drawing/2014/main" id="{18E3D272-139C-4E56-AF1A-FE4C28CD0432}"/>
              </a:ext>
            </a:extLst>
          </p:cNvPr>
          <p:cNvSpPr>
            <a:spLocks xmlns:a="http://schemas.openxmlformats.org/drawingml/2006/main" noGrp="1"/>
          </p:cNvSpPr>
          <p:nvPr/>
        </p:nvSpPr>
        <p:spPr>
          <a:xfrm xmlns:a="http://schemas.openxmlformats.org/drawingml/2006/main">
            <a:off x="4619625" y="25908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555555"/>
                </a:solidFill>
                <a:latin typeface="Tahoma"/>
                <a:ea typeface="Tahoma"/>
                <a:cs typeface="Tahoma"/>
              </a:defRPr>
            </a:pPr>
            <a:r>
              <a:rPr sz="1125" b="0">
                <a:solidFill>
                  <a:srgbClr val="555555"/>
                </a:solidFill>
                <a:latin typeface="Tahoma"/>
                <a:ea typeface="Tahoma"/>
                <a:cs typeface="Tahoma"/>
              </a:rPr>
              <a:t>‏بدون منبع، بدون پاسخ؛ تایید انسان</a:t>
            </a:r>
          </a:p>
        </p:txBody>
      </p:sp>
      <p:sp>
        <p:nvSpPr>
          <p:cNvPr id="11" name="">
            <a:extLst xmlns:a="http://schemas.openxmlformats.org/drawingml/2006/main">
              <a:ext uri="{FF2B5EF4-FFF2-40B4-BE49-F238E27FC236}">
                <a16:creationId xmlns:a16="http://schemas.microsoft.com/office/drawing/2014/main" id="{617B14FD-5600-4DE0-BDEE-5A12A61C9864}"/>
              </a:ext>
            </a:extLst>
          </p:cNvPr>
          <p:cNvSpPr>
            <a:spLocks xmlns:a="http://schemas.openxmlformats.org/drawingml/2006/main" noGrp="1"/>
          </p:cNvSpPr>
          <p:nvPr/>
        </p:nvSpPr>
        <p:spPr>
          <a:xfrm xmlns:a="http://schemas.openxmlformats.org/drawingml/2006/main">
            <a:off x="8096250" y="2095500"/>
            <a:ext cx="3333750" cy="1000125"/>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E013F68F-2FA3-4D1C-961A-4A641BBDF866}"/>
              </a:ext>
            </a:extLst>
          </p:cNvPr>
          <p:cNvSpPr>
            <a:spLocks xmlns:a="http://schemas.openxmlformats.org/drawingml/2006/main" noGrp="1"/>
          </p:cNvSpPr>
          <p:nvPr/>
        </p:nvSpPr>
        <p:spPr>
          <a:xfrm xmlns:a="http://schemas.openxmlformats.org/drawingml/2006/main">
            <a:off x="8286750" y="2266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‏نشت IP</a:t>
            </a:r>
          </a:p>
        </p:txBody>
      </p:sp>
      <p:sp>
        <p:nvSpPr>
          <p:cNvPr id="13" name="">
            <a:extLst xmlns:a="http://schemas.openxmlformats.org/drawingml/2006/main">
              <a:ext uri="{FF2B5EF4-FFF2-40B4-BE49-F238E27FC236}">
                <a16:creationId xmlns:a16="http://schemas.microsoft.com/office/drawing/2014/main" id="{F275E431-F627-42F4-B9DB-F7CCF2E217FC}"/>
              </a:ext>
            </a:extLst>
          </p:cNvPr>
          <p:cNvSpPr>
            <a:spLocks xmlns:a="http://schemas.openxmlformats.org/drawingml/2006/main" noGrp="1"/>
          </p:cNvSpPr>
          <p:nvPr/>
        </p:nvSpPr>
        <p:spPr>
          <a:xfrm xmlns:a="http://schemas.openxmlformats.org/drawingml/2006/main">
            <a:off x="8286750" y="25908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555555"/>
                </a:solidFill>
                <a:latin typeface="Tahoma"/>
                <a:ea typeface="Tahoma"/>
                <a:cs typeface="Tahoma"/>
              </a:defRPr>
            </a:pPr>
            <a:r>
              <a:rPr sz="1125" b="0">
                <a:solidFill>
                  <a:srgbClr val="555555"/>
                </a:solidFill>
                <a:latin typeface="Tahoma"/>
                <a:ea typeface="Tahoma"/>
                <a:cs typeface="Tahoma"/>
              </a:rPr>
              <a:t>‏ابزارهای خصوصی/تاییدشده؛ کنترل دسترسی</a:t>
            </a:r>
          </a:p>
        </p:txBody>
      </p:sp>
      <p:sp>
        <p:nvSpPr>
          <p:cNvPr id="14" name="">
            <a:extLst xmlns:a="http://schemas.openxmlformats.org/drawingml/2006/main">
              <a:ext uri="{FF2B5EF4-FFF2-40B4-BE49-F238E27FC236}">
                <a16:creationId xmlns:a16="http://schemas.microsoft.com/office/drawing/2014/main" id="{4C759ABB-AA9B-49D3-986B-CEB306993355}"/>
              </a:ext>
            </a:extLst>
          </p:cNvPr>
          <p:cNvSpPr>
            <a:spLocks xmlns:a="http://schemas.openxmlformats.org/drawingml/2006/main" noGrp="1"/>
          </p:cNvSpPr>
          <p:nvPr/>
        </p:nvSpPr>
        <p:spPr>
          <a:xfrm xmlns:a="http://schemas.openxmlformats.org/drawingml/2006/main">
            <a:off x="762000" y="3381375"/>
            <a:ext cx="3333750" cy="1000125"/>
          </a:xfrm>
          <a:prstGeom xmlns:a="http://schemas.openxmlformats.org/drawingml/2006/main" prst="rect">
            <a:avLst/>
          </a:prstGeom>
          <a:solidFill xmlns:a="http://schemas.openxmlformats.org/drawingml/2006/main">
            <a:srgbClr val="FFF8EF"/>
          </a:solidFill>
          <a:ln xmlns:a="http://schemas.openxmlformats.org/drawingml/2006/main" w="9525">
            <a:solidFill>
              <a:srgbClr val="F39200"/>
            </a:solidFill>
            <a:prstDash val="solid"/>
          </a:ln>
        </p:spPr>
      </p:sp>
      <p:sp>
        <p:nvSpPr>
          <p:cNvPr id="15" name="">
            <a:extLst xmlns:a="http://schemas.openxmlformats.org/drawingml/2006/main">
              <a:ext uri="{FF2B5EF4-FFF2-40B4-BE49-F238E27FC236}">
                <a16:creationId xmlns:a16="http://schemas.microsoft.com/office/drawing/2014/main" id="{7FAF814D-9F8F-49CC-8C90-B4462E3D9164}"/>
              </a:ext>
            </a:extLst>
          </p:cNvPr>
          <p:cNvSpPr>
            <a:spLocks xmlns:a="http://schemas.openxmlformats.org/drawingml/2006/main" noGrp="1"/>
          </p:cNvSpPr>
          <p:nvPr/>
        </p:nvSpPr>
        <p:spPr>
          <a:xfrm xmlns:a="http://schemas.openxmlformats.org/drawingml/2006/main">
            <a:off x="952500" y="3552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‏مقاومت کارکنان</a:t>
            </a:r>
          </a:p>
        </p:txBody>
      </p:sp>
      <p:sp>
        <p:nvSpPr>
          <p:cNvPr id="16" name="">
            <a:extLst xmlns:a="http://schemas.openxmlformats.org/drawingml/2006/main">
              <a:ext uri="{FF2B5EF4-FFF2-40B4-BE49-F238E27FC236}">
                <a16:creationId xmlns:a16="http://schemas.microsoft.com/office/drawing/2014/main" id="{00BC4AB3-EB42-4C84-8FA2-0A44FB7A49ED}"/>
              </a:ext>
            </a:extLst>
          </p:cNvPr>
          <p:cNvSpPr>
            <a:spLocks xmlns:a="http://schemas.openxmlformats.org/drawingml/2006/main" noGrp="1"/>
          </p:cNvSpPr>
          <p:nvPr/>
        </p:nvSpPr>
        <p:spPr>
          <a:xfrm xmlns:a="http://schemas.openxmlformats.org/drawingml/2006/main">
            <a:off x="952500" y="38766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555555"/>
                </a:solidFill>
                <a:latin typeface="Tahoma"/>
                <a:ea typeface="Tahoma"/>
                <a:cs typeface="Tahoma"/>
              </a:defRPr>
            </a:pPr>
            <a:r>
              <a:rPr sz="1125" b="0">
                <a:solidFill>
                  <a:srgbClr val="555555"/>
                </a:solidFill>
                <a:latin typeface="Tahoma"/>
                <a:ea typeface="Tahoma"/>
                <a:cs typeface="Tahoma"/>
              </a:rPr>
              <a:t>‏عدم قاب‌بندی نظارتی؛ درگیر کردن اپراتورها</a:t>
            </a:r>
          </a:p>
        </p:txBody>
      </p:sp>
      <p:sp>
        <p:nvSpPr>
          <p:cNvPr id="17" name="">
            <a:extLst xmlns:a="http://schemas.openxmlformats.org/drawingml/2006/main">
              <a:ext uri="{FF2B5EF4-FFF2-40B4-BE49-F238E27FC236}">
                <a16:creationId xmlns:a16="http://schemas.microsoft.com/office/drawing/2014/main" id="{9362CBAA-9DB3-40AA-A1D2-649540458316}"/>
              </a:ext>
            </a:extLst>
          </p:cNvPr>
          <p:cNvSpPr>
            <a:spLocks xmlns:a="http://schemas.openxmlformats.org/drawingml/2006/main" noGrp="1"/>
          </p:cNvSpPr>
          <p:nvPr/>
        </p:nvSpPr>
        <p:spPr>
          <a:xfrm xmlns:a="http://schemas.openxmlformats.org/drawingml/2006/main">
            <a:off x="4429125" y="3381375"/>
            <a:ext cx="3333750" cy="1000125"/>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712EB9E1-B7CA-4DFF-9B2D-20C25ED671DF}"/>
              </a:ext>
            </a:extLst>
          </p:cNvPr>
          <p:cNvSpPr>
            <a:spLocks xmlns:a="http://schemas.openxmlformats.org/drawingml/2006/main" noGrp="1"/>
          </p:cNvSpPr>
          <p:nvPr/>
        </p:nvSpPr>
        <p:spPr>
          <a:xfrm xmlns:a="http://schemas.openxmlformats.org/drawingml/2006/main">
            <a:off x="4619625" y="3552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‏امنیت سایبری</a:t>
            </a:r>
          </a:p>
        </p:txBody>
      </p:sp>
      <p:sp>
        <p:nvSpPr>
          <p:cNvPr id="19" name="">
            <a:extLst xmlns:a="http://schemas.openxmlformats.org/drawingml/2006/main">
              <a:ext uri="{FF2B5EF4-FFF2-40B4-BE49-F238E27FC236}">
                <a16:creationId xmlns:a16="http://schemas.microsoft.com/office/drawing/2014/main" id="{7E1C809B-8402-4F2D-AF45-008279759738}"/>
              </a:ext>
            </a:extLst>
          </p:cNvPr>
          <p:cNvSpPr>
            <a:spLocks xmlns:a="http://schemas.openxmlformats.org/drawingml/2006/main" noGrp="1"/>
          </p:cNvSpPr>
          <p:nvPr/>
        </p:nvSpPr>
        <p:spPr>
          <a:xfrm xmlns:a="http://schemas.openxmlformats.org/drawingml/2006/main">
            <a:off x="4619625" y="38766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555555"/>
                </a:solidFill>
                <a:latin typeface="Tahoma"/>
                <a:ea typeface="Tahoma"/>
                <a:cs typeface="Tahoma"/>
              </a:defRPr>
            </a:pPr>
            <a:r>
              <a:rPr sz="1125" b="0">
                <a:solidFill>
                  <a:srgbClr val="555555"/>
                </a:solidFill>
                <a:latin typeface="Tahoma"/>
                <a:ea typeface="Tahoma"/>
                <a:cs typeface="Tahoma"/>
              </a:rPr>
              <a:t>‏اتصال‌گر فقط خواندنی؛ لاگ ممیزی</a:t>
            </a:r>
          </a:p>
        </p:txBody>
      </p:sp>
      <p:sp>
        <p:nvSpPr>
          <p:cNvPr id="20" name="">
            <a:extLst xmlns:a="http://schemas.openxmlformats.org/drawingml/2006/main">
              <a:ext uri="{FF2B5EF4-FFF2-40B4-BE49-F238E27FC236}">
                <a16:creationId xmlns:a16="http://schemas.microsoft.com/office/drawing/2014/main" id="{1F2442F5-2602-47F0-9A2E-3170A3C3F2B6}"/>
              </a:ext>
            </a:extLst>
          </p:cNvPr>
          <p:cNvSpPr>
            <a:spLocks xmlns:a="http://schemas.openxmlformats.org/drawingml/2006/main" noGrp="1"/>
          </p:cNvSpPr>
          <p:nvPr/>
        </p:nvSpPr>
        <p:spPr>
          <a:xfrm xmlns:a="http://schemas.openxmlformats.org/drawingml/2006/main">
            <a:off x="8096250" y="3381375"/>
            <a:ext cx="3333750" cy="1000125"/>
          </a:xfrm>
          <a:prstGeom xmlns:a="http://schemas.openxmlformats.org/drawingml/2006/main" prst="rect">
            <a:avLst/>
          </a:prstGeom>
          <a:solidFill xmlns:a="http://schemas.openxmlformats.org/drawingml/2006/main">
            <a:srgbClr val="FFF8EF"/>
          </a:solidFill>
          <a:ln xmlns:a="http://schemas.openxmlformats.org/drawingml/2006/main" w="9525">
            <a:solidFill>
              <a:srgbClr val="F39200"/>
            </a:solidFill>
            <a:prstDash val="solid"/>
          </a:ln>
        </p:spPr>
      </p:sp>
      <p:sp>
        <p:nvSpPr>
          <p:cNvPr id="21" name="">
            <a:extLst xmlns:a="http://schemas.openxmlformats.org/drawingml/2006/main">
              <a:ext uri="{FF2B5EF4-FFF2-40B4-BE49-F238E27FC236}">
                <a16:creationId xmlns:a16="http://schemas.microsoft.com/office/drawing/2014/main" id="{BD6D1E03-642A-4414-AC50-6DE08F3FE522}"/>
              </a:ext>
            </a:extLst>
          </p:cNvPr>
          <p:cNvSpPr>
            <a:spLocks xmlns:a="http://schemas.openxmlformats.org/drawingml/2006/main" noGrp="1"/>
          </p:cNvSpPr>
          <p:nvPr/>
        </p:nvSpPr>
        <p:spPr>
          <a:xfrm xmlns:a="http://schemas.openxmlformats.org/drawingml/2006/main">
            <a:off x="8286750" y="3552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111111"/>
                </a:solidFill>
                <a:latin typeface="Tahoma"/>
                <a:ea typeface="Tahoma"/>
                <a:cs typeface="Tahoma"/>
              </a:defRPr>
            </a:pPr>
            <a:r>
              <a:rPr sz="1350" b="1">
                <a:solidFill>
                  <a:srgbClr val="111111"/>
                </a:solidFill>
                <a:latin typeface="Tahoma"/>
                <a:ea typeface="Tahoma"/>
                <a:cs typeface="Tahoma"/>
              </a:rPr>
              <a:t>‏بیش‌وعده دادن</a:t>
            </a:r>
          </a:p>
        </p:txBody>
      </p:sp>
      <p:sp>
        <p:nvSpPr>
          <p:cNvPr id="22" name="">
            <a:extLst xmlns:a="http://schemas.openxmlformats.org/drawingml/2006/main">
              <a:ext uri="{FF2B5EF4-FFF2-40B4-BE49-F238E27FC236}">
                <a16:creationId xmlns:a16="http://schemas.microsoft.com/office/drawing/2014/main" id="{D0AABC2F-A355-4F43-B7CE-266CE9E20C56}"/>
              </a:ext>
            </a:extLst>
          </p:cNvPr>
          <p:cNvSpPr>
            <a:spLocks xmlns:a="http://schemas.openxmlformats.org/drawingml/2006/main" noGrp="1"/>
          </p:cNvSpPr>
          <p:nvPr/>
        </p:nvSpPr>
        <p:spPr>
          <a:xfrm xmlns:a="http://schemas.openxmlformats.org/drawingml/2006/main">
            <a:off x="8286750" y="38766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555555"/>
                </a:solidFill>
                <a:latin typeface="Tahoma"/>
                <a:ea typeface="Tahoma"/>
                <a:cs typeface="Tahoma"/>
              </a:defRPr>
            </a:pPr>
            <a:r>
              <a:rPr sz="1125" b="0">
                <a:solidFill>
                  <a:srgbClr val="555555"/>
                </a:solidFill>
                <a:latin typeface="Tahoma"/>
                <a:ea typeface="Tahoma"/>
                <a:cs typeface="Tahoma"/>
              </a:rPr>
              <a:t>‏دروازه‌های ۱۲ هفته‌ای و KPI خط مبنا</a:t>
            </a:r>
          </a:p>
        </p:txBody>
      </p:sp>
      <p:sp>
        <p:nvSpPr>
          <p:cNvPr id="23" name="">
            <a:extLst xmlns:a="http://schemas.openxmlformats.org/drawingml/2006/main">
              <a:ext uri="{FF2B5EF4-FFF2-40B4-BE49-F238E27FC236}">
                <a16:creationId xmlns:a16="http://schemas.microsoft.com/office/drawing/2014/main" id="{5ECA8599-7623-4138-B223-55BE8DDB1A5B}"/>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24" name="">
            <a:extLst xmlns:a="http://schemas.openxmlformats.org/drawingml/2006/main">
              <a:ext uri="{FF2B5EF4-FFF2-40B4-BE49-F238E27FC236}">
                <a16:creationId xmlns:a16="http://schemas.microsoft.com/office/drawing/2014/main" id="{D231C585-8430-41F6-BEAE-6B281C1EF78F}"/>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18</a:t>
            </a:r>
          </a:p>
        </p:txBody>
      </p:sp>
    </p:spTree>
    <p:extLst>
      <p:ext uri="{BB962C8B-B14F-4D97-AF65-F5344CB8AC3E}">
        <p14:creationId xmlns:p14="http://schemas.microsoft.com/office/powerpoint/2010/main" val="194595059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06A468-414F-4237-B8D6-1F17998CE1B0}"/>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‏مدل عملیاتی</a:t>
            </a:r>
          </a:p>
        </p:txBody>
      </p:sp>
      <p:sp>
        <p:nvSpPr>
          <p:cNvPr id="2" name="">
            <a:extLst xmlns:a="http://schemas.openxmlformats.org/drawingml/2006/main">
              <a:ext uri="{FF2B5EF4-FFF2-40B4-BE49-F238E27FC236}">
                <a16:creationId xmlns:a16="http://schemas.microsoft.com/office/drawing/2014/main" id="{FD0BC9B6-C7A1-4261-996C-8C3D67501497}"/>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‏مدل عملیاتی به یک قهرمان و مالکان واقعی نیاز دارد</a:t>
            </a:r>
          </a:p>
        </p:txBody>
      </p:sp>
      <p:sp>
        <p:nvSpPr>
          <p:cNvPr id="3" name="">
            <a:extLst xmlns:a="http://schemas.openxmlformats.org/drawingml/2006/main">
              <a:ext uri="{FF2B5EF4-FFF2-40B4-BE49-F238E27FC236}">
                <a16:creationId xmlns:a16="http://schemas.microsoft.com/office/drawing/2014/main" id="{B1AD1A16-29EE-4A97-8A3A-D65191F267BB}"/>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‏تحول AI وقتی شکست می‌خورد که فقط در IT یا فقط در یک واحد مشتاق بماند.</a:t>
            </a:r>
          </a:p>
        </p:txBody>
      </p:sp>
      <p:sp>
        <p:nvSpPr>
          <p:cNvPr id="4" name="">
            <a:extLst xmlns:a="http://schemas.openxmlformats.org/drawingml/2006/main">
              <a:ext uri="{FF2B5EF4-FFF2-40B4-BE49-F238E27FC236}">
                <a16:creationId xmlns:a16="http://schemas.microsoft.com/office/drawing/2014/main" id="{7919E4D9-BC8E-448D-87E1-F1156E1154E2}"/>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1E59AD72-C7BD-4265-8FEE-D0DD810B5F40}"/>
              </a:ext>
            </a:extLst>
          </p:cNvPr>
          <p:cNvSpPr>
            <a:spLocks xmlns:a="http://schemas.openxmlformats.org/drawingml/2006/main" noGrp="1"/>
          </p:cNvSpPr>
          <p:nvPr/>
        </p:nvSpPr>
        <p:spPr>
          <a:xfrm xmlns:a="http://schemas.openxmlformats.org/drawingml/2006/main">
            <a:off x="952500" y="20002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D8196E-FFC1-4182-994F-2B2D6C122139}"/>
              </a:ext>
            </a:extLst>
          </p:cNvPr>
          <p:cNvSpPr>
            <a:spLocks xmlns:a="http://schemas.openxmlformats.org/drawingml/2006/main" noGrp="1"/>
          </p:cNvSpPr>
          <p:nvPr/>
        </p:nvSpPr>
        <p:spPr>
          <a:xfrm xmlns:a="http://schemas.openxmlformats.org/drawingml/2006/main">
            <a:off x="1104900" y="20859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Tahoma"/>
                <a:ea typeface="Tahoma"/>
                <a:cs typeface="Tahoma"/>
              </a:defRPr>
            </a:pPr>
            <a:r>
              <a:rPr sz="1050" b="1">
                <a:solidFill>
                  <a:srgbClr val="FFFFFF"/>
                </a:solidFill>
                <a:latin typeface="Tahoma"/>
                <a:ea typeface="Tahoma"/>
                <a:cs typeface="Tahoma"/>
              </a:rPr>
              <a:t>‏حامی اجرایی</a:t>
            </a:r>
          </a:p>
        </p:txBody>
      </p:sp>
      <p:sp>
        <p:nvSpPr>
          <p:cNvPr id="7" name="">
            <a:extLst xmlns:a="http://schemas.openxmlformats.org/drawingml/2006/main">
              <a:ext uri="{FF2B5EF4-FFF2-40B4-BE49-F238E27FC236}">
                <a16:creationId xmlns:a16="http://schemas.microsoft.com/office/drawing/2014/main" id="{27C66EEB-65C4-4D1D-88DD-7BA946BD424F}"/>
              </a:ext>
            </a:extLst>
          </p:cNvPr>
          <p:cNvSpPr>
            <a:spLocks xmlns:a="http://schemas.openxmlformats.org/drawingml/2006/main" noGrp="1"/>
          </p:cNvSpPr>
          <p:nvPr/>
        </p:nvSpPr>
        <p:spPr>
          <a:xfrm xmlns:a="http://schemas.openxmlformats.org/drawingml/2006/main">
            <a:off x="3524250" y="20002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06451D9F-4F97-4FE9-AAB6-B8BC3B0E6E0B}"/>
              </a:ext>
            </a:extLst>
          </p:cNvPr>
          <p:cNvSpPr>
            <a:spLocks xmlns:a="http://schemas.openxmlformats.org/drawingml/2006/main" noGrp="1"/>
          </p:cNvSpPr>
          <p:nvPr/>
        </p:nvSpPr>
        <p:spPr>
          <a:xfrm xmlns:a="http://schemas.openxmlformats.org/drawingml/2006/main">
            <a:off x="3714750" y="20859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‏موانع را برمی‌دارد و دروازه‌های ارزش را تایید می‌کند</a:t>
            </a:r>
          </a:p>
        </p:txBody>
      </p:sp>
      <p:sp>
        <p:nvSpPr>
          <p:cNvPr id="9" name="">
            <a:extLst xmlns:a="http://schemas.openxmlformats.org/drawingml/2006/main">
              <a:ext uri="{FF2B5EF4-FFF2-40B4-BE49-F238E27FC236}">
                <a16:creationId xmlns:a16="http://schemas.microsoft.com/office/drawing/2014/main" id="{5A29DA15-3DD6-4714-B6D6-AA5F165C90D8}"/>
              </a:ext>
            </a:extLst>
          </p:cNvPr>
          <p:cNvSpPr>
            <a:spLocks xmlns:a="http://schemas.openxmlformats.org/drawingml/2006/main" noGrp="1"/>
          </p:cNvSpPr>
          <p:nvPr/>
        </p:nvSpPr>
        <p:spPr>
          <a:xfrm xmlns:a="http://schemas.openxmlformats.org/drawingml/2006/main">
            <a:off x="952500" y="2476500"/>
            <a:ext cx="2381250" cy="361950"/>
          </a:xfrm>
          <a:prstGeom xmlns:a="http://schemas.openxmlformats.org/drawingml/2006/main" prst="rect">
            <a:avLst/>
          </a:prstGeom>
          <a:solidFill xmlns:a="http://schemas.openxmlformats.org/drawingml/2006/main">
            <a:srgbClr val="F3920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2D521E7-E43F-4E51-A28B-E44525EF79CF}"/>
              </a:ext>
            </a:extLst>
          </p:cNvPr>
          <p:cNvSpPr>
            <a:spLocks xmlns:a="http://schemas.openxmlformats.org/drawingml/2006/main" noGrp="1"/>
          </p:cNvSpPr>
          <p:nvPr/>
        </p:nvSpPr>
        <p:spPr>
          <a:xfrm xmlns:a="http://schemas.openxmlformats.org/drawingml/2006/main">
            <a:off x="1104900" y="25622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Tahoma"/>
                <a:ea typeface="Tahoma"/>
                <a:cs typeface="Tahoma"/>
              </a:defRPr>
            </a:pPr>
            <a:r>
              <a:rPr sz="1050" b="1">
                <a:solidFill>
                  <a:srgbClr val="FFFFFF"/>
                </a:solidFill>
                <a:latin typeface="Tahoma"/>
                <a:ea typeface="Tahoma"/>
                <a:cs typeface="Tahoma"/>
              </a:rPr>
              <a:t>‏قهرمان AI</a:t>
            </a:r>
          </a:p>
        </p:txBody>
      </p:sp>
      <p:sp>
        <p:nvSpPr>
          <p:cNvPr id="11" name="">
            <a:extLst xmlns:a="http://schemas.openxmlformats.org/drawingml/2006/main">
              <a:ext uri="{FF2B5EF4-FFF2-40B4-BE49-F238E27FC236}">
                <a16:creationId xmlns:a16="http://schemas.microsoft.com/office/drawing/2014/main" id="{60F09CC1-D3CB-4EF1-9D71-74D7DA0C3E3D}"/>
              </a:ext>
            </a:extLst>
          </p:cNvPr>
          <p:cNvSpPr>
            <a:spLocks xmlns:a="http://schemas.openxmlformats.org/drawingml/2006/main" noGrp="1"/>
          </p:cNvSpPr>
          <p:nvPr/>
        </p:nvSpPr>
        <p:spPr>
          <a:xfrm xmlns:a="http://schemas.openxmlformats.org/drawingml/2006/main">
            <a:off x="3524250" y="2476500"/>
            <a:ext cx="6953250" cy="36195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12" name="">
            <a:extLst xmlns:a="http://schemas.openxmlformats.org/drawingml/2006/main">
              <a:ext uri="{FF2B5EF4-FFF2-40B4-BE49-F238E27FC236}">
                <a16:creationId xmlns:a16="http://schemas.microsoft.com/office/drawing/2014/main" id="{DD5BC0E6-5E1D-4111-8B1C-74005B407595}"/>
              </a:ext>
            </a:extLst>
          </p:cNvPr>
          <p:cNvSpPr>
            <a:spLocks xmlns:a="http://schemas.openxmlformats.org/drawingml/2006/main" noGrp="1"/>
          </p:cNvSpPr>
          <p:nvPr/>
        </p:nvSpPr>
        <p:spPr>
          <a:xfrm xmlns:a="http://schemas.openxmlformats.org/drawingml/2006/main">
            <a:off x="3714750" y="256222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‏روایت پایلوت، نقشه راه و حرکت بین‌وظیفه‌ای را مالک می‌شود</a:t>
            </a:r>
          </a:p>
        </p:txBody>
      </p:sp>
      <p:sp>
        <p:nvSpPr>
          <p:cNvPr id="13" name="">
            <a:extLst xmlns:a="http://schemas.openxmlformats.org/drawingml/2006/main">
              <a:ext uri="{FF2B5EF4-FFF2-40B4-BE49-F238E27FC236}">
                <a16:creationId xmlns:a16="http://schemas.microsoft.com/office/drawing/2014/main" id="{9E62EC10-F0C7-4BC8-B168-B375CC3E3001}"/>
              </a:ext>
            </a:extLst>
          </p:cNvPr>
          <p:cNvSpPr>
            <a:spLocks xmlns:a="http://schemas.openxmlformats.org/drawingml/2006/main" noGrp="1"/>
          </p:cNvSpPr>
          <p:nvPr/>
        </p:nvSpPr>
        <p:spPr>
          <a:xfrm xmlns:a="http://schemas.openxmlformats.org/drawingml/2006/main">
            <a:off x="952500" y="29527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B29262-B9FE-452B-AC62-A475E7437008}"/>
              </a:ext>
            </a:extLst>
          </p:cNvPr>
          <p:cNvSpPr>
            <a:spLocks xmlns:a="http://schemas.openxmlformats.org/drawingml/2006/main" noGrp="1"/>
          </p:cNvSpPr>
          <p:nvPr/>
        </p:nvSpPr>
        <p:spPr>
          <a:xfrm xmlns:a="http://schemas.openxmlformats.org/drawingml/2006/main">
            <a:off x="1104900" y="30384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Tahoma"/>
                <a:ea typeface="Tahoma"/>
                <a:cs typeface="Tahoma"/>
              </a:defRPr>
            </a:pPr>
            <a:r>
              <a:rPr sz="1050" b="1">
                <a:solidFill>
                  <a:srgbClr val="FFFFFF"/>
                </a:solidFill>
                <a:latin typeface="Tahoma"/>
                <a:ea typeface="Tahoma"/>
                <a:cs typeface="Tahoma"/>
              </a:rPr>
              <a:t>‏مالک IT</a:t>
            </a:r>
          </a:p>
        </p:txBody>
      </p:sp>
      <p:sp>
        <p:nvSpPr>
          <p:cNvPr id="15" name="">
            <a:extLst xmlns:a="http://schemas.openxmlformats.org/drawingml/2006/main">
              <a:ext uri="{FF2B5EF4-FFF2-40B4-BE49-F238E27FC236}">
                <a16:creationId xmlns:a16="http://schemas.microsoft.com/office/drawing/2014/main" id="{6FE055A8-DAF2-475E-8B44-83FC90FCC0F9}"/>
              </a:ext>
            </a:extLst>
          </p:cNvPr>
          <p:cNvSpPr>
            <a:spLocks xmlns:a="http://schemas.openxmlformats.org/drawingml/2006/main" noGrp="1"/>
          </p:cNvSpPr>
          <p:nvPr/>
        </p:nvSpPr>
        <p:spPr>
          <a:xfrm xmlns:a="http://schemas.openxmlformats.org/drawingml/2006/main">
            <a:off x="3524250" y="29527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AC394778-730D-4A91-BDC0-F9FCADDE7445}"/>
              </a:ext>
            </a:extLst>
          </p:cNvPr>
          <p:cNvSpPr>
            <a:spLocks xmlns:a="http://schemas.openxmlformats.org/drawingml/2006/main" noGrp="1"/>
          </p:cNvSpPr>
          <p:nvPr/>
        </p:nvSpPr>
        <p:spPr>
          <a:xfrm xmlns:a="http://schemas.openxmlformats.org/drawingml/2006/main">
            <a:off x="3714750" y="30384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‏دسترسی داده و معماری را امن می‌کند</a:t>
            </a:r>
          </a:p>
        </p:txBody>
      </p:sp>
      <p:sp>
        <p:nvSpPr>
          <p:cNvPr id="17" name="">
            <a:extLst xmlns:a="http://schemas.openxmlformats.org/drawingml/2006/main">
              <a:ext uri="{FF2B5EF4-FFF2-40B4-BE49-F238E27FC236}">
                <a16:creationId xmlns:a16="http://schemas.microsoft.com/office/drawing/2014/main" id="{12E4BCC5-D914-436E-A9E5-C3E93237C014}"/>
              </a:ext>
            </a:extLst>
          </p:cNvPr>
          <p:cNvSpPr>
            <a:spLocks xmlns:a="http://schemas.openxmlformats.org/drawingml/2006/main" noGrp="1"/>
          </p:cNvSpPr>
          <p:nvPr/>
        </p:nvSpPr>
        <p:spPr>
          <a:xfrm xmlns:a="http://schemas.openxmlformats.org/drawingml/2006/main">
            <a:off x="952500" y="342900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42D8FFB-36F4-4E19-AC46-DDB30C2F1943}"/>
              </a:ext>
            </a:extLst>
          </p:cNvPr>
          <p:cNvSpPr>
            <a:spLocks xmlns:a="http://schemas.openxmlformats.org/drawingml/2006/main" noGrp="1"/>
          </p:cNvSpPr>
          <p:nvPr/>
        </p:nvSpPr>
        <p:spPr>
          <a:xfrm xmlns:a="http://schemas.openxmlformats.org/drawingml/2006/main">
            <a:off x="1104900" y="35147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Tahoma"/>
                <a:ea typeface="Tahoma"/>
                <a:cs typeface="Tahoma"/>
              </a:defRPr>
            </a:pPr>
            <a:r>
              <a:rPr sz="1050" b="1">
                <a:solidFill>
                  <a:srgbClr val="FFFFFF"/>
                </a:solidFill>
                <a:latin typeface="Tahoma"/>
                <a:ea typeface="Tahoma"/>
                <a:cs typeface="Tahoma"/>
              </a:rPr>
              <a:t>‏مالک کیفیت</a:t>
            </a:r>
          </a:p>
        </p:txBody>
      </p:sp>
      <p:sp>
        <p:nvSpPr>
          <p:cNvPr id="19" name="">
            <a:extLst xmlns:a="http://schemas.openxmlformats.org/drawingml/2006/main">
              <a:ext uri="{FF2B5EF4-FFF2-40B4-BE49-F238E27FC236}">
                <a16:creationId xmlns:a16="http://schemas.microsoft.com/office/drawing/2014/main" id="{97E993BE-F6B4-403E-9D9A-E475C517CBEB}"/>
              </a:ext>
            </a:extLst>
          </p:cNvPr>
          <p:cNvSpPr>
            <a:spLocks xmlns:a="http://schemas.openxmlformats.org/drawingml/2006/main" noGrp="1"/>
          </p:cNvSpPr>
          <p:nvPr/>
        </p:nvSpPr>
        <p:spPr>
          <a:xfrm xmlns:a="http://schemas.openxmlformats.org/drawingml/2006/main">
            <a:off x="3524250" y="342900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D000A1B7-8058-4BCD-AD6A-CBEFA7C6D61B}"/>
              </a:ext>
            </a:extLst>
          </p:cNvPr>
          <p:cNvSpPr>
            <a:spLocks xmlns:a="http://schemas.openxmlformats.org/drawingml/2006/main" noGrp="1"/>
          </p:cNvSpPr>
          <p:nvPr/>
        </p:nvSpPr>
        <p:spPr>
          <a:xfrm xmlns:a="http://schemas.openxmlformats.org/drawingml/2006/main">
            <a:off x="3714750" y="351472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‏عیوب، رهاسازی، CAPA و اعتبارسنجی را تعریف می‌کند</a:t>
            </a:r>
          </a:p>
        </p:txBody>
      </p:sp>
      <p:sp>
        <p:nvSpPr>
          <p:cNvPr id="21" name="">
            <a:extLst xmlns:a="http://schemas.openxmlformats.org/drawingml/2006/main">
              <a:ext uri="{FF2B5EF4-FFF2-40B4-BE49-F238E27FC236}">
                <a16:creationId xmlns:a16="http://schemas.microsoft.com/office/drawing/2014/main" id="{65391F18-E5F8-40BE-8E9F-9C881B31A765}"/>
              </a:ext>
            </a:extLst>
          </p:cNvPr>
          <p:cNvSpPr>
            <a:spLocks xmlns:a="http://schemas.openxmlformats.org/drawingml/2006/main" noGrp="1"/>
          </p:cNvSpPr>
          <p:nvPr/>
        </p:nvSpPr>
        <p:spPr>
          <a:xfrm xmlns:a="http://schemas.openxmlformats.org/drawingml/2006/main">
            <a:off x="952500" y="39052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F70A10C-BDE3-4DC5-B80A-CFCE94CB4837}"/>
              </a:ext>
            </a:extLst>
          </p:cNvPr>
          <p:cNvSpPr>
            <a:spLocks xmlns:a="http://schemas.openxmlformats.org/drawingml/2006/main" noGrp="1"/>
          </p:cNvSpPr>
          <p:nvPr/>
        </p:nvSpPr>
        <p:spPr>
          <a:xfrm xmlns:a="http://schemas.openxmlformats.org/drawingml/2006/main">
            <a:off x="1104900" y="39909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Tahoma"/>
                <a:ea typeface="Tahoma"/>
                <a:cs typeface="Tahoma"/>
              </a:defRPr>
            </a:pPr>
            <a:r>
              <a:rPr sz="1050" b="1">
                <a:solidFill>
                  <a:srgbClr val="FFFFFF"/>
                </a:solidFill>
                <a:latin typeface="Tahoma"/>
                <a:ea typeface="Tahoma"/>
                <a:cs typeface="Tahoma"/>
              </a:rPr>
              <a:t>‏مالک تولید</a:t>
            </a:r>
          </a:p>
        </p:txBody>
      </p:sp>
      <p:sp>
        <p:nvSpPr>
          <p:cNvPr id="23" name="">
            <a:extLst xmlns:a="http://schemas.openxmlformats.org/drawingml/2006/main">
              <a:ext uri="{FF2B5EF4-FFF2-40B4-BE49-F238E27FC236}">
                <a16:creationId xmlns:a16="http://schemas.microsoft.com/office/drawing/2014/main" id="{4AF854FC-4CA1-44B9-A0EC-36BE4A441482}"/>
              </a:ext>
            </a:extLst>
          </p:cNvPr>
          <p:cNvSpPr>
            <a:spLocks xmlns:a="http://schemas.openxmlformats.org/drawingml/2006/main" noGrp="1"/>
          </p:cNvSpPr>
          <p:nvPr/>
        </p:nvSpPr>
        <p:spPr>
          <a:xfrm xmlns:a="http://schemas.openxmlformats.org/drawingml/2006/main">
            <a:off x="3524250" y="39052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4E9DA225-F766-4E07-B83F-D8382E0356BC}"/>
              </a:ext>
            </a:extLst>
          </p:cNvPr>
          <p:cNvSpPr>
            <a:spLocks xmlns:a="http://schemas.openxmlformats.org/drawingml/2006/main" noGrp="1"/>
          </p:cNvSpPr>
          <p:nvPr/>
        </p:nvSpPr>
        <p:spPr>
          <a:xfrm xmlns:a="http://schemas.openxmlformats.org/drawingml/2006/main">
            <a:off x="3714750" y="39909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‏واقعیت فرایند و پذیرش اپراتور را تعریف می‌کند</a:t>
            </a:r>
          </a:p>
        </p:txBody>
      </p:sp>
      <p:sp>
        <p:nvSpPr>
          <p:cNvPr id="25" name="">
            <a:extLst xmlns:a="http://schemas.openxmlformats.org/drawingml/2006/main">
              <a:ext uri="{FF2B5EF4-FFF2-40B4-BE49-F238E27FC236}">
                <a16:creationId xmlns:a16="http://schemas.microsoft.com/office/drawing/2014/main" id="{7029C106-99DF-41CF-930E-CBF6E2C218F0}"/>
              </a:ext>
            </a:extLst>
          </p:cNvPr>
          <p:cNvSpPr>
            <a:spLocks xmlns:a="http://schemas.openxmlformats.org/drawingml/2006/main" noGrp="1"/>
          </p:cNvSpPr>
          <p:nvPr/>
        </p:nvSpPr>
        <p:spPr>
          <a:xfrm xmlns:a="http://schemas.openxmlformats.org/drawingml/2006/main">
            <a:off x="952500" y="438150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A111417-EB0F-40DF-9446-8E54B3E71987}"/>
              </a:ext>
            </a:extLst>
          </p:cNvPr>
          <p:cNvSpPr>
            <a:spLocks xmlns:a="http://schemas.openxmlformats.org/drawingml/2006/main" noGrp="1"/>
          </p:cNvSpPr>
          <p:nvPr/>
        </p:nvSpPr>
        <p:spPr>
          <a:xfrm xmlns:a="http://schemas.openxmlformats.org/drawingml/2006/main">
            <a:off x="1104900" y="44672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Tahoma"/>
                <a:ea typeface="Tahoma"/>
                <a:cs typeface="Tahoma"/>
              </a:defRPr>
            </a:pPr>
            <a:r>
              <a:rPr sz="1050" b="1">
                <a:solidFill>
                  <a:srgbClr val="FFFFFF"/>
                </a:solidFill>
                <a:latin typeface="Tahoma"/>
                <a:ea typeface="Tahoma"/>
                <a:cs typeface="Tahoma"/>
              </a:rPr>
              <a:t>‏مالک تحقیق‌وتوسعه</a:t>
            </a:r>
          </a:p>
        </p:txBody>
      </p:sp>
      <p:sp>
        <p:nvSpPr>
          <p:cNvPr id="27" name="">
            <a:extLst xmlns:a="http://schemas.openxmlformats.org/drawingml/2006/main">
              <a:ext uri="{FF2B5EF4-FFF2-40B4-BE49-F238E27FC236}">
                <a16:creationId xmlns:a16="http://schemas.microsoft.com/office/drawing/2014/main" id="{58EC6B35-1201-4C66-BC66-62415D3521E2}"/>
              </a:ext>
            </a:extLst>
          </p:cNvPr>
          <p:cNvSpPr>
            <a:spLocks xmlns:a="http://schemas.openxmlformats.org/drawingml/2006/main" noGrp="1"/>
          </p:cNvSpPr>
          <p:nvPr/>
        </p:nvSpPr>
        <p:spPr>
          <a:xfrm xmlns:a="http://schemas.openxmlformats.org/drawingml/2006/main">
            <a:off x="3524250" y="438150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BD23D97C-7CFF-4313-B61C-350B79537C6A}"/>
              </a:ext>
            </a:extLst>
          </p:cNvPr>
          <p:cNvSpPr>
            <a:spLocks xmlns:a="http://schemas.openxmlformats.org/drawingml/2006/main" noGrp="1"/>
          </p:cNvSpPr>
          <p:nvPr/>
        </p:nvSpPr>
        <p:spPr>
          <a:xfrm xmlns:a="http://schemas.openxmlformats.org/drawingml/2006/main">
            <a:off x="3714750" y="446722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‏دانش آزمایش و یادگیری فرمولاسیون را وصل می‌کند</a:t>
            </a:r>
          </a:p>
        </p:txBody>
      </p:sp>
      <p:sp>
        <p:nvSpPr>
          <p:cNvPr id="29" name="">
            <a:extLst xmlns:a="http://schemas.openxmlformats.org/drawingml/2006/main">
              <a:ext uri="{FF2B5EF4-FFF2-40B4-BE49-F238E27FC236}">
                <a16:creationId xmlns:a16="http://schemas.microsoft.com/office/drawing/2014/main" id="{610F5E93-193C-4547-95A4-4D435EA3B3D4}"/>
              </a:ext>
            </a:extLst>
          </p:cNvPr>
          <p:cNvSpPr>
            <a:spLocks xmlns:a="http://schemas.openxmlformats.org/drawingml/2006/main" noGrp="1"/>
          </p:cNvSpPr>
          <p:nvPr/>
        </p:nvSpPr>
        <p:spPr>
          <a:xfrm xmlns:a="http://schemas.openxmlformats.org/drawingml/2006/main">
            <a:off x="952500" y="4857750"/>
            <a:ext cx="2381250" cy="36195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168E0A1-389C-41E8-97F5-F9BB0391AF51}"/>
              </a:ext>
            </a:extLst>
          </p:cNvPr>
          <p:cNvSpPr>
            <a:spLocks xmlns:a="http://schemas.openxmlformats.org/drawingml/2006/main" noGrp="1"/>
          </p:cNvSpPr>
          <p:nvPr/>
        </p:nvSpPr>
        <p:spPr>
          <a:xfrm xmlns:a="http://schemas.openxmlformats.org/drawingml/2006/main">
            <a:off x="1104900" y="49434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Tahoma"/>
                <a:ea typeface="Tahoma"/>
                <a:cs typeface="Tahoma"/>
              </a:defRPr>
            </a:pPr>
            <a:r>
              <a:rPr sz="1050" b="1">
                <a:solidFill>
                  <a:srgbClr val="FFFFFF"/>
                </a:solidFill>
                <a:latin typeface="Tahoma"/>
                <a:ea typeface="Tahoma"/>
                <a:cs typeface="Tahoma"/>
              </a:rPr>
              <a:t>‏مالک مالی</a:t>
            </a:r>
          </a:p>
        </p:txBody>
      </p:sp>
      <p:sp>
        <p:nvSpPr>
          <p:cNvPr id="31" name="">
            <a:extLst xmlns:a="http://schemas.openxmlformats.org/drawingml/2006/main">
              <a:ext uri="{FF2B5EF4-FFF2-40B4-BE49-F238E27FC236}">
                <a16:creationId xmlns:a16="http://schemas.microsoft.com/office/drawing/2014/main" id="{2B670D17-7D83-41DE-8998-64FDEE65A87E}"/>
              </a:ext>
            </a:extLst>
          </p:cNvPr>
          <p:cNvSpPr>
            <a:spLocks xmlns:a="http://schemas.openxmlformats.org/drawingml/2006/main" noGrp="1"/>
          </p:cNvSpPr>
          <p:nvPr/>
        </p:nvSpPr>
        <p:spPr>
          <a:xfrm xmlns:a="http://schemas.openxmlformats.org/drawingml/2006/main">
            <a:off x="3524250" y="4857750"/>
            <a:ext cx="6953250" cy="36195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AD6AA468-4761-4676-988B-D1A738AABD85}"/>
              </a:ext>
            </a:extLst>
          </p:cNvPr>
          <p:cNvSpPr>
            <a:spLocks xmlns:a="http://schemas.openxmlformats.org/drawingml/2006/main" noGrp="1"/>
          </p:cNvSpPr>
          <p:nvPr/>
        </p:nvSpPr>
        <p:spPr>
          <a:xfrm xmlns:a="http://schemas.openxmlformats.org/drawingml/2006/main">
            <a:off x="3714750" y="4943475"/>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111111"/>
                </a:solidFill>
                <a:latin typeface="Tahoma"/>
                <a:ea typeface="Tahoma"/>
                <a:cs typeface="Tahoma"/>
              </a:defRPr>
            </a:pPr>
            <a:r>
              <a:rPr sz="1050" b="0">
                <a:solidFill>
                  <a:srgbClr val="111111"/>
                </a:solidFill>
                <a:latin typeface="Tahoma"/>
                <a:ea typeface="Tahoma"/>
                <a:cs typeface="Tahoma"/>
              </a:rPr>
              <a:t>‏خط مبنا و ROI را اعتبارسنجی می‌کند</a:t>
            </a:r>
          </a:p>
        </p:txBody>
      </p:sp>
      <p:sp>
        <p:nvSpPr>
          <p:cNvPr id="33" name="">
            <a:extLst xmlns:a="http://schemas.openxmlformats.org/drawingml/2006/main">
              <a:ext uri="{FF2B5EF4-FFF2-40B4-BE49-F238E27FC236}">
                <a16:creationId xmlns:a16="http://schemas.microsoft.com/office/drawing/2014/main" id="{C2D27C2D-A06F-4D9F-844D-34B9E0AE4366}"/>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34" name="">
            <a:extLst xmlns:a="http://schemas.openxmlformats.org/drawingml/2006/main">
              <a:ext uri="{FF2B5EF4-FFF2-40B4-BE49-F238E27FC236}">
                <a16:creationId xmlns:a16="http://schemas.microsoft.com/office/drawing/2014/main" id="{99312260-E06E-4EFC-812A-28B2D1971815}"/>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19</a:t>
            </a:r>
          </a:p>
        </p:txBody>
      </p:sp>
    </p:spTree>
    <p:extLst>
      <p:ext uri="{BB962C8B-B14F-4D97-AF65-F5344CB8AC3E}">
        <p14:creationId xmlns:p14="http://schemas.microsoft.com/office/powerpoint/2010/main" val="20267272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3721E2-2D1D-4666-989E-987A22F8FAB8}"/>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‏اجرا</a:t>
            </a:r>
          </a:p>
        </p:txBody>
      </p:sp>
      <p:sp>
        <p:nvSpPr>
          <p:cNvPr id="2" name="">
            <a:extLst xmlns:a="http://schemas.openxmlformats.org/drawingml/2006/main">
              <a:ext uri="{FF2B5EF4-FFF2-40B4-BE49-F238E27FC236}">
                <a16:creationId xmlns:a16="http://schemas.microsoft.com/office/drawing/2014/main" id="{222240E5-5AE3-4349-A43E-67DED63838E1}"/>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‏۳۰ روز آینده منشور پایلوت را می‌سازد</a:t>
            </a:r>
          </a:p>
        </p:txBody>
      </p:sp>
      <p:sp>
        <p:nvSpPr>
          <p:cNvPr id="3" name="">
            <a:extLst xmlns:a="http://schemas.openxmlformats.org/drawingml/2006/main">
              <a:ext uri="{FF2B5EF4-FFF2-40B4-BE49-F238E27FC236}">
                <a16:creationId xmlns:a16="http://schemas.microsoft.com/office/drawing/2014/main" id="{2F68DEF1-2189-481B-9A50-3333E9E01214}"/>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‏کشف سریع، ماه‌ها بحث انتزاعی را حذف می‌کند.</a:t>
            </a:r>
          </a:p>
        </p:txBody>
      </p:sp>
      <p:sp>
        <p:nvSpPr>
          <p:cNvPr id="4" name="">
            <a:extLst xmlns:a="http://schemas.openxmlformats.org/drawingml/2006/main">
              <a:ext uri="{FF2B5EF4-FFF2-40B4-BE49-F238E27FC236}">
                <a16:creationId xmlns:a16="http://schemas.microsoft.com/office/drawing/2014/main" id="{D30F37C9-2786-4CFC-9578-8D36787F69FA}"/>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AA06DFA4-CF5B-4FE2-AC33-9922B03027BE}"/>
              </a:ext>
            </a:extLst>
          </p:cNvPr>
          <p:cNvSpPr>
            <a:spLocks xmlns:a="http://schemas.openxmlformats.org/drawingml/2006/main" noGrp="1"/>
          </p:cNvSpPr>
          <p:nvPr/>
        </p:nvSpPr>
        <p:spPr>
          <a:xfrm xmlns:a="http://schemas.openxmlformats.org/drawingml/2006/main">
            <a:off x="742950" y="2266950"/>
            <a:ext cx="1952625" cy="2095500"/>
          </a:xfrm>
          <a:prstGeom xmlns:a="http://schemas.openxmlformats.org/drawingml/2006/main" prst="rect">
            <a:avLst/>
          </a:prstGeom>
          <a:solidFill xmlns:a="http://schemas.openxmlformats.org/drawingml/2006/main">
            <a:srgbClr val="FFF3E5"/>
          </a:solidFill>
          <a:ln xmlns:a="http://schemas.openxmlformats.org/drawingml/2006/main" w="9525">
            <a:solidFill>
              <a:srgbClr val="F39200"/>
            </a:solidFill>
            <a:prstDash val="solid"/>
          </a:ln>
        </p:spPr>
      </p:sp>
      <p:sp>
        <p:nvSpPr>
          <p:cNvPr id="6" name="">
            <a:extLst xmlns:a="http://schemas.openxmlformats.org/drawingml/2006/main">
              <a:ext uri="{FF2B5EF4-FFF2-40B4-BE49-F238E27FC236}">
                <a16:creationId xmlns:a16="http://schemas.microsoft.com/office/drawing/2014/main" id="{E0D6AF37-D294-4F34-ABB2-A934D65C7FD5}"/>
              </a:ext>
            </a:extLst>
          </p:cNvPr>
          <p:cNvSpPr>
            <a:spLocks xmlns:a="http://schemas.openxmlformats.org/drawingml/2006/main" noGrp="1"/>
          </p:cNvSpPr>
          <p:nvPr/>
        </p:nvSpPr>
        <p:spPr>
          <a:xfrm xmlns:a="http://schemas.openxmlformats.org/drawingml/2006/main">
            <a:off x="914400"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F39200"/>
                </a:solidFill>
                <a:latin typeface="Tahoma"/>
                <a:ea typeface="Tahoma"/>
                <a:cs typeface="Tahoma"/>
              </a:defRPr>
            </a:pPr>
            <a:r>
              <a:rPr sz="1650" b="1">
                <a:solidFill>
                  <a:srgbClr val="F39200"/>
                </a:solidFill>
                <a:latin typeface="Tahoma"/>
                <a:ea typeface="Tahoma"/>
                <a:cs typeface="Tahoma"/>
              </a:rPr>
              <a:t>‏هفته ۱</a:t>
            </a:r>
          </a:p>
        </p:txBody>
      </p:sp>
      <p:sp>
        <p:nvSpPr>
          <p:cNvPr id="7" name="">
            <a:extLst xmlns:a="http://schemas.openxmlformats.org/drawingml/2006/main">
              <a:ext uri="{FF2B5EF4-FFF2-40B4-BE49-F238E27FC236}">
                <a16:creationId xmlns:a16="http://schemas.microsoft.com/office/drawing/2014/main" id="{AE2FE51A-F8D5-4697-A99F-63221F653834}"/>
              </a:ext>
            </a:extLst>
          </p:cNvPr>
          <p:cNvSpPr>
            <a:spLocks xmlns:a="http://schemas.openxmlformats.org/drawingml/2006/main" noGrp="1"/>
          </p:cNvSpPr>
          <p:nvPr/>
        </p:nvSpPr>
        <p:spPr>
          <a:xfrm xmlns:a="http://schemas.openxmlformats.org/drawingml/2006/main">
            <a:off x="914400"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‏حامی، مالکان، خانواده پایلوت، قواعد دسترسی</a:t>
            </a:r>
          </a:p>
        </p:txBody>
      </p:sp>
      <p:sp>
        <p:nvSpPr>
          <p:cNvPr id="8" name="">
            <a:extLst xmlns:a="http://schemas.openxmlformats.org/drawingml/2006/main">
              <a:ext uri="{FF2B5EF4-FFF2-40B4-BE49-F238E27FC236}">
                <a16:creationId xmlns:a16="http://schemas.microsoft.com/office/drawing/2014/main" id="{77C421A6-6AD3-4C9E-8F82-DB7DE4188502}"/>
              </a:ext>
            </a:extLst>
          </p:cNvPr>
          <p:cNvSpPr>
            <a:spLocks xmlns:a="http://schemas.openxmlformats.org/drawingml/2006/main" noGrp="1"/>
          </p:cNvSpPr>
          <p:nvPr/>
        </p:nvSpPr>
        <p:spPr>
          <a:xfrm xmlns:a="http://schemas.openxmlformats.org/drawingml/2006/main">
            <a:off x="2886075"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9" name="">
            <a:extLst xmlns:a="http://schemas.openxmlformats.org/drawingml/2006/main">
              <a:ext uri="{FF2B5EF4-FFF2-40B4-BE49-F238E27FC236}">
                <a16:creationId xmlns:a16="http://schemas.microsoft.com/office/drawing/2014/main" id="{7CF6152E-D139-472F-A3EC-4E4C95F8F636}"/>
              </a:ext>
            </a:extLst>
          </p:cNvPr>
          <p:cNvSpPr>
            <a:spLocks xmlns:a="http://schemas.openxmlformats.org/drawingml/2006/main" noGrp="1"/>
          </p:cNvSpPr>
          <p:nvPr/>
        </p:nvSpPr>
        <p:spPr>
          <a:xfrm xmlns:a="http://schemas.openxmlformats.org/drawingml/2006/main">
            <a:off x="3057525"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11111"/>
                </a:solidFill>
                <a:latin typeface="Tahoma"/>
                <a:ea typeface="Tahoma"/>
                <a:cs typeface="Tahoma"/>
              </a:defRPr>
            </a:pPr>
            <a:r>
              <a:rPr sz="1650" b="1">
                <a:solidFill>
                  <a:srgbClr val="111111"/>
                </a:solidFill>
                <a:latin typeface="Tahoma"/>
                <a:ea typeface="Tahoma"/>
                <a:cs typeface="Tahoma"/>
              </a:rPr>
              <a:t>‏هفته ۲</a:t>
            </a:r>
          </a:p>
        </p:txBody>
      </p:sp>
      <p:sp>
        <p:nvSpPr>
          <p:cNvPr id="10" name="">
            <a:extLst xmlns:a="http://schemas.openxmlformats.org/drawingml/2006/main">
              <a:ext uri="{FF2B5EF4-FFF2-40B4-BE49-F238E27FC236}">
                <a16:creationId xmlns:a16="http://schemas.microsoft.com/office/drawing/2014/main" id="{625F5F55-603B-4EA7-AA35-EA8A5D2B7033}"/>
              </a:ext>
            </a:extLst>
          </p:cNvPr>
          <p:cNvSpPr>
            <a:spLocks xmlns:a="http://schemas.openxmlformats.org/drawingml/2006/main" noGrp="1"/>
          </p:cNvSpPr>
          <p:nvPr/>
        </p:nvSpPr>
        <p:spPr>
          <a:xfrm xmlns:a="http://schemas.openxmlformats.org/drawingml/2006/main">
            <a:off x="3057525"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‏فهرست داده، خروجی‌ها، طراحی خط مبنای کیفیت</a:t>
            </a:r>
          </a:p>
        </p:txBody>
      </p:sp>
      <p:sp>
        <p:nvSpPr>
          <p:cNvPr id="11" name="">
            <a:extLst xmlns:a="http://schemas.openxmlformats.org/drawingml/2006/main">
              <a:ext uri="{FF2B5EF4-FFF2-40B4-BE49-F238E27FC236}">
                <a16:creationId xmlns:a16="http://schemas.microsoft.com/office/drawing/2014/main" id="{0C73CC9B-E488-495A-B761-F47FA0FBE2B2}"/>
              </a:ext>
            </a:extLst>
          </p:cNvPr>
          <p:cNvSpPr>
            <a:spLocks xmlns:a="http://schemas.openxmlformats.org/drawingml/2006/main" noGrp="1"/>
          </p:cNvSpPr>
          <p:nvPr/>
        </p:nvSpPr>
        <p:spPr>
          <a:xfrm xmlns:a="http://schemas.openxmlformats.org/drawingml/2006/main">
            <a:off x="5029200"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2334A20C-6E5B-4687-AC17-7B89548D5E2C}"/>
              </a:ext>
            </a:extLst>
          </p:cNvPr>
          <p:cNvSpPr>
            <a:spLocks xmlns:a="http://schemas.openxmlformats.org/drawingml/2006/main" noGrp="1"/>
          </p:cNvSpPr>
          <p:nvPr/>
        </p:nvSpPr>
        <p:spPr>
          <a:xfrm xmlns:a="http://schemas.openxmlformats.org/drawingml/2006/main">
            <a:off x="5200650"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11111"/>
                </a:solidFill>
                <a:latin typeface="Tahoma"/>
                <a:ea typeface="Tahoma"/>
                <a:cs typeface="Tahoma"/>
              </a:defRPr>
            </a:pPr>
            <a:r>
              <a:rPr sz="1650" b="1">
                <a:solidFill>
                  <a:srgbClr val="111111"/>
                </a:solidFill>
                <a:latin typeface="Tahoma"/>
                <a:ea typeface="Tahoma"/>
                <a:cs typeface="Tahoma"/>
              </a:rPr>
              <a:t>‏هفته ۳-۵</a:t>
            </a:r>
          </a:p>
        </p:txBody>
      </p:sp>
      <p:sp>
        <p:nvSpPr>
          <p:cNvPr id="13" name="">
            <a:extLst xmlns:a="http://schemas.openxmlformats.org/drawingml/2006/main">
              <a:ext uri="{FF2B5EF4-FFF2-40B4-BE49-F238E27FC236}">
                <a16:creationId xmlns:a16="http://schemas.microsoft.com/office/drawing/2014/main" id="{1A3D1116-1878-4777-BFAE-6EE2BE056FDE}"/>
              </a:ext>
            </a:extLst>
          </p:cNvPr>
          <p:cNvSpPr>
            <a:spLocks xmlns:a="http://schemas.openxmlformats.org/drawingml/2006/main" noGrp="1"/>
          </p:cNvSpPr>
          <p:nvPr/>
        </p:nvSpPr>
        <p:spPr>
          <a:xfrm xmlns:a="http://schemas.openxmlformats.org/drawingml/2006/main">
            <a:off x="5200650"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‏اتصال رول، طبقه‌بندی عیب، داشبورد اول</a:t>
            </a:r>
          </a:p>
        </p:txBody>
      </p:sp>
      <p:sp>
        <p:nvSpPr>
          <p:cNvPr id="14" name="">
            <a:extLst xmlns:a="http://schemas.openxmlformats.org/drawingml/2006/main">
              <a:ext uri="{FF2B5EF4-FFF2-40B4-BE49-F238E27FC236}">
                <a16:creationId xmlns:a16="http://schemas.microsoft.com/office/drawing/2014/main" id="{B536734F-65FD-4A61-B489-C8C38127E557}"/>
              </a:ext>
            </a:extLst>
          </p:cNvPr>
          <p:cNvSpPr>
            <a:spLocks xmlns:a="http://schemas.openxmlformats.org/drawingml/2006/main" noGrp="1"/>
          </p:cNvSpPr>
          <p:nvPr/>
        </p:nvSpPr>
        <p:spPr>
          <a:xfrm xmlns:a="http://schemas.openxmlformats.org/drawingml/2006/main">
            <a:off x="7172325"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5" name="">
            <a:extLst xmlns:a="http://schemas.openxmlformats.org/drawingml/2006/main">
              <a:ext uri="{FF2B5EF4-FFF2-40B4-BE49-F238E27FC236}">
                <a16:creationId xmlns:a16="http://schemas.microsoft.com/office/drawing/2014/main" id="{9336266C-89E8-42A9-B75F-8C1DAA883127}"/>
              </a:ext>
            </a:extLst>
          </p:cNvPr>
          <p:cNvSpPr>
            <a:spLocks xmlns:a="http://schemas.openxmlformats.org/drawingml/2006/main" noGrp="1"/>
          </p:cNvSpPr>
          <p:nvPr/>
        </p:nvSpPr>
        <p:spPr>
          <a:xfrm xmlns:a="http://schemas.openxmlformats.org/drawingml/2006/main">
            <a:off x="7343775"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11111"/>
                </a:solidFill>
                <a:latin typeface="Tahoma"/>
                <a:ea typeface="Tahoma"/>
                <a:cs typeface="Tahoma"/>
              </a:defRPr>
            </a:pPr>
            <a:r>
              <a:rPr sz="1650" b="1">
                <a:solidFill>
                  <a:srgbClr val="111111"/>
                </a:solidFill>
                <a:latin typeface="Tahoma"/>
                <a:ea typeface="Tahoma"/>
                <a:cs typeface="Tahoma"/>
              </a:rPr>
              <a:t>‏هفته ۶-۹</a:t>
            </a:r>
          </a:p>
        </p:txBody>
      </p:sp>
      <p:sp>
        <p:nvSpPr>
          <p:cNvPr id="16" name="">
            <a:extLst xmlns:a="http://schemas.openxmlformats.org/drawingml/2006/main">
              <a:ext uri="{FF2B5EF4-FFF2-40B4-BE49-F238E27FC236}">
                <a16:creationId xmlns:a16="http://schemas.microsoft.com/office/drawing/2014/main" id="{8D8017D6-CCC9-4FB9-89D6-A1C309F19E1C}"/>
              </a:ext>
            </a:extLst>
          </p:cNvPr>
          <p:cNvSpPr>
            <a:spLocks xmlns:a="http://schemas.openxmlformats.org/drawingml/2006/main" noGrp="1"/>
          </p:cNvSpPr>
          <p:nvPr/>
        </p:nvSpPr>
        <p:spPr>
          <a:xfrm xmlns:a="http://schemas.openxmlformats.org/drawingml/2006/main">
            <a:off x="7343775"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‏تحلیل ریشه، بازبینی خبره، شکاف‌های داده</a:t>
            </a:r>
          </a:p>
        </p:txBody>
      </p:sp>
      <p:sp>
        <p:nvSpPr>
          <p:cNvPr id="17" name="">
            <a:extLst xmlns:a="http://schemas.openxmlformats.org/drawingml/2006/main">
              <a:ext uri="{FF2B5EF4-FFF2-40B4-BE49-F238E27FC236}">
                <a16:creationId xmlns:a16="http://schemas.microsoft.com/office/drawing/2014/main" id="{932BE2C1-C7F3-4950-B557-73D96AB1DAAF}"/>
              </a:ext>
            </a:extLst>
          </p:cNvPr>
          <p:cNvSpPr>
            <a:spLocks xmlns:a="http://schemas.openxmlformats.org/drawingml/2006/main" noGrp="1"/>
          </p:cNvSpPr>
          <p:nvPr/>
        </p:nvSpPr>
        <p:spPr>
          <a:xfrm xmlns:a="http://schemas.openxmlformats.org/drawingml/2006/main">
            <a:off x="9315450" y="2266950"/>
            <a:ext cx="1952625" cy="20955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ED3174EB-7E4A-4956-AE2C-DE56DA048D5C}"/>
              </a:ext>
            </a:extLst>
          </p:cNvPr>
          <p:cNvSpPr>
            <a:spLocks xmlns:a="http://schemas.openxmlformats.org/drawingml/2006/main" noGrp="1"/>
          </p:cNvSpPr>
          <p:nvPr/>
        </p:nvSpPr>
        <p:spPr>
          <a:xfrm xmlns:a="http://schemas.openxmlformats.org/drawingml/2006/main">
            <a:off x="9486900" y="2524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650" b="1">
                <a:solidFill>
                  <a:srgbClr val="111111"/>
                </a:solidFill>
                <a:latin typeface="Tahoma"/>
                <a:ea typeface="Tahoma"/>
                <a:cs typeface="Tahoma"/>
              </a:defRPr>
            </a:pPr>
            <a:r>
              <a:rPr sz="1650" b="1">
                <a:solidFill>
                  <a:srgbClr val="111111"/>
                </a:solidFill>
                <a:latin typeface="Tahoma"/>
                <a:ea typeface="Tahoma"/>
                <a:cs typeface="Tahoma"/>
              </a:rPr>
              <a:t>‏هفته ۱۰-۱۲</a:t>
            </a:r>
          </a:p>
        </p:txBody>
      </p:sp>
      <p:sp>
        <p:nvSpPr>
          <p:cNvPr id="19" name="">
            <a:extLst xmlns:a="http://schemas.openxmlformats.org/drawingml/2006/main">
              <a:ext uri="{FF2B5EF4-FFF2-40B4-BE49-F238E27FC236}">
                <a16:creationId xmlns:a16="http://schemas.microsoft.com/office/drawing/2014/main" id="{6D8577B8-4F8C-4262-B33C-06EA4D079FC4}"/>
              </a:ext>
            </a:extLst>
          </p:cNvPr>
          <p:cNvSpPr>
            <a:spLocks xmlns:a="http://schemas.openxmlformats.org/drawingml/2006/main" noGrp="1"/>
          </p:cNvSpPr>
          <p:nvPr/>
        </p:nvSpPr>
        <p:spPr>
          <a:xfrm xmlns:a="http://schemas.openxmlformats.org/drawingml/2006/main">
            <a:off x="9486900" y="3048000"/>
            <a:ext cx="152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a:solidFill>
                  <a:srgbClr val="111111"/>
                </a:solidFill>
                <a:latin typeface="Tahoma"/>
                <a:ea typeface="Tahoma"/>
                <a:cs typeface="Tahoma"/>
              </a:defRPr>
            </a:pPr>
            <a:r>
              <a:rPr sz="1350" b="0">
                <a:solidFill>
                  <a:srgbClr val="111111"/>
                </a:solidFill>
                <a:latin typeface="Tahoma"/>
                <a:ea typeface="Tahoma"/>
                <a:cs typeface="Tahoma"/>
              </a:rPr>
              <a:t>‏دموی مدیریت، پرونده ROI، تصمیم مقیاس</a:t>
            </a:r>
          </a:p>
        </p:txBody>
      </p:sp>
      <p:sp>
        <p:nvSpPr>
          <p:cNvPr id="20" name="">
            <a:extLst xmlns:a="http://schemas.openxmlformats.org/drawingml/2006/main">
              <a:ext uri="{FF2B5EF4-FFF2-40B4-BE49-F238E27FC236}">
                <a16:creationId xmlns:a16="http://schemas.microsoft.com/office/drawing/2014/main" id="{2E145072-F2EA-4092-80DA-7AF6BA9DCCD9}"/>
              </a:ext>
            </a:extLst>
          </p:cNvPr>
          <p:cNvSpPr>
            <a:spLocks xmlns:a="http://schemas.openxmlformats.org/drawingml/2006/main" noGrp="1"/>
          </p:cNvSpPr>
          <p:nvPr/>
        </p:nvSpPr>
        <p:spPr>
          <a:xfrm xmlns:a="http://schemas.openxmlformats.org/drawingml/2006/main">
            <a:off x="1238250" y="50958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11111"/>
                </a:solidFill>
                <a:latin typeface="Tahoma"/>
                <a:ea typeface="Tahoma"/>
                <a:cs typeface="Tahoma"/>
              </a:defRPr>
            </a:pPr>
            <a:r>
              <a:rPr sz="1800" b="1">
                <a:solidFill>
                  <a:srgbClr val="111111"/>
                </a:solidFill>
                <a:latin typeface="Tahoma"/>
                <a:ea typeface="Tahoma"/>
                <a:cs typeface="Tahoma"/>
              </a:rPr>
              <a:t>‏خروجی جلسه اول: اجازه بررسی داده، نه اجازه ساخت پلتفرم.</a:t>
            </a:r>
          </a:p>
        </p:txBody>
      </p:sp>
      <p:sp>
        <p:nvSpPr>
          <p:cNvPr id="21" name="">
            <a:extLst xmlns:a="http://schemas.openxmlformats.org/drawingml/2006/main">
              <a:ext uri="{FF2B5EF4-FFF2-40B4-BE49-F238E27FC236}">
                <a16:creationId xmlns:a16="http://schemas.microsoft.com/office/drawing/2014/main" id="{A9C3346A-C839-443C-A17E-B754F972E62B}"/>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22" name="">
            <a:extLst xmlns:a="http://schemas.openxmlformats.org/drawingml/2006/main">
              <a:ext uri="{FF2B5EF4-FFF2-40B4-BE49-F238E27FC236}">
                <a16:creationId xmlns:a16="http://schemas.microsoft.com/office/drawing/2014/main" id="{183F6D90-3A08-4CA1-97CF-21835F48D151}"/>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20</a:t>
            </a:r>
          </a:p>
        </p:txBody>
      </p:sp>
    </p:spTree>
    <p:extLst>
      <p:ext uri="{BB962C8B-B14F-4D97-AF65-F5344CB8AC3E}">
        <p14:creationId xmlns:p14="http://schemas.microsoft.com/office/powerpoint/2010/main" val="672793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C369CB-B9A7-4617-BB77-D8FB7CCAC068}"/>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‏شاخص‌های موفقیت</a:t>
            </a:r>
          </a:p>
        </p:txBody>
      </p:sp>
      <p:sp>
        <p:nvSpPr>
          <p:cNvPr id="2" name="">
            <a:extLst xmlns:a="http://schemas.openxmlformats.org/drawingml/2006/main">
              <a:ext uri="{FF2B5EF4-FFF2-40B4-BE49-F238E27FC236}">
                <a16:creationId xmlns:a16="http://schemas.microsoft.com/office/drawing/2014/main" id="{715D4280-88C0-4EFC-815D-890CC3D0ABFB}"/>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‏شاخص‌های موفقیت از نمایش AI جلوگیری می‌کند</a:t>
            </a:r>
          </a:p>
        </p:txBody>
      </p:sp>
      <p:sp>
        <p:nvSpPr>
          <p:cNvPr id="3" name="">
            <a:extLst xmlns:a="http://schemas.openxmlformats.org/drawingml/2006/main">
              <a:ext uri="{FF2B5EF4-FFF2-40B4-BE49-F238E27FC236}">
                <a16:creationId xmlns:a16="http://schemas.microsoft.com/office/drawing/2014/main" id="{9467951F-2026-4853-8214-EAB8196B33DA}"/>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‏هر شاخص باید در دامنه پایلوت قابل مشاهده باشد.</a:t>
            </a:r>
          </a:p>
        </p:txBody>
      </p:sp>
      <p:sp>
        <p:nvSpPr>
          <p:cNvPr id="4" name="">
            <a:extLst xmlns:a="http://schemas.openxmlformats.org/drawingml/2006/main">
              <a:ext uri="{FF2B5EF4-FFF2-40B4-BE49-F238E27FC236}">
                <a16:creationId xmlns:a16="http://schemas.microsoft.com/office/drawing/2014/main" id="{84980C65-4732-4AC0-A151-1768DA5B6438}"/>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B495781B-7D13-410D-A4F6-434D4A192843}"/>
              </a:ext>
            </a:extLst>
          </p:cNvPr>
          <p:cNvSpPr>
            <a:spLocks xmlns:a="http://schemas.openxmlformats.org/drawingml/2006/main" noGrp="1"/>
          </p:cNvSpPr>
          <p:nvPr/>
        </p:nvSpPr>
        <p:spPr>
          <a:xfrm xmlns:a="http://schemas.openxmlformats.org/drawingml/2006/main">
            <a:off x="876300" y="2047875"/>
            <a:ext cx="238125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6" name="">
            <a:extLst xmlns:a="http://schemas.openxmlformats.org/drawingml/2006/main">
              <a:ext uri="{FF2B5EF4-FFF2-40B4-BE49-F238E27FC236}">
                <a16:creationId xmlns:a16="http://schemas.microsoft.com/office/drawing/2014/main" id="{A97F7068-0CC3-411B-B1BC-6F2C1CB61001}"/>
              </a:ext>
            </a:extLst>
          </p:cNvPr>
          <p:cNvSpPr>
            <a:spLocks xmlns:a="http://schemas.openxmlformats.org/drawingml/2006/main" noGrp="1"/>
          </p:cNvSpPr>
          <p:nvPr/>
        </p:nvSpPr>
        <p:spPr>
          <a:xfrm xmlns:a="http://schemas.openxmlformats.org/drawingml/2006/main">
            <a:off x="971550" y="21240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‏شاخص</a:t>
            </a:r>
          </a:p>
        </p:txBody>
      </p:sp>
      <p:sp>
        <p:nvSpPr>
          <p:cNvPr id="7" name="">
            <a:extLst xmlns:a="http://schemas.openxmlformats.org/drawingml/2006/main">
              <a:ext uri="{FF2B5EF4-FFF2-40B4-BE49-F238E27FC236}">
                <a16:creationId xmlns:a16="http://schemas.microsoft.com/office/drawing/2014/main" id="{8DC7DC3C-AD6B-4BCE-9DF9-6EF376083AED}"/>
              </a:ext>
            </a:extLst>
          </p:cNvPr>
          <p:cNvSpPr>
            <a:spLocks xmlns:a="http://schemas.openxmlformats.org/drawingml/2006/main" noGrp="1"/>
          </p:cNvSpPr>
          <p:nvPr/>
        </p:nvSpPr>
        <p:spPr>
          <a:xfrm xmlns:a="http://schemas.openxmlformats.org/drawingml/2006/main">
            <a:off x="3257550" y="2047875"/>
            <a:ext cx="7239000" cy="495300"/>
          </a:xfrm>
          <a:prstGeom xmlns:a="http://schemas.openxmlformats.org/drawingml/2006/main" prst="rect">
            <a:avLst/>
          </a:prstGeom>
          <a:solidFill xmlns:a="http://schemas.openxmlformats.org/drawingml/2006/main">
            <a:srgbClr val="171717"/>
          </a:solidFill>
          <a:ln xmlns:a="http://schemas.openxmlformats.org/drawingml/2006/main" w="9525">
            <a:solidFill>
              <a:srgbClr val="CFCFCF"/>
            </a:solidFill>
            <a:prstDash val="solid"/>
          </a:ln>
        </p:spPr>
      </p:sp>
      <p:sp>
        <p:nvSpPr>
          <p:cNvPr id="8" name="">
            <a:extLst xmlns:a="http://schemas.openxmlformats.org/drawingml/2006/main">
              <a:ext uri="{FF2B5EF4-FFF2-40B4-BE49-F238E27FC236}">
                <a16:creationId xmlns:a16="http://schemas.microsoft.com/office/drawing/2014/main" id="{1DDD1D5C-85D1-42EC-9D81-B21D7550AF12}"/>
              </a:ext>
            </a:extLst>
          </p:cNvPr>
          <p:cNvSpPr>
            <a:spLocks xmlns:a="http://schemas.openxmlformats.org/drawingml/2006/main" noGrp="1"/>
          </p:cNvSpPr>
          <p:nvPr/>
        </p:nvSpPr>
        <p:spPr>
          <a:xfrm xmlns:a="http://schemas.openxmlformats.org/drawingml/2006/main">
            <a:off x="3352800" y="21240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FFFFF"/>
                </a:solidFill>
                <a:latin typeface="Tahoma"/>
                <a:ea typeface="Tahoma"/>
                <a:cs typeface="Tahoma"/>
              </a:defRPr>
            </a:pPr>
            <a:r>
              <a:rPr sz="975" b="1">
                <a:solidFill>
                  <a:srgbClr val="FFFFFF"/>
                </a:solidFill>
                <a:latin typeface="Tahoma"/>
                <a:ea typeface="Tahoma"/>
                <a:cs typeface="Tahoma"/>
              </a:rPr>
              <a:t>‏هدف پایلوت</a:t>
            </a:r>
          </a:p>
        </p:txBody>
      </p:sp>
      <p:sp>
        <p:nvSpPr>
          <p:cNvPr id="9" name="">
            <a:extLst xmlns:a="http://schemas.openxmlformats.org/drawingml/2006/main">
              <a:ext uri="{FF2B5EF4-FFF2-40B4-BE49-F238E27FC236}">
                <a16:creationId xmlns:a16="http://schemas.microsoft.com/office/drawing/2014/main" id="{24D5CE7C-F703-41E6-846C-F192767530EC}"/>
              </a:ext>
            </a:extLst>
          </p:cNvPr>
          <p:cNvSpPr>
            <a:spLocks xmlns:a="http://schemas.openxmlformats.org/drawingml/2006/main" noGrp="1"/>
          </p:cNvSpPr>
          <p:nvPr/>
        </p:nvSpPr>
        <p:spPr>
          <a:xfrm xmlns:a="http://schemas.openxmlformats.org/drawingml/2006/main">
            <a:off x="876300" y="25431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0" name="">
            <a:extLst xmlns:a="http://schemas.openxmlformats.org/drawingml/2006/main">
              <a:ext uri="{FF2B5EF4-FFF2-40B4-BE49-F238E27FC236}">
                <a16:creationId xmlns:a16="http://schemas.microsoft.com/office/drawing/2014/main" id="{B71EF184-6552-49B3-A848-033BF52CE47C}"/>
              </a:ext>
            </a:extLst>
          </p:cNvPr>
          <p:cNvSpPr>
            <a:spLocks xmlns:a="http://schemas.openxmlformats.org/drawingml/2006/main" noGrp="1"/>
          </p:cNvSpPr>
          <p:nvPr/>
        </p:nvSpPr>
        <p:spPr>
          <a:xfrm xmlns:a="http://schemas.openxmlformats.org/drawingml/2006/main">
            <a:off x="971550" y="26193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‏اتصال داده</a:t>
            </a:r>
          </a:p>
        </p:txBody>
      </p:sp>
      <p:sp>
        <p:nvSpPr>
          <p:cNvPr id="11" name="">
            <a:extLst xmlns:a="http://schemas.openxmlformats.org/drawingml/2006/main">
              <a:ext uri="{FF2B5EF4-FFF2-40B4-BE49-F238E27FC236}">
                <a16:creationId xmlns:a16="http://schemas.microsoft.com/office/drawing/2014/main" id="{25154643-8D4D-4274-AC66-CB45125C5131}"/>
              </a:ext>
            </a:extLst>
          </p:cNvPr>
          <p:cNvSpPr>
            <a:spLocks xmlns:a="http://schemas.openxmlformats.org/drawingml/2006/main" noGrp="1"/>
          </p:cNvSpPr>
          <p:nvPr/>
        </p:nvSpPr>
        <p:spPr>
          <a:xfrm xmlns:a="http://schemas.openxmlformats.org/drawingml/2006/main">
            <a:off x="3257550" y="2543175"/>
            <a:ext cx="7239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2" name="">
            <a:extLst xmlns:a="http://schemas.openxmlformats.org/drawingml/2006/main">
              <a:ext uri="{FF2B5EF4-FFF2-40B4-BE49-F238E27FC236}">
                <a16:creationId xmlns:a16="http://schemas.microsoft.com/office/drawing/2014/main" id="{310F8058-A426-4048-848C-61148096A2AA}"/>
              </a:ext>
            </a:extLst>
          </p:cNvPr>
          <p:cNvSpPr>
            <a:spLocks xmlns:a="http://schemas.openxmlformats.org/drawingml/2006/main" noGrp="1"/>
          </p:cNvSpPr>
          <p:nvPr/>
        </p:nvSpPr>
        <p:spPr>
          <a:xfrm xmlns:a="http://schemas.openxmlformats.org/drawingml/2006/main">
            <a:off x="3352800" y="26193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‏رول‌های هدف به سفارش، بازرسی، QC/آزمایشگاه و شواهد فرایند وصل شوند</a:t>
            </a:r>
          </a:p>
        </p:txBody>
      </p:sp>
      <p:sp>
        <p:nvSpPr>
          <p:cNvPr id="13" name="">
            <a:extLst xmlns:a="http://schemas.openxmlformats.org/drawingml/2006/main">
              <a:ext uri="{FF2B5EF4-FFF2-40B4-BE49-F238E27FC236}">
                <a16:creationId xmlns:a16="http://schemas.microsoft.com/office/drawing/2014/main" id="{1E54F827-70D6-4CDD-8AE7-DA592A78427F}"/>
              </a:ext>
            </a:extLst>
          </p:cNvPr>
          <p:cNvSpPr>
            <a:spLocks xmlns:a="http://schemas.openxmlformats.org/drawingml/2006/main" noGrp="1"/>
          </p:cNvSpPr>
          <p:nvPr/>
        </p:nvSpPr>
        <p:spPr>
          <a:xfrm xmlns:a="http://schemas.openxmlformats.org/drawingml/2006/main">
            <a:off x="876300" y="3038475"/>
            <a:ext cx="2381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4" name="">
            <a:extLst xmlns:a="http://schemas.openxmlformats.org/drawingml/2006/main">
              <a:ext uri="{FF2B5EF4-FFF2-40B4-BE49-F238E27FC236}">
                <a16:creationId xmlns:a16="http://schemas.microsoft.com/office/drawing/2014/main" id="{6A783CF4-4B0C-4742-87D5-779F92EF6DFF}"/>
              </a:ext>
            </a:extLst>
          </p:cNvPr>
          <p:cNvSpPr>
            <a:spLocks xmlns:a="http://schemas.openxmlformats.org/drawingml/2006/main" noGrp="1"/>
          </p:cNvSpPr>
          <p:nvPr/>
        </p:nvSpPr>
        <p:spPr>
          <a:xfrm xmlns:a="http://schemas.openxmlformats.org/drawingml/2006/main">
            <a:off x="971550" y="31146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‏بینش عیب</a:t>
            </a:r>
          </a:p>
        </p:txBody>
      </p:sp>
      <p:sp>
        <p:nvSpPr>
          <p:cNvPr id="15" name="">
            <a:extLst xmlns:a="http://schemas.openxmlformats.org/drawingml/2006/main">
              <a:ext uri="{FF2B5EF4-FFF2-40B4-BE49-F238E27FC236}">
                <a16:creationId xmlns:a16="http://schemas.microsoft.com/office/drawing/2014/main" id="{8218E697-242A-4348-808B-EE11561E1598}"/>
              </a:ext>
            </a:extLst>
          </p:cNvPr>
          <p:cNvSpPr>
            <a:spLocks xmlns:a="http://schemas.openxmlformats.org/drawingml/2006/main" noGrp="1"/>
          </p:cNvSpPr>
          <p:nvPr/>
        </p:nvSpPr>
        <p:spPr>
          <a:xfrm xmlns:a="http://schemas.openxmlformats.org/drawingml/2006/main">
            <a:off x="3257550" y="3038475"/>
            <a:ext cx="7239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16" name="">
            <a:extLst xmlns:a="http://schemas.openxmlformats.org/drawingml/2006/main">
              <a:ext uri="{FF2B5EF4-FFF2-40B4-BE49-F238E27FC236}">
                <a16:creationId xmlns:a16="http://schemas.microsoft.com/office/drawing/2014/main" id="{A8F4396D-5849-443F-AB2C-C9C7FD113001}"/>
              </a:ext>
            </a:extLst>
          </p:cNvPr>
          <p:cNvSpPr>
            <a:spLocks xmlns:a="http://schemas.openxmlformats.org/drawingml/2006/main" noGrp="1"/>
          </p:cNvSpPr>
          <p:nvPr/>
        </p:nvSpPr>
        <p:spPr>
          <a:xfrm xmlns:a="http://schemas.openxmlformats.org/drawingml/2006/main">
            <a:off x="3352800" y="31146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‏۵ محرک اصلی عیب بر اساس هزینه یا فراوانی رتبه‌بندی شوند</a:t>
            </a:r>
          </a:p>
        </p:txBody>
      </p:sp>
      <p:sp>
        <p:nvSpPr>
          <p:cNvPr id="17" name="">
            <a:extLst xmlns:a="http://schemas.openxmlformats.org/drawingml/2006/main">
              <a:ext uri="{FF2B5EF4-FFF2-40B4-BE49-F238E27FC236}">
                <a16:creationId xmlns:a16="http://schemas.microsoft.com/office/drawing/2014/main" id="{D0DA5860-8E2F-4E11-A090-7E3FB33E873E}"/>
              </a:ext>
            </a:extLst>
          </p:cNvPr>
          <p:cNvSpPr>
            <a:spLocks xmlns:a="http://schemas.openxmlformats.org/drawingml/2006/main" noGrp="1"/>
          </p:cNvSpPr>
          <p:nvPr/>
        </p:nvSpPr>
        <p:spPr>
          <a:xfrm xmlns:a="http://schemas.openxmlformats.org/drawingml/2006/main">
            <a:off x="876300" y="35337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18" name="">
            <a:extLst xmlns:a="http://schemas.openxmlformats.org/drawingml/2006/main">
              <a:ext uri="{FF2B5EF4-FFF2-40B4-BE49-F238E27FC236}">
                <a16:creationId xmlns:a16="http://schemas.microsoft.com/office/drawing/2014/main" id="{1D536C6E-3AC7-45DB-B3FE-9C770F1D2146}"/>
              </a:ext>
            </a:extLst>
          </p:cNvPr>
          <p:cNvSpPr>
            <a:spLocks xmlns:a="http://schemas.openxmlformats.org/drawingml/2006/main" noGrp="1"/>
          </p:cNvSpPr>
          <p:nvPr/>
        </p:nvSpPr>
        <p:spPr>
          <a:xfrm xmlns:a="http://schemas.openxmlformats.org/drawingml/2006/main">
            <a:off x="971550" y="36099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‏سرعت ریشه‌یابی</a:t>
            </a:r>
          </a:p>
        </p:txBody>
      </p:sp>
      <p:sp>
        <p:nvSpPr>
          <p:cNvPr id="19" name="">
            <a:extLst xmlns:a="http://schemas.openxmlformats.org/drawingml/2006/main">
              <a:ext uri="{FF2B5EF4-FFF2-40B4-BE49-F238E27FC236}">
                <a16:creationId xmlns:a16="http://schemas.microsoft.com/office/drawing/2014/main" id="{90FA3DA3-9B6C-497A-8C81-A528DA21A61F}"/>
              </a:ext>
            </a:extLst>
          </p:cNvPr>
          <p:cNvSpPr>
            <a:spLocks xmlns:a="http://schemas.openxmlformats.org/drawingml/2006/main" noGrp="1"/>
          </p:cNvSpPr>
          <p:nvPr/>
        </p:nvSpPr>
        <p:spPr>
          <a:xfrm xmlns:a="http://schemas.openxmlformats.org/drawingml/2006/main">
            <a:off x="3257550" y="3533775"/>
            <a:ext cx="7239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0" name="">
            <a:extLst xmlns:a="http://schemas.openxmlformats.org/drawingml/2006/main">
              <a:ext uri="{FF2B5EF4-FFF2-40B4-BE49-F238E27FC236}">
                <a16:creationId xmlns:a16="http://schemas.microsoft.com/office/drawing/2014/main" id="{EA833929-0BB8-40EB-A99D-CDEEF4B4DAD5}"/>
              </a:ext>
            </a:extLst>
          </p:cNvPr>
          <p:cNvSpPr>
            <a:spLocks xmlns:a="http://schemas.openxmlformats.org/drawingml/2006/main" noGrp="1"/>
          </p:cNvSpPr>
          <p:nvPr/>
        </p:nvSpPr>
        <p:spPr>
          <a:xfrm xmlns:a="http://schemas.openxmlformats.org/drawingml/2006/main">
            <a:off x="3352800" y="36099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‏زمان تا فرضیه اول ریشه نسبت به روند فعلی کم شود</a:t>
            </a:r>
          </a:p>
        </p:txBody>
      </p:sp>
      <p:sp>
        <p:nvSpPr>
          <p:cNvPr id="21" name="">
            <a:extLst xmlns:a="http://schemas.openxmlformats.org/drawingml/2006/main">
              <a:ext uri="{FF2B5EF4-FFF2-40B4-BE49-F238E27FC236}">
                <a16:creationId xmlns:a16="http://schemas.microsoft.com/office/drawing/2014/main" id="{E91D6177-F458-4BBA-A817-05ADD51C7D67}"/>
              </a:ext>
            </a:extLst>
          </p:cNvPr>
          <p:cNvSpPr>
            <a:spLocks xmlns:a="http://schemas.openxmlformats.org/drawingml/2006/main" noGrp="1"/>
          </p:cNvSpPr>
          <p:nvPr/>
        </p:nvSpPr>
        <p:spPr>
          <a:xfrm xmlns:a="http://schemas.openxmlformats.org/drawingml/2006/main">
            <a:off x="876300" y="4029075"/>
            <a:ext cx="2381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2" name="">
            <a:extLst xmlns:a="http://schemas.openxmlformats.org/drawingml/2006/main">
              <a:ext uri="{FF2B5EF4-FFF2-40B4-BE49-F238E27FC236}">
                <a16:creationId xmlns:a16="http://schemas.microsoft.com/office/drawing/2014/main" id="{0C383BAB-1D17-4F5D-81AE-C6C9EECB7325}"/>
              </a:ext>
            </a:extLst>
          </p:cNvPr>
          <p:cNvSpPr>
            <a:spLocks xmlns:a="http://schemas.openxmlformats.org/drawingml/2006/main" noGrp="1"/>
          </p:cNvSpPr>
          <p:nvPr/>
        </p:nvSpPr>
        <p:spPr>
          <a:xfrm xmlns:a="http://schemas.openxmlformats.org/drawingml/2006/main">
            <a:off x="971550" y="41052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‏فرصت کیفیت</a:t>
            </a:r>
          </a:p>
        </p:txBody>
      </p:sp>
      <p:sp>
        <p:nvSpPr>
          <p:cNvPr id="23" name="">
            <a:extLst xmlns:a="http://schemas.openxmlformats.org/drawingml/2006/main">
              <a:ext uri="{FF2B5EF4-FFF2-40B4-BE49-F238E27FC236}">
                <a16:creationId xmlns:a16="http://schemas.microsoft.com/office/drawing/2014/main" id="{0123F78C-A06C-49F1-98FC-7E8E09F5A90D}"/>
              </a:ext>
            </a:extLst>
          </p:cNvPr>
          <p:cNvSpPr>
            <a:spLocks xmlns:a="http://schemas.openxmlformats.org/drawingml/2006/main" noGrp="1"/>
          </p:cNvSpPr>
          <p:nvPr/>
        </p:nvSpPr>
        <p:spPr>
          <a:xfrm xmlns:a="http://schemas.openxmlformats.org/drawingml/2006/main">
            <a:off x="3257550" y="4029075"/>
            <a:ext cx="7239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24" name="">
            <a:extLst xmlns:a="http://schemas.openxmlformats.org/drawingml/2006/main">
              <a:ext uri="{FF2B5EF4-FFF2-40B4-BE49-F238E27FC236}">
                <a16:creationId xmlns:a16="http://schemas.microsoft.com/office/drawing/2014/main" id="{0BBCD454-2766-4FA5-9690-CBFC1F42F533}"/>
              </a:ext>
            </a:extLst>
          </p:cNvPr>
          <p:cNvSpPr>
            <a:spLocks xmlns:a="http://schemas.openxmlformats.org/drawingml/2006/main" noGrp="1"/>
          </p:cNvSpPr>
          <p:nvPr/>
        </p:nvSpPr>
        <p:spPr>
          <a:xfrm xmlns:a="http://schemas.openxmlformats.org/drawingml/2006/main">
            <a:off x="3352800" y="41052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‏استخر ارزش ضایعات/دوباره‌کاری/شکایت کمّی شود</a:t>
            </a:r>
          </a:p>
        </p:txBody>
      </p:sp>
      <p:sp>
        <p:nvSpPr>
          <p:cNvPr id="25" name="">
            <a:extLst xmlns:a="http://schemas.openxmlformats.org/drawingml/2006/main">
              <a:ext uri="{FF2B5EF4-FFF2-40B4-BE49-F238E27FC236}">
                <a16:creationId xmlns:a16="http://schemas.microsoft.com/office/drawing/2014/main" id="{7C565B05-6AAE-4E73-977C-B17199C970C6}"/>
              </a:ext>
            </a:extLst>
          </p:cNvPr>
          <p:cNvSpPr>
            <a:spLocks xmlns:a="http://schemas.openxmlformats.org/drawingml/2006/main" noGrp="1"/>
          </p:cNvSpPr>
          <p:nvPr/>
        </p:nvSpPr>
        <p:spPr>
          <a:xfrm xmlns:a="http://schemas.openxmlformats.org/drawingml/2006/main">
            <a:off x="876300" y="45243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6" name="">
            <a:extLst xmlns:a="http://schemas.openxmlformats.org/drawingml/2006/main">
              <a:ext uri="{FF2B5EF4-FFF2-40B4-BE49-F238E27FC236}">
                <a16:creationId xmlns:a16="http://schemas.microsoft.com/office/drawing/2014/main" id="{0E55509A-AFC9-4FA6-94AF-3CF772F63CFD}"/>
              </a:ext>
            </a:extLst>
          </p:cNvPr>
          <p:cNvSpPr>
            <a:spLocks xmlns:a="http://schemas.openxmlformats.org/drawingml/2006/main" noGrp="1"/>
          </p:cNvSpPr>
          <p:nvPr/>
        </p:nvSpPr>
        <p:spPr>
          <a:xfrm xmlns:a="http://schemas.openxmlformats.org/drawingml/2006/main">
            <a:off x="971550" y="46005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‏پذیرش</a:t>
            </a:r>
          </a:p>
        </p:txBody>
      </p:sp>
      <p:sp>
        <p:nvSpPr>
          <p:cNvPr id="27" name="">
            <a:extLst xmlns:a="http://schemas.openxmlformats.org/drawingml/2006/main">
              <a:ext uri="{FF2B5EF4-FFF2-40B4-BE49-F238E27FC236}">
                <a16:creationId xmlns:a16="http://schemas.microsoft.com/office/drawing/2014/main" id="{D479785D-8C27-4E27-BA23-7F4C3A0B12AA}"/>
              </a:ext>
            </a:extLst>
          </p:cNvPr>
          <p:cNvSpPr>
            <a:spLocks xmlns:a="http://schemas.openxmlformats.org/drawingml/2006/main" noGrp="1"/>
          </p:cNvSpPr>
          <p:nvPr/>
        </p:nvSpPr>
        <p:spPr>
          <a:xfrm xmlns:a="http://schemas.openxmlformats.org/drawingml/2006/main">
            <a:off x="3257550" y="4524375"/>
            <a:ext cx="7239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FCFCF"/>
            </a:solidFill>
            <a:prstDash val="solid"/>
          </a:ln>
        </p:spPr>
      </p:sp>
      <p:sp>
        <p:nvSpPr>
          <p:cNvPr id="28" name="">
            <a:extLst xmlns:a="http://schemas.openxmlformats.org/drawingml/2006/main">
              <a:ext uri="{FF2B5EF4-FFF2-40B4-BE49-F238E27FC236}">
                <a16:creationId xmlns:a16="http://schemas.microsoft.com/office/drawing/2014/main" id="{10038CBA-B6F9-4831-8B29-9434A9191006}"/>
              </a:ext>
            </a:extLst>
          </p:cNvPr>
          <p:cNvSpPr>
            <a:spLocks xmlns:a="http://schemas.openxmlformats.org/drawingml/2006/main" noGrp="1"/>
          </p:cNvSpPr>
          <p:nvPr/>
        </p:nvSpPr>
        <p:spPr>
          <a:xfrm xmlns:a="http://schemas.openxmlformats.org/drawingml/2006/main">
            <a:off x="3352800" y="46005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‏تولید، کیفیت، تحقیق‌وتوسعه، IT و مالی درباره مقیاس/عدم مقیاس توافق کنند</a:t>
            </a:r>
          </a:p>
        </p:txBody>
      </p:sp>
      <p:sp>
        <p:nvSpPr>
          <p:cNvPr id="29" name="">
            <a:extLst xmlns:a="http://schemas.openxmlformats.org/drawingml/2006/main">
              <a:ext uri="{FF2B5EF4-FFF2-40B4-BE49-F238E27FC236}">
                <a16:creationId xmlns:a16="http://schemas.microsoft.com/office/drawing/2014/main" id="{6385189B-D0C7-401B-A30E-D2925B764300}"/>
              </a:ext>
            </a:extLst>
          </p:cNvPr>
          <p:cNvSpPr>
            <a:spLocks xmlns:a="http://schemas.openxmlformats.org/drawingml/2006/main" noGrp="1"/>
          </p:cNvSpPr>
          <p:nvPr/>
        </p:nvSpPr>
        <p:spPr>
          <a:xfrm xmlns:a="http://schemas.openxmlformats.org/drawingml/2006/main">
            <a:off x="876300" y="5019675"/>
            <a:ext cx="238125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0" name="">
            <a:extLst xmlns:a="http://schemas.openxmlformats.org/drawingml/2006/main">
              <a:ext uri="{FF2B5EF4-FFF2-40B4-BE49-F238E27FC236}">
                <a16:creationId xmlns:a16="http://schemas.microsoft.com/office/drawing/2014/main" id="{A2024D59-F284-4040-94A3-5631EBEE57DB}"/>
              </a:ext>
            </a:extLst>
          </p:cNvPr>
          <p:cNvSpPr>
            <a:spLocks xmlns:a="http://schemas.openxmlformats.org/drawingml/2006/main" noGrp="1"/>
          </p:cNvSpPr>
          <p:nvPr/>
        </p:nvSpPr>
        <p:spPr>
          <a:xfrm xmlns:a="http://schemas.openxmlformats.org/drawingml/2006/main">
            <a:off x="971550" y="50958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‏ایمنی</a:t>
            </a:r>
          </a:p>
        </p:txBody>
      </p:sp>
      <p:sp>
        <p:nvSpPr>
          <p:cNvPr id="31" name="">
            <a:extLst xmlns:a="http://schemas.openxmlformats.org/drawingml/2006/main">
              <a:ext uri="{FF2B5EF4-FFF2-40B4-BE49-F238E27FC236}">
                <a16:creationId xmlns:a16="http://schemas.microsoft.com/office/drawing/2014/main" id="{72F53700-0710-4847-B592-7FF83018F267}"/>
              </a:ext>
            </a:extLst>
          </p:cNvPr>
          <p:cNvSpPr>
            <a:spLocks xmlns:a="http://schemas.openxmlformats.org/drawingml/2006/main" noGrp="1"/>
          </p:cNvSpPr>
          <p:nvPr/>
        </p:nvSpPr>
        <p:spPr>
          <a:xfrm xmlns:a="http://schemas.openxmlformats.org/drawingml/2006/main">
            <a:off x="3257550" y="5019675"/>
            <a:ext cx="7239000" cy="495300"/>
          </a:xfrm>
          <a:prstGeom xmlns:a="http://schemas.openxmlformats.org/drawingml/2006/main" prst="rect">
            <a:avLst/>
          </a:prstGeom>
          <a:solidFill xmlns:a="http://schemas.openxmlformats.org/drawingml/2006/main">
            <a:srgbClr val="F7F7F7"/>
          </a:solidFill>
          <a:ln xmlns:a="http://schemas.openxmlformats.org/drawingml/2006/main" w="9525">
            <a:solidFill>
              <a:srgbClr val="CFCFCF"/>
            </a:solidFill>
            <a:prstDash val="solid"/>
          </a:ln>
        </p:spPr>
      </p:sp>
      <p:sp>
        <p:nvSpPr>
          <p:cNvPr id="32" name="">
            <a:extLst xmlns:a="http://schemas.openxmlformats.org/drawingml/2006/main">
              <a:ext uri="{FF2B5EF4-FFF2-40B4-BE49-F238E27FC236}">
                <a16:creationId xmlns:a16="http://schemas.microsoft.com/office/drawing/2014/main" id="{1B7D7E1C-7C7E-480C-B416-AA20BAACF645}"/>
              </a:ext>
            </a:extLst>
          </p:cNvPr>
          <p:cNvSpPr>
            <a:spLocks xmlns:a="http://schemas.openxmlformats.org/drawingml/2006/main" noGrp="1"/>
          </p:cNvSpPr>
          <p:nvPr/>
        </p:nvSpPr>
        <p:spPr>
          <a:xfrm xmlns:a="http://schemas.openxmlformats.org/drawingml/2006/main">
            <a:off x="3352800" y="5095875"/>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111"/>
                </a:solidFill>
                <a:latin typeface="Tahoma"/>
                <a:ea typeface="Tahoma"/>
                <a:cs typeface="Tahoma"/>
              </a:defRPr>
            </a:pPr>
            <a:r>
              <a:rPr sz="1125" b="0">
                <a:solidFill>
                  <a:srgbClr val="111111"/>
                </a:solidFill>
                <a:latin typeface="Tahoma"/>
                <a:ea typeface="Tahoma"/>
                <a:cs typeface="Tahoma"/>
              </a:rPr>
              <a:t>‏بدون جابه‌جایی کنترل‌نشده داده و بدون توصیه فنی بی‌منبع</a:t>
            </a:r>
          </a:p>
        </p:txBody>
      </p:sp>
      <p:sp>
        <p:nvSpPr>
          <p:cNvPr id="33" name="">
            <a:extLst xmlns:a="http://schemas.openxmlformats.org/drawingml/2006/main">
              <a:ext uri="{FF2B5EF4-FFF2-40B4-BE49-F238E27FC236}">
                <a16:creationId xmlns:a16="http://schemas.microsoft.com/office/drawing/2014/main" id="{2C7F40A0-4C58-482C-AAB1-7A0DA0ABDF44}"/>
              </a:ext>
            </a:extLst>
          </p:cNvPr>
          <p:cNvSpPr>
            <a:spLocks xmlns:a="http://schemas.openxmlformats.org/drawingml/2006/main" noGrp="1"/>
          </p:cNvSpPr>
          <p:nvPr/>
        </p:nvSpPr>
        <p:spPr>
          <a:xfrm xmlns:a="http://schemas.openxmlformats.org/drawingml/2006/main">
            <a:off x="876300" y="2047875"/>
            <a:ext cx="9620250" cy="3467100"/>
          </a:xfrm>
          <a:prstGeom xmlns:a="http://schemas.openxmlformats.org/drawingml/2006/main" prst="rect">
            <a:avLst/>
          </a:prstGeom>
          <a:noFill xmlns:a="http://schemas.openxmlformats.org/drawingml/2006/main"/>
          <a:ln xmlns:a="http://schemas.openxmlformats.org/drawingml/2006/main" w="9525">
            <a:solidFill>
              <a:srgbClr val="CFCFCF"/>
            </a:solidFill>
            <a:prstDash val="solid"/>
          </a:ln>
        </p:spPr>
      </p:sp>
      <p:sp>
        <p:nvSpPr>
          <p:cNvPr id="34" name="">
            <a:extLst xmlns:a="http://schemas.openxmlformats.org/drawingml/2006/main">
              <a:ext uri="{FF2B5EF4-FFF2-40B4-BE49-F238E27FC236}">
                <a16:creationId xmlns:a16="http://schemas.microsoft.com/office/drawing/2014/main" id="{F258B804-5B6B-46A0-AFAA-9FE96FD83390}"/>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35" name="">
            <a:extLst xmlns:a="http://schemas.openxmlformats.org/drawingml/2006/main">
              <a:ext uri="{FF2B5EF4-FFF2-40B4-BE49-F238E27FC236}">
                <a16:creationId xmlns:a16="http://schemas.microsoft.com/office/drawing/2014/main" id="{3FFA55F4-A1EC-4919-B0B9-D374E8045C59}"/>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21</a:t>
            </a:r>
          </a:p>
        </p:txBody>
      </p:sp>
    </p:spTree>
    <p:extLst>
      <p:ext uri="{BB962C8B-B14F-4D97-AF65-F5344CB8AC3E}">
        <p14:creationId xmlns:p14="http://schemas.microsoft.com/office/powerpoint/2010/main" val="82427378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429E45-410C-4B00-82CF-39A5350B3CB3}"/>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‏تصمیم</a:t>
            </a:r>
          </a:p>
        </p:txBody>
      </p:sp>
      <p:sp>
        <p:nvSpPr>
          <p:cNvPr id="2" name="">
            <a:extLst xmlns:a="http://schemas.openxmlformats.org/drawingml/2006/main">
              <a:ext uri="{FF2B5EF4-FFF2-40B4-BE49-F238E27FC236}">
                <a16:creationId xmlns:a16="http://schemas.microsoft.com/office/drawing/2014/main" id="{D6FEEE28-4AF2-490A-BB51-04BC9CAF6659}"/>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‏پایلوت را تصویب کنید و حلقه یادگیری AI را بسازید</a:t>
            </a:r>
          </a:p>
        </p:txBody>
      </p:sp>
      <p:sp>
        <p:nvSpPr>
          <p:cNvPr id="3" name="">
            <a:extLst xmlns:a="http://schemas.openxmlformats.org/drawingml/2006/main">
              <a:ext uri="{FF2B5EF4-FFF2-40B4-BE49-F238E27FC236}">
                <a16:creationId xmlns:a16="http://schemas.microsoft.com/office/drawing/2014/main" id="{2317EB76-12E8-4790-94DB-B7918303304F}"/>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‏یک شروع کوچک و رسمی، سریع‌ترین مسیر به تحول جدی AI است.</a:t>
            </a:r>
          </a:p>
        </p:txBody>
      </p:sp>
      <p:sp>
        <p:nvSpPr>
          <p:cNvPr id="4" name="">
            <a:extLst xmlns:a="http://schemas.openxmlformats.org/drawingml/2006/main">
              <a:ext uri="{FF2B5EF4-FFF2-40B4-BE49-F238E27FC236}">
                <a16:creationId xmlns:a16="http://schemas.microsoft.com/office/drawing/2014/main" id="{6EEDCABE-2A39-408C-AE71-3D42FEBD4C1F}"/>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ecedbe270bd40aa"/>
          <a:srcRect xmlns:a="http://schemas.openxmlformats.org/drawingml/2006/main" l="9790" t="0" r="9790" b="0"/>
          <a:stretch xmlns:a="http://schemas.openxmlformats.org/drawingml/2006/main">
            <a:fillRect l="0" t="0" r="0" b="0"/>
          </a:stretch>
        </p:blipFill>
        <p:spPr>
          <a:xfrm xmlns:a="http://schemas.openxmlformats.org/drawingml/2006/main">
            <a:off x="666750" y="2047875"/>
            <a:ext cx="3429000" cy="285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45F773-D6DB-4E55-A260-5DF5E63269C0}"/>
              </a:ext>
            </a:extLst>
          </p:cNvPr>
          <p:cNvSpPr>
            <a:spLocks xmlns:a="http://schemas.openxmlformats.org/drawingml/2006/main" noGrp="1"/>
          </p:cNvSpPr>
          <p:nvPr/>
        </p:nvSpPr>
        <p:spPr>
          <a:xfrm xmlns:a="http://schemas.openxmlformats.org/drawingml/2006/main">
            <a:off x="4762500" y="2047875"/>
            <a:ext cx="5619750" cy="2857500"/>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40DBD3A-CC16-4442-BEC8-4DA3BF48ECDB}"/>
              </a:ext>
            </a:extLst>
          </p:cNvPr>
          <p:cNvSpPr>
            <a:spLocks xmlns:a="http://schemas.openxmlformats.org/drawingml/2006/main" noGrp="1"/>
          </p:cNvSpPr>
          <p:nvPr/>
        </p:nvSpPr>
        <p:spPr>
          <a:xfrm xmlns:a="http://schemas.openxmlformats.org/drawingml/2006/main">
            <a:off x="5095875" y="23812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100" b="1">
                <a:solidFill>
                  <a:srgbClr val="FFFFFF"/>
                </a:solidFill>
                <a:latin typeface="Tahoma"/>
                <a:ea typeface="Tahoma"/>
                <a:cs typeface="Tahoma"/>
              </a:defRPr>
            </a:pPr>
            <a:r>
              <a:rPr sz="2100" b="1">
                <a:solidFill>
                  <a:srgbClr val="FFFFFF"/>
                </a:solidFill>
                <a:latin typeface="Tahoma"/>
                <a:ea typeface="Tahoma"/>
                <a:cs typeface="Tahoma"/>
              </a:rPr>
              <a:t>‏تصمیم مورد درخواست از هیئت‌مدیره</a:t>
            </a:r>
          </a:p>
        </p:txBody>
      </p:sp>
      <p:sp>
        <p:nvSpPr>
          <p:cNvPr id="8" name="">
            <a:extLst xmlns:a="http://schemas.openxmlformats.org/drawingml/2006/main">
              <a:ext uri="{FF2B5EF4-FFF2-40B4-BE49-F238E27FC236}">
                <a16:creationId xmlns:a16="http://schemas.microsoft.com/office/drawing/2014/main" id="{2827466D-471D-45E5-B202-52232F0E9C58}"/>
              </a:ext>
            </a:extLst>
          </p:cNvPr>
          <p:cNvSpPr>
            <a:spLocks xmlns:a="http://schemas.openxmlformats.org/drawingml/2006/main" noGrp="1"/>
          </p:cNvSpPr>
          <p:nvPr/>
        </p:nvSpPr>
        <p:spPr>
          <a:xfrm xmlns:a="http://schemas.openxmlformats.org/drawingml/2006/main">
            <a:off x="5095875" y="3048000"/>
            <a:ext cx="438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0">
                <a:solidFill>
                  <a:srgbClr val="FFFFFF"/>
                </a:solidFill>
                <a:latin typeface="Tahoma"/>
                <a:ea typeface="Tahoma"/>
                <a:cs typeface="Tahoma"/>
              </a:defRPr>
            </a:pPr>
            <a:r>
              <a:rPr sz="1500" b="0">
                <a:solidFill>
                  <a:srgbClr val="FFFFFF"/>
                </a:solidFill>
                <a:latin typeface="Tahoma"/>
                <a:ea typeface="Tahoma"/>
                <a:cs typeface="Tahoma"/>
              </a:rPr>
              <a:t>‏• تصویب پایلوت فقط خواندنی ۱۲ هفته‌ای</a:t>
            </a:r>
          </a:p>
          <a:p xmlns:a="http://schemas.openxmlformats.org/drawingml/2006/main">
            <a:pPr algn="r">
              <a:defRPr sz="1500" b="0">
                <a:solidFill>
                  <a:srgbClr val="FFFFFF"/>
                </a:solidFill>
                <a:latin typeface="Tahoma"/>
                <a:ea typeface="Tahoma"/>
                <a:cs typeface="Tahoma"/>
              </a:defRPr>
            </a:pPr>
            <a:r>
              <a:rPr sz="1500" b="0">
                <a:solidFill>
                  <a:srgbClr val="FFFFFF"/>
                </a:solidFill>
                <a:latin typeface="Tahoma"/>
                <a:ea typeface="Tahoma"/>
                <a:cs typeface="Tahoma"/>
              </a:rPr>
              <a:t>‏• تعیین حامی و مالکان بین‌وظیفه‌ای</a:t>
            </a:r>
          </a:p>
          <a:p xmlns:a="http://schemas.openxmlformats.org/drawingml/2006/main">
            <a:pPr algn="r">
              <a:defRPr sz="1500" b="0">
                <a:solidFill>
                  <a:srgbClr val="FFFFFF"/>
                </a:solidFill>
                <a:latin typeface="Tahoma"/>
                <a:ea typeface="Tahoma"/>
                <a:cs typeface="Tahoma"/>
              </a:defRPr>
            </a:pPr>
            <a:r>
              <a:rPr sz="1500" b="0">
                <a:solidFill>
                  <a:srgbClr val="FFFFFF"/>
                </a:solidFill>
                <a:latin typeface="Tahoma"/>
                <a:ea typeface="Tahoma"/>
                <a:cs typeface="Tahoma"/>
              </a:rPr>
              <a:t>‏• مجوز کشف داده کنترل‌شده</a:t>
            </a:r>
          </a:p>
          <a:p xmlns:a="http://schemas.openxmlformats.org/drawingml/2006/main">
            <a:pPr algn="r">
              <a:defRPr sz="1500" b="0">
                <a:solidFill>
                  <a:srgbClr val="FFFFFF"/>
                </a:solidFill>
                <a:latin typeface="Tahoma"/>
                <a:ea typeface="Tahoma"/>
                <a:cs typeface="Tahoma"/>
              </a:defRPr>
            </a:pPr>
            <a:r>
              <a:rPr sz="1500" b="0">
                <a:solidFill>
                  <a:srgbClr val="FFFFFF"/>
                </a:solidFill>
                <a:latin typeface="Tahoma"/>
                <a:ea typeface="Tahoma"/>
                <a:cs typeface="Tahoma"/>
              </a:rPr>
              <a:t>‏• بازبینی نتایج و تصمیم مقیاس پس از پایلوت</a:t>
            </a:r>
          </a:p>
          <a:p xmlns:a="http://schemas.openxmlformats.org/drawingml/2006/main">
            <a:pPr algn="r">
              <a:defRPr sz="1500" b="0">
                <a:solidFill>
                  <a:srgbClr val="FFFFFF"/>
                </a:solidFill>
                <a:latin typeface="Tahoma"/>
                <a:ea typeface="Tahoma"/>
                <a:cs typeface="Tahoma"/>
              </a:defRPr>
            </a:pPr>
            <a:r>
              <a:rPr sz="1500" b="0">
                <a:solidFill>
                  <a:srgbClr val="FFFFFF"/>
                </a:solidFill>
                <a:latin typeface="Tahoma"/>
                <a:ea typeface="Tahoma"/>
                <a:cs typeface="Tahoma"/>
              </a:rPr>
              <a:t>‏• استفاده از نتایج برای تامین مالی و پرونده پلتفرم AI</a:t>
            </a:r>
          </a:p>
        </p:txBody>
      </p:sp>
      <p:sp>
        <p:nvSpPr>
          <p:cNvPr id="9" name="">
            <a:extLst xmlns:a="http://schemas.openxmlformats.org/drawingml/2006/main">
              <a:ext uri="{FF2B5EF4-FFF2-40B4-BE49-F238E27FC236}">
                <a16:creationId xmlns:a16="http://schemas.microsoft.com/office/drawing/2014/main" id="{B08EA765-B3AD-4F20-9CD1-085809509110}"/>
              </a:ext>
            </a:extLst>
          </p:cNvPr>
          <p:cNvSpPr>
            <a:spLocks xmlns:a="http://schemas.openxmlformats.org/drawingml/2006/main" noGrp="1"/>
          </p:cNvSpPr>
          <p:nvPr/>
        </p:nvSpPr>
        <p:spPr>
          <a:xfrm xmlns:a="http://schemas.openxmlformats.org/drawingml/2006/main">
            <a:off x="1428750" y="5381625"/>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39200"/>
                </a:solidFill>
                <a:latin typeface="Tahoma"/>
                <a:ea typeface="Tahoma"/>
                <a:cs typeface="Tahoma"/>
              </a:defRPr>
            </a:pPr>
            <a:r>
              <a:rPr sz="2100" b="1">
                <a:solidFill>
                  <a:srgbClr val="F39200"/>
                </a:solidFill>
                <a:latin typeface="Tahoma"/>
                <a:ea typeface="Tahoma"/>
                <a:cs typeface="Tahoma"/>
              </a:rPr>
              <a:t>‏AI دیگر اختیاری نیست. پرسش این است: ما اول یاد می‌گیریم، یا صبر می‌کنیم رقبا یاد بگیرند؟</a:t>
            </a:r>
          </a:p>
        </p:txBody>
      </p:sp>
      <p:sp>
        <p:nvSpPr>
          <p:cNvPr id="10" name="">
            <a:extLst xmlns:a="http://schemas.openxmlformats.org/drawingml/2006/main">
              <a:ext uri="{FF2B5EF4-FFF2-40B4-BE49-F238E27FC236}">
                <a16:creationId xmlns:a16="http://schemas.microsoft.com/office/drawing/2014/main" id="{B33457BD-0459-4890-ADC6-0B249F82E56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11" name="">
            <a:extLst xmlns:a="http://schemas.openxmlformats.org/drawingml/2006/main">
              <a:ext uri="{FF2B5EF4-FFF2-40B4-BE49-F238E27FC236}">
                <a16:creationId xmlns:a16="http://schemas.microsoft.com/office/drawing/2014/main" id="{3C6C53F8-158A-421D-88E0-4BA712511DA9}"/>
              </a:ext>
            </a:extLst>
          </p:cNvPr>
          <p:cNvSpPr>
            <a:spLocks xmlns:a="http://schemas.openxmlformats.org/drawingml/2006/main" noGrp="1"/>
          </p:cNvSpPr>
          <p:nvPr/>
        </p:nvSpPr>
        <p:spPr>
          <a:xfrm xmlns:a="http://schemas.openxmlformats.org/drawingml/2006/main">
            <a:off x="3905250" y="64960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b="0">
                <a:solidFill>
                  <a:srgbClr val="777777"/>
                </a:solidFill>
                <a:latin typeface="Tahoma"/>
                <a:ea typeface="Tahoma"/>
                <a:cs typeface="Tahoma"/>
              </a:defRPr>
            </a:pPr>
            <a:r>
              <a:rPr sz="675" b="0">
                <a:solidFill>
                  <a:srgbClr val="777777"/>
                </a:solidFill>
                <a:latin typeface="Tahoma"/>
                <a:ea typeface="Tahoma"/>
                <a:cs typeface="Tahoma"/>
              </a:rPr>
              <a:t>‏منبع تصویر: کتابخانه رسانه‌ای عمومی Klevers</a:t>
            </a:r>
          </a:p>
        </p:txBody>
      </p:sp>
      <p:sp>
        <p:nvSpPr>
          <p:cNvPr id="12" name="">
            <a:extLst xmlns:a="http://schemas.openxmlformats.org/drawingml/2006/main">
              <a:ext uri="{FF2B5EF4-FFF2-40B4-BE49-F238E27FC236}">
                <a16:creationId xmlns:a16="http://schemas.microsoft.com/office/drawing/2014/main" id="{CABFB540-DF7A-4468-AD5E-7327C00BE482}"/>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22</a:t>
            </a:r>
          </a:p>
        </p:txBody>
      </p:sp>
    </p:spTree>
    <p:extLst>
      <p:ext uri="{BB962C8B-B14F-4D97-AF65-F5344CB8AC3E}">
        <p14:creationId xmlns:p14="http://schemas.microsoft.com/office/powerpoint/2010/main" val="126988082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6B68EF-30C1-44B3-BB2A-65979F813AFD}"/>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39200"/>
                </a:solidFill>
                <a:latin typeface="Tahoma"/>
                <a:ea typeface="Tahoma"/>
                <a:cs typeface="Tahoma"/>
              </a:defRPr>
            </a:pPr>
            <a:r>
              <a:rPr sz="900" b="1">
                <a:solidFill>
                  <a:srgbClr val="F39200"/>
                </a:solidFill>
                <a:latin typeface="Tahoma"/>
                <a:ea typeface="Tahoma"/>
                <a:cs typeface="Tahoma"/>
              </a:rPr>
              <a:t>‏پیوست</a:t>
            </a:r>
          </a:p>
        </p:txBody>
      </p:sp>
      <p:sp>
        <p:nvSpPr>
          <p:cNvPr id="2" name="">
            <a:extLst xmlns:a="http://schemas.openxmlformats.org/drawingml/2006/main">
              <a:ext uri="{FF2B5EF4-FFF2-40B4-BE49-F238E27FC236}">
                <a16:creationId xmlns:a16="http://schemas.microsoft.com/office/drawing/2014/main" id="{F510A9A5-CB97-4F89-BDCF-2BEF69DF4D34}"/>
              </a:ext>
            </a:extLst>
          </p:cNvPr>
          <p:cNvSpPr>
            <a:spLocks xmlns:a="http://schemas.openxmlformats.org/drawingml/2006/main" noGrp="1"/>
          </p:cNvSpPr>
          <p:nvPr/>
        </p:nvSpPr>
        <p:spPr>
          <a:xfrm xmlns:a="http://schemas.openxmlformats.org/drawingml/2006/main">
            <a:off x="533400" y="533400"/>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111"/>
                </a:solidFill>
                <a:latin typeface="Tahoma"/>
                <a:ea typeface="Tahoma"/>
                <a:cs typeface="Tahoma"/>
              </a:defRPr>
            </a:pPr>
            <a:r>
              <a:rPr sz="2625" b="1">
                <a:solidFill>
                  <a:srgbClr val="111111"/>
                </a:solidFill>
                <a:latin typeface="Tahoma"/>
                <a:ea typeface="Tahoma"/>
                <a:cs typeface="Tahoma"/>
              </a:rPr>
              <a:t>‏منابع عمومی کلیدی استفاده‌شده در این ارائه</a:t>
            </a:r>
          </a:p>
        </p:txBody>
      </p:sp>
      <p:sp>
        <p:nvSpPr>
          <p:cNvPr id="3" name="">
            <a:extLst xmlns:a="http://schemas.openxmlformats.org/drawingml/2006/main">
              <a:ext uri="{FF2B5EF4-FFF2-40B4-BE49-F238E27FC236}">
                <a16:creationId xmlns:a16="http://schemas.microsoft.com/office/drawing/2014/main" id="{DE999F3C-B13D-4A7F-BF8B-C9837C9F0450}"/>
              </a:ext>
            </a:extLst>
          </p:cNvPr>
          <p:cNvSpPr>
            <a:spLocks xmlns:a="http://schemas.openxmlformats.org/drawingml/2006/main" noGrp="1"/>
          </p:cNvSpPr>
          <p:nvPr/>
        </p:nvSpPr>
        <p:spPr>
          <a:xfrm xmlns:a="http://schemas.openxmlformats.org/drawingml/2006/main">
            <a:off x="533400" y="140970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555555"/>
                </a:solidFill>
                <a:latin typeface="Tahoma"/>
                <a:ea typeface="Tahoma"/>
                <a:cs typeface="Tahoma"/>
              </a:defRPr>
            </a:pPr>
            <a:r>
              <a:rPr sz="1200" b="0">
                <a:solidFill>
                  <a:srgbClr val="555555"/>
                </a:solidFill>
                <a:latin typeface="Tahoma"/>
                <a:ea typeface="Tahoma"/>
                <a:cs typeface="Tahoma"/>
              </a:rPr>
              <a:t>‏گزارش تفصیلی استراتژی، نقشه فرصت کامل و منبع‌دار را در خود دارد.</a:t>
            </a:r>
          </a:p>
        </p:txBody>
      </p:sp>
      <p:sp>
        <p:nvSpPr>
          <p:cNvPr id="4" name="">
            <a:extLst xmlns:a="http://schemas.openxmlformats.org/drawingml/2006/main">
              <a:ext uri="{FF2B5EF4-FFF2-40B4-BE49-F238E27FC236}">
                <a16:creationId xmlns:a16="http://schemas.microsoft.com/office/drawing/2014/main" id="{4DAC3772-1E74-42CE-973B-5D4A4FB977DF}"/>
              </a:ext>
            </a:extLst>
          </p:cNvPr>
          <p:cNvSpPr>
            <a:spLocks xmlns:a="http://schemas.openxmlformats.org/drawingml/2006/main" noGrp="1"/>
          </p:cNvSpPr>
          <p:nvPr/>
        </p:nvSpPr>
        <p:spPr>
          <a:xfrm xmlns:a="http://schemas.openxmlformats.org/drawingml/2006/main">
            <a:off x="533400" y="1828800"/>
            <a:ext cx="10668000" cy="9525"/>
          </a:xfrm>
          <a:prstGeom xmlns:a="http://schemas.openxmlformats.org/drawingml/2006/main" prst="rect">
            <a:avLst/>
          </a:prstGeom>
          <a:solidFill xmlns:a="http://schemas.openxmlformats.org/drawingml/2006/main">
            <a:srgbClr val="CFCFCF"/>
          </a:solidFill>
          <a:ln xmlns:a="http://schemas.openxmlformats.org/drawingml/2006/main" w="0">
            <a:solidFill>
              <a:srgbClr val="CFCFCF"/>
            </a:solidFill>
            <a:prstDash val="solid"/>
          </a:ln>
        </p:spPr>
      </p:sp>
      <p:sp>
        <p:nvSpPr>
          <p:cNvPr id="5" name="">
            <a:extLst xmlns:a="http://schemas.openxmlformats.org/drawingml/2006/main">
              <a:ext uri="{FF2B5EF4-FFF2-40B4-BE49-F238E27FC236}">
                <a16:creationId xmlns:a16="http://schemas.microsoft.com/office/drawing/2014/main" id="{BE97DAB0-63AB-4B97-BB77-1029251296B7}"/>
              </a:ext>
            </a:extLst>
          </p:cNvPr>
          <p:cNvSpPr>
            <a:spLocks xmlns:a="http://schemas.openxmlformats.org/drawingml/2006/main" noGrp="1"/>
          </p:cNvSpPr>
          <p:nvPr/>
        </p:nvSpPr>
        <p:spPr>
          <a:xfrm xmlns:a="http://schemas.openxmlformats.org/drawingml/2006/main">
            <a:off x="1047750" y="2143125"/>
            <a:ext cx="9334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0">
                <a:solidFill>
                  <a:srgbClr val="111111"/>
                </a:solidFill>
                <a:latin typeface="Tahoma"/>
                <a:ea typeface="Tahoma"/>
                <a:cs typeface="Tahoma"/>
              </a:defRPr>
            </a:pPr>
            <a:r>
              <a:rPr sz="1500" b="0">
                <a:solidFill>
                  <a:srgbClr val="111111"/>
                </a:solidFill>
                <a:latin typeface="Tahoma"/>
                <a:ea typeface="Tahoma"/>
                <a:cs typeface="Tahoma"/>
              </a:rPr>
              <a:t>‏• Darmstaedter: Unternehmen، Beschichtungen، Entwicklung، Qualitaet، کتابخانه رسانه‌ای عمومی</a:t>
            </a:r>
          </a:p>
          <a:p xmlns:a="http://schemas.openxmlformats.org/drawingml/2006/main">
            <a:pPr algn="r">
              <a:defRPr sz="1500" b="0">
                <a:solidFill>
                  <a:srgbClr val="111111"/>
                </a:solidFill>
                <a:latin typeface="Tahoma"/>
                <a:ea typeface="Tahoma"/>
                <a:cs typeface="Tahoma"/>
              </a:defRPr>
            </a:pPr>
            <a:r>
              <a:rPr sz="1500" b="0">
                <a:solidFill>
                  <a:srgbClr val="111111"/>
                </a:solidFill>
                <a:latin typeface="Tahoma"/>
                <a:ea typeface="Tahoma"/>
                <a:cs typeface="Tahoma"/>
              </a:rPr>
              <a:t>‏• Klevers: Unternehmen، Lieferprogramm، Garne und Zwirne، Glas Hochtemperatur، Beschichtungen، Qualitaet، Projekte</a:t>
            </a:r>
          </a:p>
          <a:p xmlns:a="http://schemas.openxmlformats.org/drawingml/2006/main">
            <a:pPr algn="r">
              <a:defRPr sz="1500" b="0">
                <a:solidFill>
                  <a:srgbClr val="111111"/>
                </a:solidFill>
                <a:latin typeface="Tahoma"/>
                <a:ea typeface="Tahoma"/>
                <a:cs typeface="Tahoma"/>
              </a:defRPr>
            </a:pPr>
            <a:r>
              <a:rPr sz="1500" b="0">
                <a:solidFill>
                  <a:srgbClr val="111111"/>
                </a:solidFill>
                <a:latin typeface="Tahoma"/>
                <a:ea typeface="Tahoma"/>
                <a:cs typeface="Tahoma"/>
              </a:rPr>
              <a:t>‏• تامین مالی: ZIM، Bescheinigungsstelle Forschungszulage، NRW.BANK MID، BAFA EEW، Eurostars، Horizon Europe، EIC Accelerator</a:t>
            </a:r>
          </a:p>
          <a:p xmlns:a="http://schemas.openxmlformats.org/drawingml/2006/main">
            <a:pPr algn="r">
              <a:defRPr sz="1500" b="0">
                <a:solidFill>
                  <a:srgbClr val="111111"/>
                </a:solidFill>
                <a:latin typeface="Tahoma"/>
                <a:ea typeface="Tahoma"/>
                <a:cs typeface="Tahoma"/>
              </a:defRPr>
            </a:pPr>
            <a:r>
              <a:rPr sz="1500" b="0">
                <a:solidFill>
                  <a:srgbClr val="111111"/>
                </a:solidFill>
                <a:latin typeface="Tahoma"/>
                <a:ea typeface="Tahoma"/>
                <a:cs typeface="Tahoma"/>
              </a:rPr>
              <a:t>‏• فرضیات داخلی برای راستی‌آزمایی: ERP/INTEX، inspection/ELSIS، خروجی‌های PLC/HMI، اتصال رول/سفارش، کیفیت برچسب عیب</a:t>
            </a:r>
          </a:p>
        </p:txBody>
      </p:sp>
      <p:sp>
        <p:nvSpPr>
          <p:cNvPr id="6" name="">
            <a:extLst xmlns:a="http://schemas.openxmlformats.org/drawingml/2006/main">
              <a:ext uri="{FF2B5EF4-FFF2-40B4-BE49-F238E27FC236}">
                <a16:creationId xmlns:a16="http://schemas.microsoft.com/office/drawing/2014/main" id="{B935883E-B780-4625-88D4-CF83D7361A74}"/>
              </a:ext>
            </a:extLst>
          </p:cNvPr>
          <p:cNvSpPr>
            <a:spLocks xmlns:a="http://schemas.openxmlformats.org/drawingml/2006/main" noGrp="1"/>
          </p:cNvSpPr>
          <p:nvPr/>
        </p:nvSpPr>
        <p:spPr>
          <a:xfrm xmlns:a="http://schemas.openxmlformats.org/drawingml/2006/main">
            <a:off x="1047750" y="49530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39200"/>
                </a:solidFill>
                <a:latin typeface="Tahoma"/>
                <a:ea typeface="Tahoma"/>
                <a:cs typeface="Tahoma"/>
              </a:defRPr>
            </a:pPr>
            <a:r>
              <a:rPr sz="1650" b="1">
                <a:solidFill>
                  <a:srgbClr val="F39200"/>
                </a:solidFill>
                <a:latin typeface="Tahoma"/>
                <a:ea typeface="Tahoma"/>
                <a:cs typeface="Tahoma"/>
              </a:rPr>
              <a:t>‏پس از ارائه، از گزارش Markdown همراه به‌عنوان سند تفصیلی پشتیبان استفاده کنید.</a:t>
            </a:r>
          </a:p>
        </p:txBody>
      </p:sp>
      <p:sp>
        <p:nvSpPr>
          <p:cNvPr id="7" name="">
            <a:extLst xmlns:a="http://schemas.openxmlformats.org/drawingml/2006/main">
              <a:ext uri="{FF2B5EF4-FFF2-40B4-BE49-F238E27FC236}">
                <a16:creationId xmlns:a16="http://schemas.microsoft.com/office/drawing/2014/main" id="{DAD1C637-CC00-45ED-BDBF-926582A7F33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‏تحول هوش مصنوعی Darmstaedter + Klevers</a:t>
            </a:r>
          </a:p>
        </p:txBody>
      </p:sp>
      <p:sp>
        <p:nvSpPr>
          <p:cNvPr id="8" name="">
            <a:extLst xmlns:a="http://schemas.openxmlformats.org/drawingml/2006/main">
              <a:ext uri="{FF2B5EF4-FFF2-40B4-BE49-F238E27FC236}">
                <a16:creationId xmlns:a16="http://schemas.microsoft.com/office/drawing/2014/main" id="{8369F548-CC82-459B-AD92-02EA83BB2B41}"/>
              </a:ext>
            </a:extLst>
          </p:cNvPr>
          <p:cNvSpPr>
            <a:spLocks xmlns:a="http://schemas.openxmlformats.org/drawingml/2006/main" noGrp="1"/>
          </p:cNvSpPr>
          <p:nvPr/>
        </p:nvSpPr>
        <p:spPr>
          <a:xfrm xmlns:a="http://schemas.openxmlformats.org/drawingml/2006/main">
            <a:off x="111252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b="0">
                <a:solidFill>
                  <a:srgbClr val="777777"/>
                </a:solidFill>
                <a:latin typeface="Tahoma"/>
                <a:ea typeface="Tahoma"/>
                <a:cs typeface="Tahoma"/>
              </a:defRPr>
            </a:pPr>
            <a:r>
              <a:rPr sz="675" b="0">
                <a:solidFill>
                  <a:srgbClr val="777777"/>
                </a:solidFill>
                <a:latin typeface="Tahoma"/>
                <a:ea typeface="Tahoma"/>
                <a:cs typeface="Tahoma"/>
              </a:rPr>
              <a:t>23</a:t>
            </a:r>
          </a:p>
        </p:txBody>
      </p:sp>
    </p:spTree>
    <p:extLst>
      <p:ext uri="{BB962C8B-B14F-4D97-AF65-F5344CB8AC3E}">
        <p14:creationId xmlns:p14="http://schemas.microsoft.com/office/powerpoint/2010/main" val="14776353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2026-07-02T23:04:44.2230000Z</dcterms:created>
  <dcterms:modified xsi:type="dcterms:W3CDTF">2026-07-02T23:04:44.2230000Z</dcterms:modified>
</coreProperties>
</file>